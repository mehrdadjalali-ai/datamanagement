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lab builds on the previous one, using the same dataset. Labs 2.1–2.4 are done in Python (pandas) with Lab2_Starter.ipynb — every step is a cell marked TODO. The instructor notebook Lab2_Solution_INSTRUCTOR.ipynb reproduces every number in the answer keys. Lab 2.5 repeats everything as a Tableau Prep flow and compares the results. Upload the three CSV files, the starter notebook and the five worksheets to Moodle before the first lab. Do NOT upload the solution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excerpt and ask: which problems do you already see? (date 03.03.2024, münchen, missing name, € instead of EUR). Then: most problems are hidden — that is why we audit and profile systematically. The planted issues are listed in the answer keys in the notes of each lab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(instructor only)
File: 32 rows x 12 columns = 384 fields.
Examples per dimension: Accuracy – O1030 name "Benjamin Fischer" vs. customers.csv "Ben Fischer"; Completeness – O1007 no customer_name, O1012 no unit_price, O1005/O1026/O1029 no email; Consistency – city "münchen" (O1004) and "Munich " with trailing space (O1018) vs "Munich"; prices in 3 currencies; Timeliness – O1017, O1023, O1029 updated 12–14 days after the order; Uniqueness – O1022 appears twice (identical row); Validity – O1011 quantity -1, O1013 email "lena.koch@", O1009 country "Germny", O1010 currency "€", O1031 category "Gadgets", O1003/O1006 dates not YYYY-MM-DD.
KPIs: Completeness 379/384 = 98.7% (customer_name 31/32, unit_price 31/32, email 29/32 = 90.6%). Duplication 1/32 = 3.1%. Validity 6 rules: 7 failures (2 dates, 1 quantity, 1 email, 1 country, 1 currency, 1 category) of 189 checked values (32x6 minus 3 empty emails) = 182/189 = 96.3%; per-rule answers are also fine. Timeliness 29/32 = 90.6% on time.
Good verdict: "Not yet fit — the duplicate and the 3 currencies would distort revenue by city." Accept any well-argued first fix.
Progress check in the last 10 min. Representative uploads Lab2.1_Group&lt;Nr&gt;.pdf.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Worksheet preview. Students fill in the editable file from Moodle.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(instructor only)
Column profile (orders): order_id text, 0 missing, 31 distinct of 32 rows -&gt; not unique (O1022 twice). customer_id text, 0 missing, 27 distinct; top C001. city text, 0 missing, 21 distinct; top Berlin (6); variants münchen / "Munich " (trailing space). quantity number, 0 missing, min -1, max 500, median 1.5. unit_price number (stored as text in some tools), 1 missing (O1012), min 2.99, max 1899.00. category text, 4 distinct: Electronics, Accessories, Office + "Gadgets" (not allowed).
IQR: Q1 = 1, Q3 = 2.25, IQR = 1.25, upper limit = 2.25 + 1.5*1.25 = 4.125, lower limit = -0.875 -&gt; 5, 6, 10, 500 above and -1 below; only 500 (and the invalid -1) are implausible. Good discussion point: a rule flags, a human decides.
Structure: order_id not a key (duplicate). customer_id -&gt; customer_name violated: C002 = "Ben Fischer" and "Benjamin Fischer". customers.csv: C003 appears twice (Hamburg and Lübeck) -&gt; not a key; this will multiply rows in the L2.4 join. Inclusion: C099 (O1024) is not in customers.csv -&gt; orphan order.
Typical top-5 plan: duplicate O1022 · currencies to EUR · invalid/missing values (O1011, O1012, O1031) · outlier O1015 · city/date standardization.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Worksheet preview. Students fill in the editable file from Moodle.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SOLUTION (instructor only) — other well-justified decisions are fine.
1 Delete exact duplicate O1022 (32 -&gt; 31 rows).
2 Dates: O1003 03.03.2024 -&gt; 2024-03-03 (German format); O1006 03/06/2024 -&gt; 2024-03-06 (US format; last_updated confirms).
3 City: "münchen" -&gt; Munich, trim "Munich " -&gt; Munich. Country "Germny" -&gt; Germany. Currency "€" -&gt; EUR.
4 Missing: O1007 customer_name filled from customers.csv (Gisela Braun); O1030 name harmonized to master "Ben Fischer"; empty emails stay empty (not needed for revenue) - flag; invalid email "lena.koch@" -&gt; empty + flag.
5 Quarantine with reason: O1011 (quantity -1), O1012 (missing unit_price), O1031 (category "Gadgets" not allowed), O1015 (quantity 500 - pending verification). Deleting them silently is the mistake to discuss.
Result: raw 32 = clean 27 + quarantine 4 + deleted 1.
After: duplication 0%; validity 100% on the clean file; completeness only email gaps remain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Worksheet preview. Students fill in the editable file from Moodle.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(based on the sample cleaning: 27 clean March rows)
Currency: O1014 349 CHF -&gt; 362.96 EUR; O1021 999 USD -&gt; 919.08 EUR.
Union: April has "price" instead of "unit_price" and no last_updated column (schema drift). Rename first; last_updated becomes empty for 6 rows. 27 + 6 = 33 rows.
Join: customers.csv has C003 twice -&gt; left join gives 35 rows (O1003 and O1019 duplicated). Fix: deduplicate customers first (e.g. keep the latest record) -&gt; 33 rows. C099 (O1024) gets an empty segment -&gt; "unknown".
Total revenue (33 rows, deduplicated join): 9,344.99 EUR. Top 3 cities: Berlin 2,526.58 · Frankfurt 1,333.90 · Hamburg 1,167.90. Electronics 8,710.04 · Accessories 357.17 · Office 277.78.
If a group did not deduplicate customers, its revenue is too high: that is the key teaching point (joins can multiply rows silently).
Min-max: min line_total 9.98, max 1,899.00.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Worksheet preview. Students fill in the editable file from Moodle.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Tips: save as a PACKAGED flow (.tflx: File &gt; Export Packaged Flow) so the data travels with the flow.
Useful Prep features: "Identify duplicate rows" (Clean step toolbar), Group Values &gt; Manual / Pronunciation for münchen/Munich, data role Email, calculated fields IF [currency]="CHF" THEN [unit_price]*1.04 ELSEIF [currency]="USD" THEN [unit_price]*0.92 ELSE [unit_price] END, Union step (merge mismatched fields price/unit_price), Aggregate step on customers (customer_id, MAX(signup_date)) or a filter before the join to remove the duplicate C003.
Expected: same numbers as the Python result of Lab 2.4 (33 rows, 9,344.99 EUR) if the same decisions were taken. Differences are a good discussion: which decisions were taken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Worksheet preview. Students fill in the editable file from Moodle.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11480" y="256032"/>
            <a:ext cx="8229600" cy="457200"/>
          </a:xfrm>
          <a:prstGeom prst="rect">
            <a:avLst/>
          </a:prstGeom>
          <a:noFill/>
          <a:ln/>
        </p:spPr>
        <p:txBody>
          <a:bodyPr wrap="square" lIns="0" tIns="0" rIns="0" bIns="0" rtlCol="0" anchor="ctr"/>
          <a:lstStyle/>
          <a:p>
            <a:pPr indent="0" marL="0">
              <a:buNone/>
            </a:pPr>
            <a:r>
              <a:rPr lang="en-US" sz="2200" b="1" dirty="0">
                <a:solidFill>
                  <a:srgbClr val="D9480F"/>
                </a:solidFill>
                <a:latin typeface="Calibri" pitchFamily="34" charset="0"/>
                <a:ea typeface="Calibri" pitchFamily="34" charset="-122"/>
                <a:cs typeface="Calibri" pitchFamily="34" charset="-120"/>
              </a:rPr>
              <a:t>Chapter 2 Labs: One Dataset, Five Labs</a:t>
            </a:r>
            <a:endParaRPr lang="en-US" sz="2200" dirty="0"/>
          </a:p>
        </p:txBody>
      </p:sp>
      <p:sp>
        <p:nvSpPr>
          <p:cNvPr id="3" name="Text 1"/>
          <p:cNvSpPr txBox="1"/>
          <p:nvPr/>
        </p:nvSpPr>
        <p:spPr>
          <a:xfrm>
            <a:off x="411480" y="749808"/>
            <a:ext cx="8321040" cy="274320"/>
          </a:xfrm>
          <a:prstGeom prst="rect">
            <a:avLst/>
          </a:prstGeom>
          <a:noFill/>
          <a:ln/>
        </p:spPr>
        <p:txBody>
          <a:bodyPr wrap="square" lIns="0" tIns="0" rIns="0" bIns="0" rtlCol="0" anchor="ctr"/>
          <a:lstStyle/>
          <a:p>
            <a:pPr indent="0" marL="0">
              <a:buNone/>
            </a:pPr>
            <a:r>
              <a:rPr lang="en-US" sz="1200" dirty="0">
                <a:solidFill>
                  <a:srgbClr val="3D3D3D"/>
                </a:solidFill>
                <a:latin typeface="Calibri" pitchFamily="34" charset="0"/>
                <a:ea typeface="Calibri" pitchFamily="34" charset="-122"/>
                <a:cs typeface="Calibri" pitchFamily="34" charset="-120"/>
              </a:rPr>
              <a:t>The same messy online-shop orders travel through every lab — first in Python, then again as a Tableau Prep flow.</a:t>
            </a:r>
            <a:endParaRPr lang="en-US" sz="1200" dirty="0"/>
          </a:p>
        </p:txBody>
      </p:sp>
      <p:sp>
        <p:nvSpPr>
          <p:cNvPr id="4" name="Lab 2.1"/>
          <p:cNvSpPr/>
          <p:nvPr/>
        </p:nvSpPr>
        <p:spPr>
          <a:xfrm>
            <a:off x="411480" y="1280160"/>
            <a:ext cx="1517904" cy="1783080"/>
          </a:xfrm>
          <a:prstGeom prst="roundRect">
            <a:avLst>
              <a:gd name="adj" fmla="val 4819"/>
            </a:avLst>
          </a:prstGeom>
          <a:solidFill>
            <a:srgbClr val="FFFFFF"/>
          </a:solidFill>
          <a:ln w="12700">
            <a:solidFill>
              <a:srgbClr val="1F5FA8"/>
            </a:solidFill>
            <a:prstDash val="solid"/>
          </a:ln>
        </p:spPr>
      </p:sp>
      <p:sp>
        <p:nvSpPr>
          <p:cNvPr id="5" name="Shape 3"/>
          <p:cNvSpPr/>
          <p:nvPr/>
        </p:nvSpPr>
        <p:spPr>
          <a:xfrm>
            <a:off x="411480" y="1280160"/>
            <a:ext cx="1517904" cy="566928"/>
          </a:xfrm>
          <a:prstGeom prst="rect">
            <a:avLst/>
          </a:prstGeom>
          <a:solidFill>
            <a:srgbClr val="1F5FA8"/>
          </a:solidFill>
          <a:ln w="12700">
            <a:solidFill>
              <a:srgbClr val="1F5FA8"/>
            </a:solidFill>
            <a:prstDash val="solid"/>
          </a:ln>
        </p:spPr>
      </p:sp>
      <p:sp>
        <p:nvSpPr>
          <p:cNvPr id="6" name="Text 4"/>
          <p:cNvSpPr txBox="1"/>
          <p:nvPr/>
        </p:nvSpPr>
        <p:spPr>
          <a:xfrm>
            <a:off x="411480" y="1307592"/>
            <a:ext cx="15179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Lab 2.1</a:t>
            </a:r>
            <a:endParaRPr lang="en-US" sz="1500" dirty="0"/>
          </a:p>
        </p:txBody>
      </p:sp>
      <p:sp>
        <p:nvSpPr>
          <p:cNvPr id="7" name="Text 5"/>
          <p:cNvSpPr txBox="1"/>
          <p:nvPr/>
        </p:nvSpPr>
        <p:spPr>
          <a:xfrm>
            <a:off x="411480" y="1563624"/>
            <a:ext cx="1517904" cy="237744"/>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Data Quality</a:t>
            </a:r>
            <a:endParaRPr lang="en-US" sz="1100" dirty="0"/>
          </a:p>
        </p:txBody>
      </p:sp>
      <p:sp>
        <p:nvSpPr>
          <p:cNvPr id="8" name="Text 6"/>
          <p:cNvSpPr txBox="1"/>
          <p:nvPr/>
        </p:nvSpPr>
        <p:spPr>
          <a:xfrm>
            <a:off x="521208" y="1965960"/>
            <a:ext cx="1298448" cy="731520"/>
          </a:xfrm>
          <a:prstGeom prst="rect">
            <a:avLst/>
          </a:prstGeom>
          <a:noFill/>
          <a:ln/>
        </p:spPr>
        <p:txBody>
          <a:bodyPr wrap="square" lIns="0" tIns="0" rIns="0" bIns="0" rtlCol="0" anchor="ctr"/>
          <a:lstStyle/>
          <a:p>
            <a:pPr algn="ctr" indent="0" marL="0">
              <a:buNone/>
            </a:pPr>
            <a:r>
              <a:rPr lang="en-US" sz="1100" dirty="0">
                <a:solidFill>
                  <a:srgbClr val="3D3D3D"/>
                </a:solidFill>
                <a:latin typeface="Calibri" pitchFamily="34" charset="0"/>
                <a:ea typeface="Calibri" pitchFamily="34" charset="-122"/>
                <a:cs typeface="Calibri" pitchFamily="34" charset="-120"/>
              </a:rPr>
              <a:t>Audit: 6 dimensions + KPIs</a:t>
            </a:r>
            <a:endParaRPr lang="en-US" sz="1100" dirty="0"/>
          </a:p>
        </p:txBody>
      </p:sp>
      <p:sp>
        <p:nvSpPr>
          <p:cNvPr id="9" name="Shape 7"/>
          <p:cNvSpPr/>
          <p:nvPr/>
        </p:nvSpPr>
        <p:spPr>
          <a:xfrm>
            <a:off x="1947672" y="2167128"/>
            <a:ext cx="146304" cy="0"/>
          </a:xfrm>
          <a:prstGeom prst="line">
            <a:avLst/>
          </a:prstGeom>
          <a:noFill/>
          <a:ln w="19050">
            <a:solidFill>
              <a:srgbClr val="7D7A75"/>
            </a:solidFill>
            <a:prstDash val="solid"/>
            <a:tailEnd type="triangle"/>
          </a:ln>
        </p:spPr>
      </p:sp>
      <p:sp>
        <p:nvSpPr>
          <p:cNvPr id="10" name="Lab 2.2"/>
          <p:cNvSpPr/>
          <p:nvPr/>
        </p:nvSpPr>
        <p:spPr>
          <a:xfrm>
            <a:off x="2112264" y="1280160"/>
            <a:ext cx="1517904" cy="1783080"/>
          </a:xfrm>
          <a:prstGeom prst="roundRect">
            <a:avLst>
              <a:gd name="adj" fmla="val 4819"/>
            </a:avLst>
          </a:prstGeom>
          <a:solidFill>
            <a:srgbClr val="FFFFFF"/>
          </a:solidFill>
          <a:ln w="12700">
            <a:solidFill>
              <a:srgbClr val="4B3A99"/>
            </a:solidFill>
            <a:prstDash val="solid"/>
          </a:ln>
        </p:spPr>
      </p:sp>
      <p:sp>
        <p:nvSpPr>
          <p:cNvPr id="11" name="Shape 9"/>
          <p:cNvSpPr/>
          <p:nvPr/>
        </p:nvSpPr>
        <p:spPr>
          <a:xfrm>
            <a:off x="2112264" y="1280160"/>
            <a:ext cx="1517904" cy="566928"/>
          </a:xfrm>
          <a:prstGeom prst="rect">
            <a:avLst/>
          </a:prstGeom>
          <a:solidFill>
            <a:srgbClr val="4B3A99"/>
          </a:solidFill>
          <a:ln w="12700">
            <a:solidFill>
              <a:srgbClr val="4B3A99"/>
            </a:solidFill>
            <a:prstDash val="solid"/>
          </a:ln>
        </p:spPr>
      </p:sp>
      <p:sp>
        <p:nvSpPr>
          <p:cNvPr id="12" name="Text 10"/>
          <p:cNvSpPr txBox="1"/>
          <p:nvPr/>
        </p:nvSpPr>
        <p:spPr>
          <a:xfrm>
            <a:off x="2112264" y="1307592"/>
            <a:ext cx="15179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Lab 2.2</a:t>
            </a:r>
            <a:endParaRPr lang="en-US" sz="1500" dirty="0"/>
          </a:p>
        </p:txBody>
      </p:sp>
      <p:sp>
        <p:nvSpPr>
          <p:cNvPr id="13" name="Text 11"/>
          <p:cNvSpPr txBox="1"/>
          <p:nvPr/>
        </p:nvSpPr>
        <p:spPr>
          <a:xfrm>
            <a:off x="2112264" y="1563624"/>
            <a:ext cx="1517904" cy="237744"/>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Data Profiling</a:t>
            </a:r>
            <a:endParaRPr lang="en-US" sz="1100" dirty="0"/>
          </a:p>
        </p:txBody>
      </p:sp>
      <p:sp>
        <p:nvSpPr>
          <p:cNvPr id="14" name="Text 12"/>
          <p:cNvSpPr txBox="1"/>
          <p:nvPr/>
        </p:nvSpPr>
        <p:spPr>
          <a:xfrm>
            <a:off x="2221992" y="1965960"/>
            <a:ext cx="1298448" cy="731520"/>
          </a:xfrm>
          <a:prstGeom prst="rect">
            <a:avLst/>
          </a:prstGeom>
          <a:noFill/>
          <a:ln/>
        </p:spPr>
        <p:txBody>
          <a:bodyPr wrap="square" lIns="0" tIns="0" rIns="0" bIns="0" rtlCol="0" anchor="ctr"/>
          <a:lstStyle/>
          <a:p>
            <a:pPr algn="ctr" indent="0" marL="0">
              <a:buNone/>
            </a:pPr>
            <a:r>
              <a:rPr lang="en-US" sz="1100" dirty="0">
                <a:solidFill>
                  <a:srgbClr val="3D3D3D"/>
                </a:solidFill>
                <a:latin typeface="Calibri" pitchFamily="34" charset="0"/>
                <a:ea typeface="Calibri" pitchFamily="34" charset="-122"/>
                <a:cs typeface="Calibri" pitchFamily="34" charset="-120"/>
              </a:rPr>
              <a:t>Columns, keys, outliers → plan</a:t>
            </a:r>
            <a:endParaRPr lang="en-US" sz="1100" dirty="0"/>
          </a:p>
        </p:txBody>
      </p:sp>
      <p:sp>
        <p:nvSpPr>
          <p:cNvPr id="15" name="Shape 13"/>
          <p:cNvSpPr/>
          <p:nvPr/>
        </p:nvSpPr>
        <p:spPr>
          <a:xfrm>
            <a:off x="3648456" y="2167128"/>
            <a:ext cx="146304" cy="0"/>
          </a:xfrm>
          <a:prstGeom prst="line">
            <a:avLst/>
          </a:prstGeom>
          <a:noFill/>
          <a:ln w="19050">
            <a:solidFill>
              <a:srgbClr val="7D7A75"/>
            </a:solidFill>
            <a:prstDash val="solid"/>
            <a:tailEnd type="triangle"/>
          </a:ln>
        </p:spPr>
      </p:sp>
      <p:sp>
        <p:nvSpPr>
          <p:cNvPr id="16" name="Lab 2.3"/>
          <p:cNvSpPr/>
          <p:nvPr/>
        </p:nvSpPr>
        <p:spPr>
          <a:xfrm>
            <a:off x="3813048" y="1280160"/>
            <a:ext cx="1517904" cy="1783080"/>
          </a:xfrm>
          <a:prstGeom prst="roundRect">
            <a:avLst>
              <a:gd name="adj" fmla="val 4819"/>
            </a:avLst>
          </a:prstGeom>
          <a:solidFill>
            <a:srgbClr val="FFFFFF"/>
          </a:solidFill>
          <a:ln w="12700">
            <a:solidFill>
              <a:srgbClr val="C8691A"/>
            </a:solidFill>
            <a:prstDash val="solid"/>
          </a:ln>
        </p:spPr>
      </p:sp>
      <p:sp>
        <p:nvSpPr>
          <p:cNvPr id="17" name="Shape 15"/>
          <p:cNvSpPr/>
          <p:nvPr/>
        </p:nvSpPr>
        <p:spPr>
          <a:xfrm>
            <a:off x="3813048" y="1280160"/>
            <a:ext cx="1517904" cy="566928"/>
          </a:xfrm>
          <a:prstGeom prst="rect">
            <a:avLst/>
          </a:prstGeom>
          <a:solidFill>
            <a:srgbClr val="C8691A"/>
          </a:solidFill>
          <a:ln w="12700">
            <a:solidFill>
              <a:srgbClr val="C8691A"/>
            </a:solidFill>
            <a:prstDash val="solid"/>
          </a:ln>
        </p:spPr>
      </p:sp>
      <p:sp>
        <p:nvSpPr>
          <p:cNvPr id="18" name="Text 16"/>
          <p:cNvSpPr txBox="1"/>
          <p:nvPr/>
        </p:nvSpPr>
        <p:spPr>
          <a:xfrm>
            <a:off x="3813048" y="1307592"/>
            <a:ext cx="15179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Lab 2.3</a:t>
            </a:r>
            <a:endParaRPr lang="en-US" sz="1500" dirty="0"/>
          </a:p>
        </p:txBody>
      </p:sp>
      <p:sp>
        <p:nvSpPr>
          <p:cNvPr id="19" name="Text 17"/>
          <p:cNvSpPr txBox="1"/>
          <p:nvPr/>
        </p:nvSpPr>
        <p:spPr>
          <a:xfrm>
            <a:off x="3813048" y="1563624"/>
            <a:ext cx="1517904" cy="237744"/>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Data Cleaning</a:t>
            </a:r>
            <a:endParaRPr lang="en-US" sz="1100" dirty="0"/>
          </a:p>
        </p:txBody>
      </p:sp>
      <p:sp>
        <p:nvSpPr>
          <p:cNvPr id="20" name="Text 18"/>
          <p:cNvSpPr txBox="1"/>
          <p:nvPr/>
        </p:nvSpPr>
        <p:spPr>
          <a:xfrm>
            <a:off x="3922776" y="1965960"/>
            <a:ext cx="1298448" cy="731520"/>
          </a:xfrm>
          <a:prstGeom prst="rect">
            <a:avLst/>
          </a:prstGeom>
          <a:noFill/>
          <a:ln/>
        </p:spPr>
        <p:txBody>
          <a:bodyPr wrap="square" lIns="0" tIns="0" rIns="0" bIns="0" rtlCol="0" anchor="ctr"/>
          <a:lstStyle/>
          <a:p>
            <a:pPr algn="ctr" indent="0" marL="0">
              <a:buNone/>
            </a:pPr>
            <a:r>
              <a:rPr lang="en-US" sz="1100" dirty="0">
                <a:solidFill>
                  <a:srgbClr val="3D3D3D"/>
                </a:solidFill>
                <a:latin typeface="Calibri" pitchFamily="34" charset="0"/>
                <a:ea typeface="Calibri" pitchFamily="34" charset="-122"/>
                <a:cs typeface="Calibri" pitchFamily="34" charset="-120"/>
              </a:rPr>
              <a:t>Fix, flag, quarantine + log</a:t>
            </a:r>
            <a:endParaRPr lang="en-US" sz="1100" dirty="0"/>
          </a:p>
        </p:txBody>
      </p:sp>
      <p:sp>
        <p:nvSpPr>
          <p:cNvPr id="21" name="Shape 19"/>
          <p:cNvSpPr/>
          <p:nvPr/>
        </p:nvSpPr>
        <p:spPr>
          <a:xfrm>
            <a:off x="5349240" y="2167128"/>
            <a:ext cx="146304" cy="0"/>
          </a:xfrm>
          <a:prstGeom prst="line">
            <a:avLst/>
          </a:prstGeom>
          <a:noFill/>
          <a:ln w="19050">
            <a:solidFill>
              <a:srgbClr val="7D7A75"/>
            </a:solidFill>
            <a:prstDash val="solid"/>
            <a:tailEnd type="triangle"/>
          </a:ln>
        </p:spPr>
      </p:sp>
      <p:sp>
        <p:nvSpPr>
          <p:cNvPr id="22" name="Lab 2.4"/>
          <p:cNvSpPr/>
          <p:nvPr/>
        </p:nvSpPr>
        <p:spPr>
          <a:xfrm>
            <a:off x="5513832" y="1280160"/>
            <a:ext cx="1517904" cy="1783080"/>
          </a:xfrm>
          <a:prstGeom prst="roundRect">
            <a:avLst>
              <a:gd name="adj" fmla="val 4819"/>
            </a:avLst>
          </a:prstGeom>
          <a:solidFill>
            <a:srgbClr val="FFFFFF"/>
          </a:solidFill>
          <a:ln w="12700">
            <a:solidFill>
              <a:srgbClr val="2E8B6A"/>
            </a:solidFill>
            <a:prstDash val="solid"/>
          </a:ln>
        </p:spPr>
      </p:sp>
      <p:sp>
        <p:nvSpPr>
          <p:cNvPr id="23" name="Shape 21"/>
          <p:cNvSpPr/>
          <p:nvPr/>
        </p:nvSpPr>
        <p:spPr>
          <a:xfrm>
            <a:off x="5513832" y="1280160"/>
            <a:ext cx="1517904" cy="566928"/>
          </a:xfrm>
          <a:prstGeom prst="rect">
            <a:avLst/>
          </a:prstGeom>
          <a:solidFill>
            <a:srgbClr val="2E8B6A"/>
          </a:solidFill>
          <a:ln w="12700">
            <a:solidFill>
              <a:srgbClr val="2E8B6A"/>
            </a:solidFill>
            <a:prstDash val="solid"/>
          </a:ln>
        </p:spPr>
      </p:sp>
      <p:sp>
        <p:nvSpPr>
          <p:cNvPr id="24" name="Text 22"/>
          <p:cNvSpPr txBox="1"/>
          <p:nvPr/>
        </p:nvSpPr>
        <p:spPr>
          <a:xfrm>
            <a:off x="5513832" y="1307592"/>
            <a:ext cx="15179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Lab 2.4</a:t>
            </a:r>
            <a:endParaRPr lang="en-US" sz="1500" dirty="0"/>
          </a:p>
        </p:txBody>
      </p:sp>
      <p:sp>
        <p:nvSpPr>
          <p:cNvPr id="25" name="Text 23"/>
          <p:cNvSpPr txBox="1"/>
          <p:nvPr/>
        </p:nvSpPr>
        <p:spPr>
          <a:xfrm>
            <a:off x="5513832" y="1563624"/>
            <a:ext cx="1517904" cy="237744"/>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Transformation</a:t>
            </a:r>
            <a:endParaRPr lang="en-US" sz="1100" dirty="0"/>
          </a:p>
        </p:txBody>
      </p:sp>
      <p:sp>
        <p:nvSpPr>
          <p:cNvPr id="26" name="Text 24"/>
          <p:cNvSpPr txBox="1"/>
          <p:nvPr/>
        </p:nvSpPr>
        <p:spPr>
          <a:xfrm>
            <a:off x="5623560" y="1965960"/>
            <a:ext cx="1298448" cy="731520"/>
          </a:xfrm>
          <a:prstGeom prst="rect">
            <a:avLst/>
          </a:prstGeom>
          <a:noFill/>
          <a:ln/>
        </p:spPr>
        <p:txBody>
          <a:bodyPr wrap="square" lIns="0" tIns="0" rIns="0" bIns="0" rtlCol="0" anchor="ctr"/>
          <a:lstStyle/>
          <a:p>
            <a:pPr algn="ctr" indent="0" marL="0">
              <a:buNone/>
            </a:pPr>
            <a:r>
              <a:rPr lang="en-US" sz="1100" dirty="0">
                <a:solidFill>
                  <a:srgbClr val="3D3D3D"/>
                </a:solidFill>
                <a:latin typeface="Calibri" pitchFamily="34" charset="0"/>
                <a:ea typeface="Calibri" pitchFamily="34" charset="-122"/>
                <a:cs typeface="Calibri" pitchFamily="34" charset="-120"/>
              </a:rPr>
              <a:t>EUR, features, union, join</a:t>
            </a:r>
            <a:endParaRPr lang="en-US" sz="1100" dirty="0"/>
          </a:p>
        </p:txBody>
      </p:sp>
      <p:sp>
        <p:nvSpPr>
          <p:cNvPr id="27" name="Shape 25"/>
          <p:cNvSpPr/>
          <p:nvPr/>
        </p:nvSpPr>
        <p:spPr>
          <a:xfrm>
            <a:off x="7050024" y="2167128"/>
            <a:ext cx="146304" cy="0"/>
          </a:xfrm>
          <a:prstGeom prst="line">
            <a:avLst/>
          </a:prstGeom>
          <a:noFill/>
          <a:ln w="19050">
            <a:solidFill>
              <a:srgbClr val="7D7A75"/>
            </a:solidFill>
            <a:prstDash val="solid"/>
            <a:tailEnd type="triangle"/>
          </a:ln>
        </p:spPr>
      </p:sp>
      <p:sp>
        <p:nvSpPr>
          <p:cNvPr id="28" name="Lab 2.5"/>
          <p:cNvSpPr/>
          <p:nvPr/>
        </p:nvSpPr>
        <p:spPr>
          <a:xfrm>
            <a:off x="7214616" y="1280160"/>
            <a:ext cx="1517904" cy="1783080"/>
          </a:xfrm>
          <a:prstGeom prst="roundRect">
            <a:avLst>
              <a:gd name="adj" fmla="val 4819"/>
            </a:avLst>
          </a:prstGeom>
          <a:solidFill>
            <a:srgbClr val="FFFFFF"/>
          </a:solidFill>
          <a:ln w="12700">
            <a:solidFill>
              <a:srgbClr val="B38600"/>
            </a:solidFill>
            <a:prstDash val="solid"/>
          </a:ln>
        </p:spPr>
      </p:sp>
      <p:sp>
        <p:nvSpPr>
          <p:cNvPr id="29" name="Shape 27"/>
          <p:cNvSpPr/>
          <p:nvPr/>
        </p:nvSpPr>
        <p:spPr>
          <a:xfrm>
            <a:off x="7214616" y="1280160"/>
            <a:ext cx="1517904" cy="566928"/>
          </a:xfrm>
          <a:prstGeom prst="rect">
            <a:avLst/>
          </a:prstGeom>
          <a:solidFill>
            <a:srgbClr val="B38600"/>
          </a:solidFill>
          <a:ln w="12700">
            <a:solidFill>
              <a:srgbClr val="B38600"/>
            </a:solidFill>
            <a:prstDash val="solid"/>
          </a:ln>
        </p:spPr>
      </p:sp>
      <p:sp>
        <p:nvSpPr>
          <p:cNvPr id="30" name="Text 28"/>
          <p:cNvSpPr txBox="1"/>
          <p:nvPr/>
        </p:nvSpPr>
        <p:spPr>
          <a:xfrm>
            <a:off x="7214616" y="1307592"/>
            <a:ext cx="1517904" cy="25603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Lab 2.5</a:t>
            </a:r>
            <a:endParaRPr lang="en-US" sz="1500" dirty="0"/>
          </a:p>
        </p:txBody>
      </p:sp>
      <p:sp>
        <p:nvSpPr>
          <p:cNvPr id="31" name="Text 29"/>
          <p:cNvSpPr txBox="1"/>
          <p:nvPr/>
        </p:nvSpPr>
        <p:spPr>
          <a:xfrm>
            <a:off x="7214616" y="1563624"/>
            <a:ext cx="1517904" cy="237744"/>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Tableau Prep</a:t>
            </a:r>
            <a:endParaRPr lang="en-US" sz="1100" dirty="0"/>
          </a:p>
        </p:txBody>
      </p:sp>
      <p:sp>
        <p:nvSpPr>
          <p:cNvPr id="32" name="Text 30"/>
          <p:cNvSpPr txBox="1"/>
          <p:nvPr/>
        </p:nvSpPr>
        <p:spPr>
          <a:xfrm>
            <a:off x="7324344" y="1965960"/>
            <a:ext cx="1298448" cy="731520"/>
          </a:xfrm>
          <a:prstGeom prst="rect">
            <a:avLst/>
          </a:prstGeom>
          <a:noFill/>
          <a:ln/>
        </p:spPr>
        <p:txBody>
          <a:bodyPr wrap="square" lIns="0" tIns="0" rIns="0" bIns="0" rtlCol="0" anchor="ctr"/>
          <a:lstStyle/>
          <a:p>
            <a:pPr algn="ctr" indent="0" marL="0">
              <a:buNone/>
            </a:pPr>
            <a:r>
              <a:rPr lang="en-US" sz="1100" dirty="0">
                <a:solidFill>
                  <a:srgbClr val="3D3D3D"/>
                </a:solidFill>
                <a:latin typeface="Calibri" pitchFamily="34" charset="0"/>
                <a:ea typeface="Calibri" pitchFamily="34" charset="-122"/>
                <a:cs typeface="Calibri" pitchFamily="34" charset="-120"/>
              </a:rPr>
              <a:t>All four again — as a flow</a:t>
            </a:r>
            <a:endParaRPr lang="en-US" sz="1100" dirty="0"/>
          </a:p>
        </p:txBody>
      </p:sp>
      <p:sp>
        <p:nvSpPr>
          <p:cNvPr id="33" name="Text 31"/>
          <p:cNvSpPr txBox="1"/>
          <p:nvPr/>
        </p:nvSpPr>
        <p:spPr>
          <a:xfrm>
            <a:off x="411480" y="3127248"/>
            <a:ext cx="6583680" cy="201168"/>
          </a:xfrm>
          <a:prstGeom prst="rect">
            <a:avLst/>
          </a:prstGeom>
          <a:noFill/>
          <a:ln/>
        </p:spPr>
        <p:txBody>
          <a:bodyPr wrap="square" lIns="0" tIns="0" rIns="0" bIns="0" rtlCol="0" anchor="ctr"/>
          <a:lstStyle/>
          <a:p>
            <a:pPr algn="ctr" indent="0" marL="0">
              <a:buNone/>
            </a:pPr>
            <a:r>
              <a:rPr lang="en-US" sz="1000" i="1" dirty="0">
                <a:solidFill>
                  <a:srgbClr val="6B6762"/>
                </a:solidFill>
                <a:latin typeface="Calibri" pitchFamily="34" charset="0"/>
                <a:ea typeface="Calibri" pitchFamily="34" charset="-122"/>
                <a:cs typeface="Calibri" pitchFamily="34" charset="-120"/>
              </a:rPr>
              <a:t>code — Python · pandas · Jupyter notebook</a:t>
            </a:r>
            <a:endParaRPr lang="en-US" sz="1000" dirty="0"/>
          </a:p>
        </p:txBody>
      </p:sp>
      <p:sp>
        <p:nvSpPr>
          <p:cNvPr id="34" name="Text 32"/>
          <p:cNvSpPr txBox="1"/>
          <p:nvPr/>
        </p:nvSpPr>
        <p:spPr>
          <a:xfrm>
            <a:off x="7214616" y="3127248"/>
            <a:ext cx="1517904" cy="201168"/>
          </a:xfrm>
          <a:prstGeom prst="rect">
            <a:avLst/>
          </a:prstGeom>
          <a:noFill/>
          <a:ln/>
        </p:spPr>
        <p:txBody>
          <a:bodyPr wrap="square" lIns="0" tIns="0" rIns="0" bIns="0" rtlCol="0" anchor="ctr"/>
          <a:lstStyle/>
          <a:p>
            <a:pPr algn="ctr" indent="0" marL="0">
              <a:buNone/>
            </a:pPr>
            <a:r>
              <a:rPr lang="en-US" sz="1000" i="1" dirty="0">
                <a:solidFill>
                  <a:srgbClr val="6B6762"/>
                </a:solidFill>
                <a:latin typeface="Calibri" pitchFamily="34" charset="0"/>
                <a:ea typeface="Calibri" pitchFamily="34" charset="-122"/>
                <a:cs typeface="Calibri" pitchFamily="34" charset="-120"/>
              </a:rPr>
              <a:t>tool — Tableau Prep</a:t>
            </a:r>
            <a:endParaRPr lang="en-US" sz="1000" dirty="0"/>
          </a:p>
        </p:txBody>
      </p:sp>
      <p:sp>
        <p:nvSpPr>
          <p:cNvPr id="35" name="Files"/>
          <p:cNvSpPr/>
          <p:nvPr/>
        </p:nvSpPr>
        <p:spPr>
          <a:xfrm>
            <a:off x="411480" y="3520440"/>
            <a:ext cx="4069080" cy="1188720"/>
          </a:xfrm>
          <a:prstGeom prst="roundRect">
            <a:avLst>
              <a:gd name="adj" fmla="val 6154"/>
            </a:avLst>
          </a:prstGeom>
          <a:solidFill>
            <a:srgbClr val="EAF2FB"/>
          </a:solidFill>
          <a:ln w="12700">
            <a:solidFill>
              <a:srgbClr val="1F5FA8"/>
            </a:solidFill>
            <a:prstDash val="solid"/>
          </a:ln>
        </p:spPr>
      </p:sp>
      <p:sp>
        <p:nvSpPr>
          <p:cNvPr id="36" name="Text 34"/>
          <p:cNvSpPr txBox="1"/>
          <p:nvPr/>
        </p:nvSpPr>
        <p:spPr>
          <a:xfrm>
            <a:off x="548640" y="3584448"/>
            <a:ext cx="3657600" cy="182880"/>
          </a:xfrm>
          <a:prstGeom prst="rect">
            <a:avLst/>
          </a:prstGeom>
          <a:noFill/>
          <a:ln/>
        </p:spPr>
        <p:txBody>
          <a:bodyPr wrap="square" lIns="0" tIns="0" rIns="0" bIns="0" rtlCol="0" anchor="ctr"/>
          <a:lstStyle/>
          <a:p>
            <a:pPr indent="0" marL="0">
              <a:buNone/>
            </a:pPr>
            <a:r>
              <a:rPr lang="en-US" sz="950" b="1" spc="120" kern="0" dirty="0">
                <a:solidFill>
                  <a:srgbClr val="1F5FA8"/>
                </a:solidFill>
                <a:latin typeface="Calibri" pitchFamily="34" charset="0"/>
                <a:ea typeface="Calibri" pitchFamily="34" charset="-122"/>
                <a:cs typeface="Calibri" pitchFamily="34" charset="-120"/>
              </a:rPr>
              <a:t>FILES ON MOODLE</a:t>
            </a:r>
            <a:endParaRPr lang="en-US" sz="950" dirty="0"/>
          </a:p>
        </p:txBody>
      </p:sp>
      <p:sp>
        <p:nvSpPr>
          <p:cNvPr id="37" name="Text 35"/>
          <p:cNvSpPr txBox="1"/>
          <p:nvPr/>
        </p:nvSpPr>
        <p:spPr>
          <a:xfrm>
            <a:off x="548640" y="3794760"/>
            <a:ext cx="3840480" cy="868680"/>
          </a:xfrm>
          <a:prstGeom prst="rect">
            <a:avLst/>
          </a:prstGeom>
          <a:noFill/>
          <a:ln/>
        </p:spPr>
        <p:txBody>
          <a:bodyPr wrap="square" lIns="0" tIns="0" rIns="0" bIns="0" rtlCol="0" anchor="t"/>
          <a:lstStyle/>
          <a:p>
            <a:pPr indent="0" marL="0">
              <a:buNone/>
            </a:pPr>
            <a:r>
              <a:rPr lang="en-US" sz="950" b="1" dirty="0">
                <a:solidFill>
                  <a:srgbClr val="1F3F6B"/>
                </a:solidFill>
                <a:latin typeface="Calibri" pitchFamily="34" charset="0"/>
                <a:ea typeface="Calibri" pitchFamily="34" charset="-122"/>
                <a:cs typeface="Calibri" pitchFamily="34" charset="-120"/>
              </a:rPr>
              <a:t>orders_2024_03.csv</a:t>
            </a:r>
            <a:pPr indent="0" marL="0">
              <a:buNone/>
            </a:pPr>
            <a:r>
              <a:rPr lang="en-US" sz="950" dirty="0">
                <a:solidFill>
                  <a:srgbClr val="3D3D3D"/>
                </a:solidFill>
                <a:latin typeface="Calibri" pitchFamily="34" charset="0"/>
                <a:ea typeface="Calibri" pitchFamily="34" charset="-122"/>
                <a:cs typeface="Calibri" pitchFamily="34" charset="-120"/>
              </a:rPr>
              <a:t>  32 March orders — the messy one</a:t>
            </a:r>
            <a:endParaRPr lang="en-US" sz="950" dirty="0"/>
          </a:p>
          <a:p>
            <a:pPr indent="0" marL="0">
              <a:buNone/>
            </a:pPr>
            <a:r>
              <a:rPr lang="en-US" sz="950" b="1" dirty="0">
                <a:solidFill>
                  <a:srgbClr val="1F3F6B"/>
                </a:solidFill>
                <a:latin typeface="Calibri" pitchFamily="34" charset="0"/>
                <a:ea typeface="Calibri" pitchFamily="34" charset="-122"/>
                <a:cs typeface="Calibri" pitchFamily="34" charset="-120"/>
              </a:rPr>
              <a:t>orders_2024_04.csv</a:t>
            </a:r>
            <a:pPr indent="0" marL="0">
              <a:buNone/>
            </a:pPr>
            <a:r>
              <a:rPr lang="en-US" sz="950" dirty="0">
                <a:solidFill>
                  <a:srgbClr val="3D3D3D"/>
                </a:solidFill>
                <a:latin typeface="Calibri" pitchFamily="34" charset="0"/>
                <a:ea typeface="Calibri" pitchFamily="34" charset="-122"/>
                <a:cs typeface="Calibri" pitchFamily="34" charset="-120"/>
              </a:rPr>
              <a:t>  6 April orders (Lab 2.4)</a:t>
            </a:r>
            <a:endParaRPr lang="en-US" sz="950" dirty="0"/>
          </a:p>
          <a:p>
            <a:pPr indent="0" marL="0">
              <a:buNone/>
            </a:pPr>
            <a:r>
              <a:rPr lang="en-US" sz="950" b="1" dirty="0">
                <a:solidFill>
                  <a:srgbClr val="1F3F6B"/>
                </a:solidFill>
                <a:latin typeface="Calibri" pitchFamily="34" charset="0"/>
                <a:ea typeface="Calibri" pitchFamily="34" charset="-122"/>
                <a:cs typeface="Calibri" pitchFamily="34" charset="-120"/>
              </a:rPr>
              <a:t>customers.csv</a:t>
            </a:r>
            <a:pPr indent="0" marL="0">
              <a:buNone/>
            </a:pPr>
            <a:r>
              <a:rPr lang="en-US" sz="950" dirty="0">
                <a:solidFill>
                  <a:srgbClr val="3D3D3D"/>
                </a:solidFill>
                <a:latin typeface="Calibri" pitchFamily="34" charset="0"/>
                <a:ea typeface="Calibri" pitchFamily="34" charset="-122"/>
                <a:cs typeface="Calibri" pitchFamily="34" charset="-120"/>
              </a:rPr>
              <a:t>  customer master list</a:t>
            </a:r>
            <a:endParaRPr lang="en-US" sz="950" dirty="0"/>
          </a:p>
          <a:p>
            <a:pPr indent="0" marL="0">
              <a:buNone/>
            </a:pPr>
            <a:r>
              <a:rPr lang="en-US" sz="950" b="1" dirty="0">
                <a:solidFill>
                  <a:srgbClr val="1F3F6B"/>
                </a:solidFill>
                <a:latin typeface="Calibri" pitchFamily="34" charset="0"/>
                <a:ea typeface="Calibri" pitchFamily="34" charset="-122"/>
                <a:cs typeface="Calibri" pitchFamily="34" charset="-120"/>
              </a:rPr>
              <a:t>Lab2_Starter.ipynb</a:t>
            </a:r>
            <a:pPr indent="0" marL="0">
              <a:buNone/>
            </a:pPr>
            <a:r>
              <a:rPr lang="en-US" sz="950" dirty="0">
                <a:solidFill>
                  <a:srgbClr val="3D3D3D"/>
                </a:solidFill>
                <a:latin typeface="Calibri" pitchFamily="34" charset="0"/>
                <a:ea typeface="Calibri" pitchFamily="34" charset="-122"/>
                <a:cs typeface="Calibri" pitchFamily="34" charset="-120"/>
              </a:rPr>
              <a:t>  + one worksheet per lab</a:t>
            </a:r>
            <a:endParaRPr lang="en-US" sz="950" dirty="0"/>
          </a:p>
        </p:txBody>
      </p:sp>
      <p:sp>
        <p:nvSpPr>
          <p:cNvPr id="38" name="Rules"/>
          <p:cNvSpPr/>
          <p:nvPr/>
        </p:nvSpPr>
        <p:spPr>
          <a:xfrm>
            <a:off x="4663440" y="3520440"/>
            <a:ext cx="4069080" cy="1188720"/>
          </a:xfrm>
          <a:prstGeom prst="roundRect">
            <a:avLst>
              <a:gd name="adj" fmla="val 6154"/>
            </a:avLst>
          </a:prstGeom>
          <a:solidFill>
            <a:srgbClr val="FFF4EC"/>
          </a:solidFill>
          <a:ln w="12700">
            <a:solidFill>
              <a:srgbClr val="D9480F"/>
            </a:solidFill>
            <a:prstDash val="solid"/>
          </a:ln>
        </p:spPr>
      </p:sp>
      <p:sp>
        <p:nvSpPr>
          <p:cNvPr id="39" name="Text 37"/>
          <p:cNvSpPr txBox="1"/>
          <p:nvPr/>
        </p:nvSpPr>
        <p:spPr>
          <a:xfrm>
            <a:off x="4800600" y="3584448"/>
            <a:ext cx="3657600" cy="182880"/>
          </a:xfrm>
          <a:prstGeom prst="rect">
            <a:avLst/>
          </a:prstGeom>
          <a:noFill/>
          <a:ln/>
        </p:spPr>
        <p:txBody>
          <a:bodyPr wrap="square" lIns="0" tIns="0" rIns="0" bIns="0" rtlCol="0" anchor="ctr"/>
          <a:lstStyle/>
          <a:p>
            <a:pPr indent="0" marL="0">
              <a:buNone/>
            </a:pPr>
            <a:r>
              <a:rPr lang="en-US" sz="950" b="1" spc="120" kern="0" dirty="0">
                <a:solidFill>
                  <a:srgbClr val="D9480F"/>
                </a:solidFill>
                <a:latin typeface="Calibri" pitchFamily="34" charset="0"/>
                <a:ea typeface="Calibri" pitchFamily="34" charset="-122"/>
                <a:cs typeface="Calibri" pitchFamily="34" charset="-120"/>
              </a:rPr>
              <a:t>HOW EVERY LAB WORKS</a:t>
            </a:r>
            <a:endParaRPr lang="en-US" sz="950" dirty="0"/>
          </a:p>
        </p:txBody>
      </p:sp>
      <p:sp>
        <p:nvSpPr>
          <p:cNvPr id="40" name="Text 38"/>
          <p:cNvSpPr txBox="1"/>
          <p:nvPr/>
        </p:nvSpPr>
        <p:spPr>
          <a:xfrm>
            <a:off x="4800600" y="3794760"/>
            <a:ext cx="3840480" cy="868680"/>
          </a:xfrm>
          <a:prstGeom prst="rect">
            <a:avLst/>
          </a:prstGeom>
          <a:noFill/>
          <a:ln/>
        </p:spPr>
        <p:txBody>
          <a:bodyPr wrap="square" lIns="0" tIns="0" rIns="0" bIns="0" rtlCol="0" anchor="t"/>
          <a:lstStyle/>
          <a:p>
            <a:pPr indent="0" marL="0">
              <a:buNone/>
            </a:pPr>
            <a:r>
              <a:rPr lang="en-US" sz="950" dirty="0">
                <a:solidFill>
                  <a:srgbClr val="3D3D3D"/>
                </a:solidFill>
                <a:latin typeface="Calibri" pitchFamily="34" charset="0"/>
                <a:ea typeface="Calibri" pitchFamily="34" charset="-122"/>
                <a:cs typeface="Calibri" pitchFamily="34" charset="-120"/>
              </a:rPr>
              <a:t>Groups of 3–5 · start in class, finish before the next session</a:t>
            </a:r>
            <a:endParaRPr lang="en-US" sz="950" dirty="0"/>
          </a:p>
          <a:p>
            <a:pPr indent="0" marL="0">
              <a:buNone/>
            </a:pPr>
            <a:r>
              <a:rPr lang="en-US" sz="950" dirty="0">
                <a:solidFill>
                  <a:srgbClr val="3D3D3D"/>
                </a:solidFill>
                <a:latin typeface="Calibri" pitchFamily="34" charset="0"/>
                <a:ea typeface="Calibri" pitchFamily="34" charset="-122"/>
                <a:cs typeface="Calibri" pitchFamily="34" charset="-120"/>
              </a:rPr>
              <a:t>Group representative uploads ONE file per group</a:t>
            </a:r>
            <a:endParaRPr lang="en-US" sz="950" dirty="0"/>
          </a:p>
          <a:p>
            <a:pPr indent="0" marL="0">
              <a:buNone/>
            </a:pPr>
            <a:r>
              <a:rPr lang="en-US" sz="950" dirty="0">
                <a:solidFill>
                  <a:srgbClr val="3D3D3D"/>
                </a:solidFill>
                <a:latin typeface="Calibri" pitchFamily="34" charset="0"/>
                <a:ea typeface="Calibri" pitchFamily="34" charset="-122"/>
                <a:cs typeface="Calibri" pitchFamily="34" charset="-120"/>
              </a:rPr>
              <a:t>Progress check at the end of each session</a:t>
            </a:r>
            <a:endParaRPr lang="en-US" sz="950" dirty="0"/>
          </a:p>
          <a:p>
            <a:pPr indent="0" marL="0">
              <a:buNone/>
            </a:pPr>
            <a:r>
              <a:rPr lang="en-US" sz="950" b="1" dirty="0">
                <a:solidFill>
                  <a:srgbClr val="3D3D3D"/>
                </a:solidFill>
                <a:latin typeface="Calibri" pitchFamily="34" charset="0"/>
                <a:ea typeface="Calibri" pitchFamily="34" charset="-122"/>
                <a:cs typeface="Calibri" pitchFamily="34" charset="-120"/>
              </a:rPr>
              <a:t>Rule: never overwrite the raw file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11480" y="256032"/>
            <a:ext cx="8229600" cy="457200"/>
          </a:xfrm>
          <a:prstGeom prst="rect">
            <a:avLst/>
          </a:prstGeom>
          <a:noFill/>
          <a:ln/>
        </p:spPr>
        <p:txBody>
          <a:bodyPr wrap="square" lIns="0" tIns="0" rIns="0" bIns="0" rtlCol="0" anchor="ctr"/>
          <a:lstStyle/>
          <a:p>
            <a:pPr indent="0" marL="0">
              <a:buNone/>
            </a:pPr>
            <a:r>
              <a:rPr lang="en-US" sz="2200" b="1" dirty="0">
                <a:solidFill>
                  <a:srgbClr val="D9480F"/>
                </a:solidFill>
                <a:latin typeface="Calibri" pitchFamily="34" charset="0"/>
                <a:ea typeface="Calibri" pitchFamily="34" charset="-122"/>
                <a:cs typeface="Calibri" pitchFamily="34" charset="-120"/>
              </a:rPr>
              <a:t>Meet the Data: Online Shop Orders, March 2024</a:t>
            </a:r>
            <a:endParaRPr lang="en-US" sz="2200" dirty="0"/>
          </a:p>
        </p:txBody>
      </p:sp>
      <p:sp>
        <p:nvSpPr>
          <p:cNvPr id="3" name="Text 1"/>
          <p:cNvSpPr txBox="1"/>
          <p:nvPr/>
        </p:nvSpPr>
        <p:spPr>
          <a:xfrm>
            <a:off x="411480" y="749808"/>
            <a:ext cx="8321040" cy="274320"/>
          </a:xfrm>
          <a:prstGeom prst="rect">
            <a:avLst/>
          </a:prstGeom>
          <a:noFill/>
          <a:ln/>
        </p:spPr>
        <p:txBody>
          <a:bodyPr wrap="square" lIns="0" tIns="0" rIns="0" bIns="0" rtlCol="0" anchor="ctr"/>
          <a:lstStyle/>
          <a:p>
            <a:pPr indent="0" marL="0">
              <a:buNone/>
            </a:pPr>
            <a:r>
              <a:rPr lang="en-US" sz="1200" b="1" dirty="0">
                <a:solidFill>
                  <a:srgbClr val="0B5A43"/>
                </a:solidFill>
                <a:latin typeface="Calibri" pitchFamily="34" charset="0"/>
                <a:ea typeface="Calibri" pitchFamily="34" charset="-122"/>
                <a:cs typeface="Calibri" pitchFamily="34" charset="-120"/>
              </a:rPr>
              <a:t>Your manager: </a:t>
            </a:r>
            <a:pPr indent="0" marL="0">
              <a:buNone/>
            </a:pPr>
            <a:r>
              <a:rPr lang="en-US" sz="1200" dirty="0">
                <a:solidFill>
                  <a:srgbClr val="3D3D3D"/>
                </a:solidFill>
                <a:latin typeface="Calibri" pitchFamily="34" charset="0"/>
                <a:ea typeface="Calibri" pitchFamily="34" charset="-122"/>
                <a:cs typeface="Calibri" pitchFamily="34" charset="-120"/>
              </a:rPr>
              <a:t>"I need revenue by city and by customer segment for March and April. Can we trust these files?"</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8321040" cy="914400"/>
        </p:xfrm>
        <a:graphic>
          <a:graphicData uri="http://schemas.openxmlformats.org/drawingml/2006/table">
            <a:tbl>
              <a:tblPr/>
              <a:tblGrid>
                <a:gridCol w="530352"/>
                <a:gridCol w="658368"/>
                <a:gridCol w="621792"/>
                <a:gridCol w="841248"/>
                <a:gridCol w="603504"/>
                <a:gridCol w="566928"/>
                <a:gridCol w="713232"/>
                <a:gridCol w="530352"/>
                <a:gridCol w="603504"/>
                <a:gridCol w="548640"/>
                <a:gridCol w="1097280"/>
                <a:gridCol w="1005840"/>
              </a:tblGrid>
              <a:tr h="237744">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order_id</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5E5B57"/>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order_date</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5E5B57"/>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customer_id</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5E5B57"/>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customer_name</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5E5B57"/>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city</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5E5B57"/>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country</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5E5B57"/>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category</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5E5B57"/>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quantity</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5E5B57"/>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unit_price</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5E5B57"/>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currency</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5E5B57"/>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email</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5E5B57"/>
                    </a:solidFill>
                  </a:tcPr>
                </a:tc>
                <a:tc>
                  <a:txBody>
                    <a:bodyPr/>
                    <a:lstStyle/>
                    <a:p>
                      <a:pPr indent="0" marL="0">
                        <a:buNone/>
                      </a:pPr>
                      <a:r>
                        <a:rPr lang="en-US" sz="750" b="1" dirty="0">
                          <a:solidFill>
                            <a:srgbClr val="FFFFFF"/>
                          </a:solidFill>
                          <a:latin typeface="Calibri" pitchFamily="34" charset="0"/>
                          <a:ea typeface="Calibri" pitchFamily="34" charset="-122"/>
                          <a:cs typeface="Calibri" pitchFamily="34" charset="-120"/>
                        </a:rPr>
                        <a:t>last_updated</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5E5B57"/>
                    </a:solidFill>
                  </a:tcPr>
                </a:tc>
              </a:tr>
              <a:tr h="237744">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O1001</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2024-03-01</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C001</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Anna Weber</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Berlin</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Germany</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Electronics</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499.00</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EUR</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anna.weber@mail.de</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2024-03-01</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r>
              <a:tr h="237744">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O1003</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03.03.2024</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C003</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Clara Schmidt</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Hamburg</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Germany</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Electronics</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899.00</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EUR</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clara@web.de</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2024-03-03</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r>
              <a:tr h="237744">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O1004</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2024-03-04</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C004</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David Müller</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münchen</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Germany</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Accessories</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9.99</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EUR</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david.m@mail.de</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2024-03-04</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r>
              <a:tr h="237744">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O1007</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2024-03-07</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C007</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Cologne</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Germany</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Office</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2.99</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EUR</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g.braun@mail.de</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2024-03-07</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r>
              <a:tr h="237744">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O1010</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2024-03-10</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C009</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Ivan Petrov</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Vienna</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Austria</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Office</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12.00</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ivan.p@mail.at</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2024-03-10</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3F1EE"/>
                    </a:solidFill>
                  </a:tcPr>
                </a:tc>
              </a:tr>
              <a:tr h="237744">
                <a:tc>
                  <a:txBody>
                    <a:bodyPr/>
                    <a:lstStyle/>
                    <a:p>
                      <a:pPr indent="0" marL="0">
                        <a:buNone/>
                      </a:pPr>
                      <a:r>
                        <a:rPr lang="en-US" sz="750" dirty="0">
                          <a:solidFill>
                            <a:srgbClr val="3D3D3D"/>
                          </a:solidFill>
                          <a:latin typeface="Calibri" pitchFamily="34" charset="0"/>
                          <a:ea typeface="Calibri" pitchFamily="34" charset="-122"/>
                          <a:cs typeface="Calibri" pitchFamily="34" charset="-120"/>
                        </a:rPr>
                        <a:t>…</a:t>
                      </a: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c>
                  <a:txBody>
                    <a:bodyPr/>
                    <a:lstStyle/>
                    <a:p>
                      <a:pPr indent="0" marL="0">
                        <a:buNone/>
                      </a:pPr>
                      <a:endParaRPr lang="en-US" sz="750" dirty="0">
                        <a:latin typeface="Calibri" charset="0"/>
                        <a:ea typeface="Calibri" charset="0"/>
                        <a:cs typeface="Calibri" charset="0"/>
                      </a:endParaRPr>
                    </a:p>
                  </a:txBody>
                  <a:tcPr marL="38100" marR="38100" marT="12700" marB="12700" anchor="ctr">
                    <a:lnL w="6350" cap="flat" cmpd="sng" algn="ctr">
                      <a:solidFill>
                        <a:srgbClr val="D8D4CE"/>
                      </a:solidFill>
                      <a:prstDash val="solid"/>
                      <a:round/>
                      <a:headEnd type="none" w="med" len="med"/>
                      <a:tailEnd type="none" w="med" len="med"/>
                    </a:lnL>
                    <a:lnR w="6350" cap="flat" cmpd="sng" algn="ctr">
                      <a:solidFill>
                        <a:srgbClr val="D8D4CE"/>
                      </a:solidFill>
                      <a:prstDash val="solid"/>
                      <a:round/>
                      <a:headEnd type="none" w="med" len="med"/>
                      <a:tailEnd type="none" w="med" len="med"/>
                    </a:lnR>
                    <a:lnT w="6350" cap="flat" cmpd="sng" algn="ctr">
                      <a:solidFill>
                        <a:srgbClr val="D8D4CE"/>
                      </a:solidFill>
                      <a:prstDash val="solid"/>
                      <a:round/>
                      <a:headEnd type="none" w="med" len="med"/>
                      <a:tailEnd type="none" w="med" len="med"/>
                    </a:lnT>
                    <a:lnB w="6350" cap="flat" cmpd="sng" algn="ctr">
                      <a:solidFill>
                        <a:srgbClr val="D8D4CE"/>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11480" y="2926080"/>
            <a:ext cx="8321040" cy="201168"/>
          </a:xfrm>
          <a:prstGeom prst="rect">
            <a:avLst/>
          </a:prstGeom>
          <a:noFill/>
          <a:ln/>
        </p:spPr>
        <p:txBody>
          <a:bodyPr wrap="square" lIns="0" tIns="0" rIns="0" bIns="0" rtlCol="0" anchor="ctr"/>
          <a:lstStyle/>
          <a:p>
            <a:pPr indent="0" marL="0">
              <a:buNone/>
            </a:pPr>
            <a:r>
              <a:rPr lang="en-US" sz="1000" i="1" dirty="0">
                <a:solidFill>
                  <a:srgbClr val="6B6762"/>
                </a:solidFill>
                <a:latin typeface="Calibri" pitchFamily="34" charset="0"/>
                <a:ea typeface="Calibri" pitchFamily="34" charset="-122"/>
                <a:cs typeface="Calibri" pitchFamily="34" charset="-120"/>
              </a:rPr>
              <a:t>Excerpt — 5 of 32 rows. Some problems are already visible. Most are not.</a:t>
            </a:r>
            <a:endParaRPr lang="en-US" sz="1000" dirty="0"/>
          </a:p>
        </p:txBody>
      </p:sp>
      <p:sp>
        <p:nvSpPr>
          <p:cNvPr id="6" name="orders_2024_03.csv"/>
          <p:cNvSpPr/>
          <p:nvPr/>
        </p:nvSpPr>
        <p:spPr>
          <a:xfrm>
            <a:off x="411480" y="3291840"/>
            <a:ext cx="2688336" cy="1325880"/>
          </a:xfrm>
          <a:prstGeom prst="roundRect">
            <a:avLst>
              <a:gd name="adj" fmla="val 5517"/>
            </a:avLst>
          </a:prstGeom>
          <a:solidFill>
            <a:srgbClr val="EAF2FB"/>
          </a:solidFill>
          <a:ln w="12700">
            <a:solidFill>
              <a:srgbClr val="1F5FA8"/>
            </a:solidFill>
            <a:prstDash val="solid"/>
          </a:ln>
        </p:spPr>
      </p:sp>
      <p:sp>
        <p:nvSpPr>
          <p:cNvPr id="7" name="Text 4"/>
          <p:cNvSpPr txBox="1"/>
          <p:nvPr/>
        </p:nvSpPr>
        <p:spPr>
          <a:xfrm>
            <a:off x="548640" y="3383280"/>
            <a:ext cx="2468880" cy="274320"/>
          </a:xfrm>
          <a:prstGeom prst="rect">
            <a:avLst/>
          </a:prstGeom>
          <a:noFill/>
          <a:ln/>
        </p:spPr>
        <p:txBody>
          <a:bodyPr wrap="square" lIns="0" tIns="0" rIns="0" bIns="0" rtlCol="0" anchor="ctr"/>
          <a:lstStyle/>
          <a:p>
            <a:pPr indent="0" marL="0">
              <a:buNone/>
            </a:pPr>
            <a:r>
              <a:rPr lang="en-US" sz="1250" b="1" dirty="0">
                <a:solidFill>
                  <a:srgbClr val="1F5FA8"/>
                </a:solidFill>
                <a:latin typeface="Calibri" pitchFamily="34" charset="0"/>
                <a:ea typeface="Calibri" pitchFamily="34" charset="-122"/>
                <a:cs typeface="Calibri" pitchFamily="34" charset="-120"/>
              </a:rPr>
              <a:t>orders_2024_03.csv</a:t>
            </a:r>
            <a:endParaRPr lang="en-US" sz="1250" dirty="0"/>
          </a:p>
        </p:txBody>
      </p:sp>
      <p:sp>
        <p:nvSpPr>
          <p:cNvPr id="8" name="Text 5"/>
          <p:cNvSpPr txBox="1"/>
          <p:nvPr/>
        </p:nvSpPr>
        <p:spPr>
          <a:xfrm>
            <a:off x="548640" y="3657600"/>
            <a:ext cx="2468880" cy="228600"/>
          </a:xfrm>
          <a:prstGeom prst="rect">
            <a:avLst/>
          </a:prstGeom>
          <a:noFill/>
          <a:ln/>
        </p:spPr>
        <p:txBody>
          <a:bodyPr wrap="square" lIns="0" tIns="0" rIns="0" bIns="0" rtlCol="0" anchor="ctr"/>
          <a:lstStyle/>
          <a:p>
            <a:pPr indent="0" marL="0">
              <a:buNone/>
            </a:pPr>
            <a:r>
              <a:rPr lang="en-US" sz="1050" b="1" dirty="0">
                <a:solidFill>
                  <a:srgbClr val="3D3D3D"/>
                </a:solidFill>
                <a:latin typeface="Calibri" pitchFamily="34" charset="0"/>
                <a:ea typeface="Calibri" pitchFamily="34" charset="-122"/>
                <a:cs typeface="Calibri" pitchFamily="34" charset="-120"/>
              </a:rPr>
              <a:t>32 rows · 12 columns</a:t>
            </a:r>
            <a:endParaRPr lang="en-US" sz="1050" dirty="0"/>
          </a:p>
        </p:txBody>
      </p:sp>
      <p:sp>
        <p:nvSpPr>
          <p:cNvPr id="9" name="Text 6"/>
          <p:cNvSpPr txBox="1"/>
          <p:nvPr/>
        </p:nvSpPr>
        <p:spPr>
          <a:xfrm>
            <a:off x="548640" y="3904488"/>
            <a:ext cx="2468880" cy="548640"/>
          </a:xfrm>
          <a:prstGeom prst="rect">
            <a:avLst/>
          </a:prstGeom>
          <a:noFill/>
          <a:ln/>
        </p:spPr>
        <p:txBody>
          <a:bodyPr wrap="square" lIns="0" tIns="0" rIns="0" bIns="0" rtlCol="0" anchor="ctr"/>
          <a:lstStyle/>
          <a:p>
            <a:pPr indent="0" marL="0">
              <a:buNone/>
            </a:pPr>
            <a:r>
              <a:rPr lang="en-US" sz="1000" dirty="0">
                <a:solidFill>
                  <a:srgbClr val="3D3D3D"/>
                </a:solidFill>
                <a:latin typeface="Calibri" pitchFamily="34" charset="0"/>
                <a:ea typeface="Calibri" pitchFamily="34" charset="-122"/>
                <a:cs typeface="Calibri" pitchFamily="34" charset="-120"/>
              </a:rPr>
              <a:t>the March export from the shop system</a:t>
            </a:r>
            <a:endParaRPr lang="en-US" sz="1000" dirty="0"/>
          </a:p>
        </p:txBody>
      </p:sp>
      <p:sp>
        <p:nvSpPr>
          <p:cNvPr id="10" name="customers.csv"/>
          <p:cNvSpPr/>
          <p:nvPr/>
        </p:nvSpPr>
        <p:spPr>
          <a:xfrm>
            <a:off x="3227832" y="3291840"/>
            <a:ext cx="2688336" cy="1325880"/>
          </a:xfrm>
          <a:prstGeom prst="roundRect">
            <a:avLst>
              <a:gd name="adj" fmla="val 5517"/>
            </a:avLst>
          </a:prstGeom>
          <a:solidFill>
            <a:srgbClr val="EEEBF8"/>
          </a:solidFill>
          <a:ln w="12700">
            <a:solidFill>
              <a:srgbClr val="4B3A99"/>
            </a:solidFill>
            <a:prstDash val="solid"/>
          </a:ln>
        </p:spPr>
      </p:sp>
      <p:sp>
        <p:nvSpPr>
          <p:cNvPr id="11" name="Text 8"/>
          <p:cNvSpPr txBox="1"/>
          <p:nvPr/>
        </p:nvSpPr>
        <p:spPr>
          <a:xfrm>
            <a:off x="3364992" y="3383280"/>
            <a:ext cx="2468880" cy="274320"/>
          </a:xfrm>
          <a:prstGeom prst="rect">
            <a:avLst/>
          </a:prstGeom>
          <a:noFill/>
          <a:ln/>
        </p:spPr>
        <p:txBody>
          <a:bodyPr wrap="square" lIns="0" tIns="0" rIns="0" bIns="0" rtlCol="0" anchor="ctr"/>
          <a:lstStyle/>
          <a:p>
            <a:pPr indent="0" marL="0">
              <a:buNone/>
            </a:pPr>
            <a:r>
              <a:rPr lang="en-US" sz="1250" b="1" dirty="0">
                <a:solidFill>
                  <a:srgbClr val="4B3A99"/>
                </a:solidFill>
                <a:latin typeface="Calibri" pitchFamily="34" charset="0"/>
                <a:ea typeface="Calibri" pitchFamily="34" charset="-122"/>
                <a:cs typeface="Calibri" pitchFamily="34" charset="-120"/>
              </a:rPr>
              <a:t>customers.csv</a:t>
            </a:r>
            <a:endParaRPr lang="en-US" sz="1250" dirty="0"/>
          </a:p>
        </p:txBody>
      </p:sp>
      <p:sp>
        <p:nvSpPr>
          <p:cNvPr id="12" name="Text 9"/>
          <p:cNvSpPr txBox="1"/>
          <p:nvPr/>
        </p:nvSpPr>
        <p:spPr>
          <a:xfrm>
            <a:off x="3364992" y="3657600"/>
            <a:ext cx="2468880" cy="228600"/>
          </a:xfrm>
          <a:prstGeom prst="rect">
            <a:avLst/>
          </a:prstGeom>
          <a:noFill/>
          <a:ln/>
        </p:spPr>
        <p:txBody>
          <a:bodyPr wrap="square" lIns="0" tIns="0" rIns="0" bIns="0" rtlCol="0" anchor="ctr"/>
          <a:lstStyle/>
          <a:p>
            <a:pPr indent="0" marL="0">
              <a:buNone/>
            </a:pPr>
            <a:r>
              <a:rPr lang="en-US" sz="1050" b="1" dirty="0">
                <a:solidFill>
                  <a:srgbClr val="3D3D3D"/>
                </a:solidFill>
                <a:latin typeface="Calibri" pitchFamily="34" charset="0"/>
                <a:ea typeface="Calibri" pitchFamily="34" charset="-122"/>
                <a:cs typeface="Calibri" pitchFamily="34" charset="-120"/>
              </a:rPr>
              <a:t>27 rows · 5 columns</a:t>
            </a:r>
            <a:endParaRPr lang="en-US" sz="1050" dirty="0"/>
          </a:p>
        </p:txBody>
      </p:sp>
      <p:sp>
        <p:nvSpPr>
          <p:cNvPr id="13" name="Text 10"/>
          <p:cNvSpPr txBox="1"/>
          <p:nvPr/>
        </p:nvSpPr>
        <p:spPr>
          <a:xfrm>
            <a:off x="3364992" y="3904488"/>
            <a:ext cx="2468880" cy="548640"/>
          </a:xfrm>
          <a:prstGeom prst="rect">
            <a:avLst/>
          </a:prstGeom>
          <a:noFill/>
          <a:ln/>
        </p:spPr>
        <p:txBody>
          <a:bodyPr wrap="square" lIns="0" tIns="0" rIns="0" bIns="0" rtlCol="0" anchor="ctr"/>
          <a:lstStyle/>
          <a:p>
            <a:pPr indent="0" marL="0">
              <a:buNone/>
            </a:pPr>
            <a:r>
              <a:rPr lang="en-US" sz="1000" dirty="0">
                <a:solidFill>
                  <a:srgbClr val="3D3D3D"/>
                </a:solidFill>
                <a:latin typeface="Calibri" pitchFamily="34" charset="0"/>
                <a:ea typeface="Calibri" pitchFamily="34" charset="-122"/>
                <a:cs typeface="Calibri" pitchFamily="34" charset="-120"/>
              </a:rPr>
              <a:t>customer master: name, city, segment, signup date</a:t>
            </a:r>
            <a:endParaRPr lang="en-US" sz="1000" dirty="0"/>
          </a:p>
        </p:txBody>
      </p:sp>
      <p:sp>
        <p:nvSpPr>
          <p:cNvPr id="14" name="orders_2024_04.csv"/>
          <p:cNvSpPr/>
          <p:nvPr/>
        </p:nvSpPr>
        <p:spPr>
          <a:xfrm>
            <a:off x="6044184" y="3291840"/>
            <a:ext cx="2688336" cy="1325880"/>
          </a:xfrm>
          <a:prstGeom prst="roundRect">
            <a:avLst>
              <a:gd name="adj" fmla="val 5517"/>
            </a:avLst>
          </a:prstGeom>
          <a:solidFill>
            <a:srgbClr val="E3F4EC"/>
          </a:solidFill>
          <a:ln w="12700">
            <a:solidFill>
              <a:srgbClr val="2E8B6A"/>
            </a:solidFill>
            <a:prstDash val="solid"/>
          </a:ln>
        </p:spPr>
      </p:sp>
      <p:sp>
        <p:nvSpPr>
          <p:cNvPr id="15" name="Text 12"/>
          <p:cNvSpPr txBox="1"/>
          <p:nvPr/>
        </p:nvSpPr>
        <p:spPr>
          <a:xfrm>
            <a:off x="6181344" y="3383280"/>
            <a:ext cx="2468880" cy="274320"/>
          </a:xfrm>
          <a:prstGeom prst="rect">
            <a:avLst/>
          </a:prstGeom>
          <a:noFill/>
          <a:ln/>
        </p:spPr>
        <p:txBody>
          <a:bodyPr wrap="square" lIns="0" tIns="0" rIns="0" bIns="0" rtlCol="0" anchor="ctr"/>
          <a:lstStyle/>
          <a:p>
            <a:pPr indent="0" marL="0">
              <a:buNone/>
            </a:pPr>
            <a:r>
              <a:rPr lang="en-US" sz="1250" b="1" dirty="0">
                <a:solidFill>
                  <a:srgbClr val="2E8B6A"/>
                </a:solidFill>
                <a:latin typeface="Calibri" pitchFamily="34" charset="0"/>
                <a:ea typeface="Calibri" pitchFamily="34" charset="-122"/>
                <a:cs typeface="Calibri" pitchFamily="34" charset="-120"/>
              </a:rPr>
              <a:t>orders_2024_04.csv</a:t>
            </a:r>
            <a:endParaRPr lang="en-US" sz="1250" dirty="0"/>
          </a:p>
        </p:txBody>
      </p:sp>
      <p:sp>
        <p:nvSpPr>
          <p:cNvPr id="16" name="Text 13"/>
          <p:cNvSpPr txBox="1"/>
          <p:nvPr/>
        </p:nvSpPr>
        <p:spPr>
          <a:xfrm>
            <a:off x="6181344" y="3657600"/>
            <a:ext cx="2468880" cy="228600"/>
          </a:xfrm>
          <a:prstGeom prst="rect">
            <a:avLst/>
          </a:prstGeom>
          <a:noFill/>
          <a:ln/>
        </p:spPr>
        <p:txBody>
          <a:bodyPr wrap="square" lIns="0" tIns="0" rIns="0" bIns="0" rtlCol="0" anchor="ctr"/>
          <a:lstStyle/>
          <a:p>
            <a:pPr indent="0" marL="0">
              <a:buNone/>
            </a:pPr>
            <a:r>
              <a:rPr lang="en-US" sz="1050" b="1" dirty="0">
                <a:solidFill>
                  <a:srgbClr val="3D3D3D"/>
                </a:solidFill>
                <a:latin typeface="Calibri" pitchFamily="34" charset="0"/>
                <a:ea typeface="Calibri" pitchFamily="34" charset="-122"/>
                <a:cs typeface="Calibri" pitchFamily="34" charset="-120"/>
              </a:rPr>
              <a:t>6 rows · 11 columns</a:t>
            </a:r>
            <a:endParaRPr lang="en-US" sz="1050" dirty="0"/>
          </a:p>
        </p:txBody>
      </p:sp>
      <p:sp>
        <p:nvSpPr>
          <p:cNvPr id="17" name="Text 14"/>
          <p:cNvSpPr txBox="1"/>
          <p:nvPr/>
        </p:nvSpPr>
        <p:spPr>
          <a:xfrm>
            <a:off x="6181344" y="3904488"/>
            <a:ext cx="2468880" cy="548640"/>
          </a:xfrm>
          <a:prstGeom prst="rect">
            <a:avLst/>
          </a:prstGeom>
          <a:noFill/>
          <a:ln/>
        </p:spPr>
        <p:txBody>
          <a:bodyPr wrap="square" lIns="0" tIns="0" rIns="0" bIns="0" rtlCol="0" anchor="ctr"/>
          <a:lstStyle/>
          <a:p>
            <a:pPr indent="0" marL="0">
              <a:buNone/>
            </a:pPr>
            <a:r>
              <a:rPr lang="en-US" sz="1000" dirty="0">
                <a:solidFill>
                  <a:srgbClr val="3D3D3D"/>
                </a:solidFill>
                <a:latin typeface="Calibri" pitchFamily="34" charset="0"/>
                <a:ea typeface="Calibri" pitchFamily="34" charset="-122"/>
                <a:cs typeface="Calibri" pitchFamily="34" charset="-120"/>
              </a:rPr>
              <a:t>the April export — arrives in Lab 2.4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11480" y="256032"/>
            <a:ext cx="7863840" cy="457200"/>
          </a:xfrm>
          <a:prstGeom prst="rect">
            <a:avLst/>
          </a:prstGeom>
          <a:noFill/>
          <a:ln/>
        </p:spPr>
        <p:txBody>
          <a:bodyPr wrap="square" lIns="0" tIns="0" rIns="0" bIns="0" rtlCol="0" anchor="ctr"/>
          <a:lstStyle/>
          <a:p>
            <a:pPr indent="0" marL="0">
              <a:buNone/>
            </a:pPr>
            <a:r>
              <a:rPr lang="en-US" sz="2200" b="1" dirty="0">
                <a:solidFill>
                  <a:srgbClr val="D9480F"/>
                </a:solidFill>
                <a:latin typeface="Calibri" pitchFamily="34" charset="0"/>
                <a:ea typeface="Calibri" pitchFamily="34" charset="-122"/>
                <a:cs typeface="Calibri" pitchFamily="34" charset="-120"/>
              </a:rPr>
              <a:t>Lab 2.1: Data Quality Audit</a:t>
            </a:r>
            <a:endParaRPr lang="en-US" sz="2200" dirty="0"/>
          </a:p>
        </p:txBody>
      </p:sp>
      <p:sp>
        <p:nvSpPr>
          <p:cNvPr id="3" name="Text 1"/>
          <p:cNvSpPr txBox="1"/>
          <p:nvPr/>
        </p:nvSpPr>
        <p:spPr>
          <a:xfrm>
            <a:off x="411480" y="749808"/>
            <a:ext cx="8321040" cy="274320"/>
          </a:xfrm>
          <a:prstGeom prst="rect">
            <a:avLst/>
          </a:prstGeom>
          <a:noFill/>
          <a:ln/>
        </p:spPr>
        <p:txBody>
          <a:bodyPr wrap="square" lIns="0" tIns="0" rIns="0" bIns="0" rtlCol="0" anchor="ctr"/>
          <a:lstStyle/>
          <a:p>
            <a:pPr indent="0" marL="0">
              <a:buNone/>
            </a:pPr>
            <a:r>
              <a:rPr lang="en-US" sz="1200" b="1" dirty="0">
                <a:solidFill>
                  <a:srgbClr val="0B5A43"/>
                </a:solidFill>
                <a:latin typeface="Calibri" pitchFamily="34" charset="0"/>
                <a:ea typeface="Calibri" pitchFamily="34" charset="-122"/>
                <a:cs typeface="Calibri" pitchFamily="34" charset="-120"/>
              </a:rPr>
              <a:t>Goal: </a:t>
            </a:r>
            <a:pPr indent="0" marL="0">
              <a:buNone/>
            </a:pPr>
            <a:r>
              <a:rPr lang="en-US" sz="1200" dirty="0">
                <a:solidFill>
                  <a:srgbClr val="3D3D3D"/>
                </a:solidFill>
                <a:latin typeface="Calibri" pitchFamily="34" charset="0"/>
                <a:ea typeface="Calibri" pitchFamily="34" charset="-122"/>
                <a:cs typeface="Calibri" pitchFamily="34" charset="-120"/>
              </a:rPr>
              <a:t>Measure how good the shop data is — dimension by dimension, in numbers.</a:t>
            </a:r>
            <a:endParaRPr lang="en-US" sz="1200" dirty="0"/>
          </a:p>
        </p:txBody>
      </p:sp>
      <p:sp>
        <p:nvSpPr>
          <p:cNvPr id="4" name="Text 2"/>
          <p:cNvSpPr txBox="1"/>
          <p:nvPr/>
        </p:nvSpPr>
        <p:spPr>
          <a:xfrm>
            <a:off x="411480" y="1005840"/>
            <a:ext cx="8321040" cy="274320"/>
          </a:xfrm>
          <a:prstGeom prst="rect">
            <a:avLst/>
          </a:prstGeom>
          <a:noFill/>
          <a:ln/>
        </p:spPr>
        <p:txBody>
          <a:bodyPr wrap="square" lIns="0" tIns="0" rIns="0" bIns="0" rtlCol="0" anchor="ctr"/>
          <a:lstStyle/>
          <a:p>
            <a:pPr indent="0" marL="0">
              <a:buNone/>
            </a:pPr>
            <a:r>
              <a:rPr lang="en-US" sz="1200" b="1" dirty="0">
                <a:solidFill>
                  <a:srgbClr val="0B5A43"/>
                </a:solidFill>
                <a:latin typeface="Calibri" pitchFamily="34" charset="0"/>
                <a:ea typeface="Calibri" pitchFamily="34" charset="-122"/>
                <a:cs typeface="Calibri" pitchFamily="34" charset="-120"/>
              </a:rPr>
              <a:t>Scenario: </a:t>
            </a:r>
            <a:pPr indent="0" marL="0">
              <a:buNone/>
            </a:pPr>
            <a:r>
              <a:rPr lang="en-US" sz="1200" dirty="0">
                <a:solidFill>
                  <a:srgbClr val="3D3D3D"/>
                </a:solidFill>
                <a:latin typeface="Calibri" pitchFamily="34" charset="0"/>
                <a:ea typeface="Calibri" pitchFamily="34" charset="-122"/>
                <a:cs typeface="Calibri" pitchFamily="34" charset="-120"/>
              </a:rPr>
              <a:t>Your manager wants revenue by city for March. Before anyone builds a dashboard: can we trust this file?</a:t>
            </a:r>
            <a:endParaRPr lang="en-US" sz="1200" dirty="0"/>
          </a:p>
        </p:txBody>
      </p:sp>
      <p:sp>
        <p:nvSpPr>
          <p:cNvPr id="5" name="Text 3"/>
          <p:cNvSpPr txBox="1"/>
          <p:nvPr/>
        </p:nvSpPr>
        <p:spPr>
          <a:xfrm>
            <a:off x="411480" y="1371600"/>
            <a:ext cx="2743200" cy="201168"/>
          </a:xfrm>
          <a:prstGeom prst="rect">
            <a:avLst/>
          </a:prstGeom>
          <a:noFill/>
          <a:ln/>
        </p:spPr>
        <p:txBody>
          <a:bodyPr wrap="square" lIns="0" tIns="0" rIns="0" bIns="0" rtlCol="0" anchor="ctr"/>
          <a:lstStyle/>
          <a:p>
            <a:pPr indent="0" marL="0">
              <a:buNone/>
            </a:pPr>
            <a:r>
              <a:rPr lang="en-US" sz="1000" b="1" spc="150" kern="0" dirty="0">
                <a:solidFill>
                  <a:srgbClr val="2E8B6A"/>
                </a:solidFill>
                <a:latin typeface="Calibri" pitchFamily="34" charset="0"/>
                <a:ea typeface="Calibri" pitchFamily="34" charset="-122"/>
                <a:cs typeface="Calibri" pitchFamily="34" charset="-120"/>
              </a:rPr>
              <a:t>YOUR TASKS</a:t>
            </a:r>
            <a:endParaRPr lang="en-US" sz="1000" dirty="0"/>
          </a:p>
        </p:txBody>
      </p:sp>
      <p:sp>
        <p:nvSpPr>
          <p:cNvPr id="6" name="Step 1"/>
          <p:cNvSpPr/>
          <p:nvPr/>
        </p:nvSpPr>
        <p:spPr>
          <a:xfrm>
            <a:off x="411480" y="1609344"/>
            <a:ext cx="5120640" cy="457200"/>
          </a:xfrm>
          <a:prstGeom prst="roundRect">
            <a:avLst>
              <a:gd name="adj" fmla="val 16000"/>
            </a:avLst>
          </a:prstGeom>
          <a:solidFill>
            <a:srgbClr val="E3F4EC"/>
          </a:solidFill>
          <a:ln w="12700">
            <a:solidFill>
              <a:srgbClr val="E3F4EC"/>
            </a:solidFill>
            <a:prstDash val="solid"/>
          </a:ln>
        </p:spPr>
      </p:sp>
      <p:sp>
        <p:nvSpPr>
          <p:cNvPr id="7" name="Shape 5"/>
          <p:cNvSpPr/>
          <p:nvPr/>
        </p:nvSpPr>
        <p:spPr>
          <a:xfrm>
            <a:off x="512064" y="1682496"/>
            <a:ext cx="310896" cy="310896"/>
          </a:xfrm>
          <a:prstGeom prst="ellipse">
            <a:avLst/>
          </a:prstGeom>
          <a:solidFill>
            <a:srgbClr val="2E8B6A"/>
          </a:solidFill>
          <a:ln w="12700">
            <a:solidFill>
              <a:srgbClr val="2E8B6A"/>
            </a:solidFill>
            <a:prstDash val="solid"/>
          </a:ln>
        </p:spPr>
      </p:sp>
      <p:sp>
        <p:nvSpPr>
          <p:cNvPr id="8" name="Text 6"/>
          <p:cNvSpPr txBox="1"/>
          <p:nvPr/>
        </p:nvSpPr>
        <p:spPr>
          <a:xfrm>
            <a:off x="512064" y="168249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txBox="1"/>
          <p:nvPr/>
        </p:nvSpPr>
        <p:spPr>
          <a:xfrm>
            <a:off x="941832" y="1627632"/>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Load and look</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pd.read_csv(…, dtype=str) · df.shape · df.head(10)</a:t>
            </a:r>
            <a:endParaRPr lang="en-US" sz="1100" dirty="0"/>
          </a:p>
        </p:txBody>
      </p:sp>
      <p:sp>
        <p:nvSpPr>
          <p:cNvPr id="10" name="Shape 8"/>
          <p:cNvSpPr/>
          <p:nvPr/>
        </p:nvSpPr>
        <p:spPr>
          <a:xfrm>
            <a:off x="4828032" y="1700784"/>
            <a:ext cx="621792" cy="274320"/>
          </a:xfrm>
          <a:prstGeom prst="roundRect">
            <a:avLst>
              <a:gd name="adj" fmla="val 26667"/>
            </a:avLst>
          </a:prstGeom>
          <a:solidFill>
            <a:srgbClr val="FFFFFF"/>
          </a:solidFill>
          <a:ln w="12700">
            <a:solidFill>
              <a:srgbClr val="2E8B6A"/>
            </a:solidFill>
            <a:prstDash val="solid"/>
          </a:ln>
        </p:spPr>
      </p:sp>
      <p:sp>
        <p:nvSpPr>
          <p:cNvPr id="11" name="Text 9"/>
          <p:cNvSpPr txBox="1"/>
          <p:nvPr/>
        </p:nvSpPr>
        <p:spPr>
          <a:xfrm>
            <a:off x="4828032" y="1700784"/>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5 min</a:t>
            </a:r>
            <a:endParaRPr lang="en-US" sz="950" dirty="0"/>
          </a:p>
        </p:txBody>
      </p:sp>
      <p:sp>
        <p:nvSpPr>
          <p:cNvPr id="12" name="Step 2"/>
          <p:cNvSpPr/>
          <p:nvPr/>
        </p:nvSpPr>
        <p:spPr>
          <a:xfrm>
            <a:off x="411480" y="2125980"/>
            <a:ext cx="5120640" cy="457200"/>
          </a:xfrm>
          <a:prstGeom prst="roundRect">
            <a:avLst>
              <a:gd name="adj" fmla="val 16000"/>
            </a:avLst>
          </a:prstGeom>
          <a:solidFill>
            <a:srgbClr val="E3F4EC"/>
          </a:solidFill>
          <a:ln w="12700">
            <a:solidFill>
              <a:srgbClr val="E3F4EC"/>
            </a:solidFill>
            <a:prstDash val="solid"/>
          </a:ln>
        </p:spPr>
      </p:sp>
      <p:sp>
        <p:nvSpPr>
          <p:cNvPr id="13" name="Shape 11"/>
          <p:cNvSpPr/>
          <p:nvPr/>
        </p:nvSpPr>
        <p:spPr>
          <a:xfrm>
            <a:off x="512064" y="2199132"/>
            <a:ext cx="310896" cy="310896"/>
          </a:xfrm>
          <a:prstGeom prst="ellipse">
            <a:avLst/>
          </a:prstGeom>
          <a:solidFill>
            <a:srgbClr val="2E8B6A"/>
          </a:solidFill>
          <a:ln w="12700">
            <a:solidFill>
              <a:srgbClr val="2E8B6A"/>
            </a:solidFill>
            <a:prstDash val="solid"/>
          </a:ln>
        </p:spPr>
      </p:sp>
      <p:sp>
        <p:nvSpPr>
          <p:cNvPr id="14" name="Text 12"/>
          <p:cNvSpPr txBox="1"/>
          <p:nvPr/>
        </p:nvSpPr>
        <p:spPr>
          <a:xfrm>
            <a:off x="512064" y="2199132"/>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3"/>
          <p:cNvSpPr txBox="1"/>
          <p:nvPr/>
        </p:nvSpPr>
        <p:spPr>
          <a:xfrm>
            <a:off x="941832" y="2144268"/>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One issue per dimension</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value_counts(), sort_values() → one example per dimension → table A</a:t>
            </a:r>
            <a:endParaRPr lang="en-US" sz="1100" dirty="0"/>
          </a:p>
        </p:txBody>
      </p:sp>
      <p:sp>
        <p:nvSpPr>
          <p:cNvPr id="16" name="Shape 14"/>
          <p:cNvSpPr/>
          <p:nvPr/>
        </p:nvSpPr>
        <p:spPr>
          <a:xfrm>
            <a:off x="4828032" y="2217420"/>
            <a:ext cx="621792" cy="274320"/>
          </a:xfrm>
          <a:prstGeom prst="roundRect">
            <a:avLst>
              <a:gd name="adj" fmla="val 26667"/>
            </a:avLst>
          </a:prstGeom>
          <a:solidFill>
            <a:srgbClr val="FFFFFF"/>
          </a:solidFill>
          <a:ln w="12700">
            <a:solidFill>
              <a:srgbClr val="2E8B6A"/>
            </a:solidFill>
            <a:prstDash val="solid"/>
          </a:ln>
        </p:spPr>
      </p:sp>
      <p:sp>
        <p:nvSpPr>
          <p:cNvPr id="17" name="Text 15"/>
          <p:cNvSpPr txBox="1"/>
          <p:nvPr/>
        </p:nvSpPr>
        <p:spPr>
          <a:xfrm>
            <a:off x="4828032" y="2217420"/>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12 min</a:t>
            </a:r>
            <a:endParaRPr lang="en-US" sz="950" dirty="0"/>
          </a:p>
        </p:txBody>
      </p:sp>
      <p:sp>
        <p:nvSpPr>
          <p:cNvPr id="18" name="Step 3"/>
          <p:cNvSpPr/>
          <p:nvPr/>
        </p:nvSpPr>
        <p:spPr>
          <a:xfrm>
            <a:off x="411480" y="2642616"/>
            <a:ext cx="5120640" cy="457200"/>
          </a:xfrm>
          <a:prstGeom prst="roundRect">
            <a:avLst>
              <a:gd name="adj" fmla="val 16000"/>
            </a:avLst>
          </a:prstGeom>
          <a:solidFill>
            <a:srgbClr val="E3F4EC"/>
          </a:solidFill>
          <a:ln w="12700">
            <a:solidFill>
              <a:srgbClr val="E3F4EC"/>
            </a:solidFill>
            <a:prstDash val="solid"/>
          </a:ln>
        </p:spPr>
      </p:sp>
      <p:sp>
        <p:nvSpPr>
          <p:cNvPr id="19" name="Shape 17"/>
          <p:cNvSpPr/>
          <p:nvPr/>
        </p:nvSpPr>
        <p:spPr>
          <a:xfrm>
            <a:off x="512064" y="2715768"/>
            <a:ext cx="310896" cy="310896"/>
          </a:xfrm>
          <a:prstGeom prst="ellipse">
            <a:avLst/>
          </a:prstGeom>
          <a:solidFill>
            <a:srgbClr val="2E8B6A"/>
          </a:solidFill>
          <a:ln w="12700">
            <a:solidFill>
              <a:srgbClr val="2E8B6A"/>
            </a:solidFill>
            <a:prstDash val="solid"/>
          </a:ln>
        </p:spPr>
      </p:sp>
      <p:sp>
        <p:nvSpPr>
          <p:cNvPr id="20" name="Text 18"/>
          <p:cNvSpPr txBox="1"/>
          <p:nvPr/>
        </p:nvSpPr>
        <p:spPr>
          <a:xfrm>
            <a:off x="512064" y="271576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1" name="Text 19"/>
          <p:cNvSpPr txBox="1"/>
          <p:nvPr/>
        </p:nvSpPr>
        <p:spPr>
          <a:xfrm>
            <a:off x="941832" y="2660904"/>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Completeness</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(df == "").sum() per column → completeness rate</a:t>
            </a:r>
            <a:endParaRPr lang="en-US" sz="1100" dirty="0"/>
          </a:p>
        </p:txBody>
      </p:sp>
      <p:sp>
        <p:nvSpPr>
          <p:cNvPr id="22" name="Shape 20"/>
          <p:cNvSpPr/>
          <p:nvPr/>
        </p:nvSpPr>
        <p:spPr>
          <a:xfrm>
            <a:off x="4828032" y="2734056"/>
            <a:ext cx="621792" cy="274320"/>
          </a:xfrm>
          <a:prstGeom prst="roundRect">
            <a:avLst>
              <a:gd name="adj" fmla="val 26667"/>
            </a:avLst>
          </a:prstGeom>
          <a:solidFill>
            <a:srgbClr val="FFFFFF"/>
          </a:solidFill>
          <a:ln w="12700">
            <a:solidFill>
              <a:srgbClr val="2E8B6A"/>
            </a:solidFill>
            <a:prstDash val="solid"/>
          </a:ln>
        </p:spPr>
      </p:sp>
      <p:sp>
        <p:nvSpPr>
          <p:cNvPr id="23" name="Text 21"/>
          <p:cNvSpPr txBox="1"/>
          <p:nvPr/>
        </p:nvSpPr>
        <p:spPr>
          <a:xfrm>
            <a:off x="4828032" y="2734056"/>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6 min</a:t>
            </a:r>
            <a:endParaRPr lang="en-US" sz="950" dirty="0"/>
          </a:p>
        </p:txBody>
      </p:sp>
      <p:sp>
        <p:nvSpPr>
          <p:cNvPr id="24" name="Step 4"/>
          <p:cNvSpPr/>
          <p:nvPr/>
        </p:nvSpPr>
        <p:spPr>
          <a:xfrm>
            <a:off x="411480" y="3159252"/>
            <a:ext cx="5120640" cy="457200"/>
          </a:xfrm>
          <a:prstGeom prst="roundRect">
            <a:avLst>
              <a:gd name="adj" fmla="val 16000"/>
            </a:avLst>
          </a:prstGeom>
          <a:solidFill>
            <a:srgbClr val="E3F4EC"/>
          </a:solidFill>
          <a:ln w="12700">
            <a:solidFill>
              <a:srgbClr val="E3F4EC"/>
            </a:solidFill>
            <a:prstDash val="solid"/>
          </a:ln>
        </p:spPr>
      </p:sp>
      <p:sp>
        <p:nvSpPr>
          <p:cNvPr id="25" name="Shape 23"/>
          <p:cNvSpPr/>
          <p:nvPr/>
        </p:nvSpPr>
        <p:spPr>
          <a:xfrm>
            <a:off x="512064" y="3232404"/>
            <a:ext cx="310896" cy="310896"/>
          </a:xfrm>
          <a:prstGeom prst="ellipse">
            <a:avLst/>
          </a:prstGeom>
          <a:solidFill>
            <a:srgbClr val="2E8B6A"/>
          </a:solidFill>
          <a:ln w="12700">
            <a:solidFill>
              <a:srgbClr val="2E8B6A"/>
            </a:solidFill>
            <a:prstDash val="solid"/>
          </a:ln>
        </p:spPr>
      </p:sp>
      <p:sp>
        <p:nvSpPr>
          <p:cNvPr id="26" name="Text 24"/>
          <p:cNvSpPr txBox="1"/>
          <p:nvPr/>
        </p:nvSpPr>
        <p:spPr>
          <a:xfrm>
            <a:off x="512064" y="3232404"/>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7" name="Text 25"/>
          <p:cNvSpPr txBox="1"/>
          <p:nvPr/>
        </p:nvSpPr>
        <p:spPr>
          <a:xfrm>
            <a:off x="941832" y="3177540"/>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Uniqueness</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df.duplicated() · order_id.duplicated() → duplication rate</a:t>
            </a:r>
            <a:endParaRPr lang="en-US" sz="1100" dirty="0"/>
          </a:p>
        </p:txBody>
      </p:sp>
      <p:sp>
        <p:nvSpPr>
          <p:cNvPr id="28" name="Shape 26"/>
          <p:cNvSpPr/>
          <p:nvPr/>
        </p:nvSpPr>
        <p:spPr>
          <a:xfrm>
            <a:off x="4828032" y="3250692"/>
            <a:ext cx="621792" cy="274320"/>
          </a:xfrm>
          <a:prstGeom prst="roundRect">
            <a:avLst>
              <a:gd name="adj" fmla="val 26667"/>
            </a:avLst>
          </a:prstGeom>
          <a:solidFill>
            <a:srgbClr val="FFFFFF"/>
          </a:solidFill>
          <a:ln w="12700">
            <a:solidFill>
              <a:srgbClr val="2E8B6A"/>
            </a:solidFill>
            <a:prstDash val="solid"/>
          </a:ln>
        </p:spPr>
      </p:sp>
      <p:sp>
        <p:nvSpPr>
          <p:cNvPr id="29" name="Text 27"/>
          <p:cNvSpPr txBox="1"/>
          <p:nvPr/>
        </p:nvSpPr>
        <p:spPr>
          <a:xfrm>
            <a:off x="4828032" y="3250692"/>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4 min</a:t>
            </a:r>
            <a:endParaRPr lang="en-US" sz="950" dirty="0"/>
          </a:p>
        </p:txBody>
      </p:sp>
      <p:sp>
        <p:nvSpPr>
          <p:cNvPr id="30" name="Step 5"/>
          <p:cNvSpPr/>
          <p:nvPr/>
        </p:nvSpPr>
        <p:spPr>
          <a:xfrm>
            <a:off x="411480" y="3675888"/>
            <a:ext cx="5120640" cy="457200"/>
          </a:xfrm>
          <a:prstGeom prst="roundRect">
            <a:avLst>
              <a:gd name="adj" fmla="val 16000"/>
            </a:avLst>
          </a:prstGeom>
          <a:solidFill>
            <a:srgbClr val="E3F4EC"/>
          </a:solidFill>
          <a:ln w="12700">
            <a:solidFill>
              <a:srgbClr val="E3F4EC"/>
            </a:solidFill>
            <a:prstDash val="solid"/>
          </a:ln>
        </p:spPr>
      </p:sp>
      <p:sp>
        <p:nvSpPr>
          <p:cNvPr id="31" name="Shape 29"/>
          <p:cNvSpPr/>
          <p:nvPr/>
        </p:nvSpPr>
        <p:spPr>
          <a:xfrm>
            <a:off x="512064" y="3749040"/>
            <a:ext cx="310896" cy="310896"/>
          </a:xfrm>
          <a:prstGeom prst="ellipse">
            <a:avLst/>
          </a:prstGeom>
          <a:solidFill>
            <a:srgbClr val="2E8B6A"/>
          </a:solidFill>
          <a:ln w="12700">
            <a:solidFill>
              <a:srgbClr val="2E8B6A"/>
            </a:solidFill>
            <a:prstDash val="solid"/>
          </a:ln>
        </p:spPr>
      </p:sp>
      <p:sp>
        <p:nvSpPr>
          <p:cNvPr id="32" name="Text 30"/>
          <p:cNvSpPr txBox="1"/>
          <p:nvPr/>
        </p:nvSpPr>
        <p:spPr>
          <a:xfrm>
            <a:off x="512064" y="374904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33" name="Text 31"/>
          <p:cNvSpPr txBox="1"/>
          <p:nvPr/>
        </p:nvSpPr>
        <p:spPr>
          <a:xfrm>
            <a:off x="941832" y="3694176"/>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Validity</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one boolean mask per rule: str.match · isin · &gt; 0 → validity rate</a:t>
            </a:r>
            <a:endParaRPr lang="en-US" sz="1100" dirty="0"/>
          </a:p>
        </p:txBody>
      </p:sp>
      <p:sp>
        <p:nvSpPr>
          <p:cNvPr id="34" name="Shape 32"/>
          <p:cNvSpPr/>
          <p:nvPr/>
        </p:nvSpPr>
        <p:spPr>
          <a:xfrm>
            <a:off x="4828032" y="3767328"/>
            <a:ext cx="621792" cy="274320"/>
          </a:xfrm>
          <a:prstGeom prst="roundRect">
            <a:avLst>
              <a:gd name="adj" fmla="val 26667"/>
            </a:avLst>
          </a:prstGeom>
          <a:solidFill>
            <a:srgbClr val="FFFFFF"/>
          </a:solidFill>
          <a:ln w="12700">
            <a:solidFill>
              <a:srgbClr val="2E8B6A"/>
            </a:solidFill>
            <a:prstDash val="solid"/>
          </a:ln>
        </p:spPr>
      </p:sp>
      <p:sp>
        <p:nvSpPr>
          <p:cNvPr id="35" name="Text 33"/>
          <p:cNvSpPr txBox="1"/>
          <p:nvPr/>
        </p:nvSpPr>
        <p:spPr>
          <a:xfrm>
            <a:off x="4828032" y="3767328"/>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8 min</a:t>
            </a:r>
            <a:endParaRPr lang="en-US" sz="950" dirty="0"/>
          </a:p>
        </p:txBody>
      </p:sp>
      <p:sp>
        <p:nvSpPr>
          <p:cNvPr id="36" name="Step 6"/>
          <p:cNvSpPr/>
          <p:nvPr/>
        </p:nvSpPr>
        <p:spPr>
          <a:xfrm>
            <a:off x="411480" y="4192524"/>
            <a:ext cx="5120640" cy="457200"/>
          </a:xfrm>
          <a:prstGeom prst="roundRect">
            <a:avLst>
              <a:gd name="adj" fmla="val 16000"/>
            </a:avLst>
          </a:prstGeom>
          <a:solidFill>
            <a:srgbClr val="E3F4EC"/>
          </a:solidFill>
          <a:ln w="12700">
            <a:solidFill>
              <a:srgbClr val="E3F4EC"/>
            </a:solidFill>
            <a:prstDash val="solid"/>
          </a:ln>
        </p:spPr>
      </p:sp>
      <p:sp>
        <p:nvSpPr>
          <p:cNvPr id="37" name="Shape 35"/>
          <p:cNvSpPr/>
          <p:nvPr/>
        </p:nvSpPr>
        <p:spPr>
          <a:xfrm>
            <a:off x="512064" y="4265676"/>
            <a:ext cx="310896" cy="310896"/>
          </a:xfrm>
          <a:prstGeom prst="ellipse">
            <a:avLst/>
          </a:prstGeom>
          <a:solidFill>
            <a:srgbClr val="2E8B6A"/>
          </a:solidFill>
          <a:ln w="12700">
            <a:solidFill>
              <a:srgbClr val="2E8B6A"/>
            </a:solidFill>
            <a:prstDash val="solid"/>
          </a:ln>
        </p:spPr>
      </p:sp>
      <p:sp>
        <p:nvSpPr>
          <p:cNvPr id="38" name="Text 36"/>
          <p:cNvSpPr txBox="1"/>
          <p:nvPr/>
        </p:nvSpPr>
        <p:spPr>
          <a:xfrm>
            <a:off x="512064" y="426567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9" name="Text 37"/>
          <p:cNvSpPr txBox="1"/>
          <p:nvPr/>
        </p:nvSpPr>
        <p:spPr>
          <a:xfrm>
            <a:off x="941832" y="4210812"/>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Timeliness + verdict</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pd.to_datetime · delay in days ≤ 2? · fit for purpose?</a:t>
            </a:r>
            <a:endParaRPr lang="en-US" sz="1100" dirty="0"/>
          </a:p>
        </p:txBody>
      </p:sp>
      <p:sp>
        <p:nvSpPr>
          <p:cNvPr id="40" name="Shape 38"/>
          <p:cNvSpPr/>
          <p:nvPr/>
        </p:nvSpPr>
        <p:spPr>
          <a:xfrm>
            <a:off x="4828032" y="4283964"/>
            <a:ext cx="621792" cy="274320"/>
          </a:xfrm>
          <a:prstGeom prst="roundRect">
            <a:avLst>
              <a:gd name="adj" fmla="val 26667"/>
            </a:avLst>
          </a:prstGeom>
          <a:solidFill>
            <a:srgbClr val="FFFFFF"/>
          </a:solidFill>
          <a:ln w="12700">
            <a:solidFill>
              <a:srgbClr val="2E8B6A"/>
            </a:solidFill>
            <a:prstDash val="solid"/>
          </a:ln>
        </p:spPr>
      </p:sp>
      <p:sp>
        <p:nvSpPr>
          <p:cNvPr id="41" name="Text 39"/>
          <p:cNvSpPr txBox="1"/>
          <p:nvPr/>
        </p:nvSpPr>
        <p:spPr>
          <a:xfrm>
            <a:off x="4828032" y="4283964"/>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5 min</a:t>
            </a:r>
            <a:endParaRPr lang="en-US" sz="950" dirty="0"/>
          </a:p>
        </p:txBody>
      </p:sp>
      <p:sp>
        <p:nvSpPr>
          <p:cNvPr id="42" name="Files on Moodle"/>
          <p:cNvSpPr/>
          <p:nvPr/>
        </p:nvSpPr>
        <p:spPr>
          <a:xfrm>
            <a:off x="5760720" y="1371600"/>
            <a:ext cx="2971800" cy="1353312"/>
          </a:xfrm>
          <a:prstGeom prst="roundRect">
            <a:avLst>
              <a:gd name="adj" fmla="val 5405"/>
            </a:avLst>
          </a:prstGeom>
          <a:solidFill>
            <a:srgbClr val="EAF2FB"/>
          </a:solidFill>
          <a:ln w="12700">
            <a:solidFill>
              <a:srgbClr val="1F5FA8"/>
            </a:solidFill>
            <a:prstDash val="solid"/>
          </a:ln>
        </p:spPr>
      </p:sp>
      <p:sp>
        <p:nvSpPr>
          <p:cNvPr id="43" name="Text 41"/>
          <p:cNvSpPr txBox="1"/>
          <p:nvPr/>
        </p:nvSpPr>
        <p:spPr>
          <a:xfrm>
            <a:off x="5897880" y="1435608"/>
            <a:ext cx="2697480" cy="182880"/>
          </a:xfrm>
          <a:prstGeom prst="rect">
            <a:avLst/>
          </a:prstGeom>
          <a:noFill/>
          <a:ln/>
        </p:spPr>
        <p:txBody>
          <a:bodyPr wrap="square" lIns="0" tIns="0" rIns="0" bIns="0" rtlCol="0" anchor="ctr"/>
          <a:lstStyle/>
          <a:p>
            <a:pPr indent="0" marL="0">
              <a:buNone/>
            </a:pPr>
            <a:r>
              <a:rPr lang="en-US" sz="950" b="1" spc="120" kern="0" dirty="0">
                <a:solidFill>
                  <a:srgbClr val="1F5FA8"/>
                </a:solidFill>
                <a:latin typeface="Calibri" pitchFamily="34" charset="0"/>
                <a:ea typeface="Calibri" pitchFamily="34" charset="-122"/>
                <a:cs typeface="Calibri" pitchFamily="34" charset="-120"/>
              </a:rPr>
              <a:t>FILES ON MOODLE · USE THESE</a:t>
            </a:r>
            <a:endParaRPr lang="en-US" sz="950" dirty="0"/>
          </a:p>
        </p:txBody>
      </p:sp>
      <p:sp>
        <p:nvSpPr>
          <p:cNvPr id="44" name="Text 42"/>
          <p:cNvSpPr txBox="1"/>
          <p:nvPr/>
        </p:nvSpPr>
        <p:spPr>
          <a:xfrm>
            <a:off x="5897880" y="1664208"/>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Lab2_Starter.ipynb</a:t>
            </a:r>
            <a:pPr indent="0" marL="0">
              <a:buNone/>
            </a:pPr>
            <a:r>
              <a:rPr lang="en-US" sz="850" dirty="0">
                <a:solidFill>
                  <a:srgbClr val="3D3D3D"/>
                </a:solidFill>
                <a:latin typeface="Calibri" pitchFamily="34" charset="0"/>
                <a:ea typeface="Calibri" pitchFamily="34" charset="-122"/>
                <a:cs typeface="Calibri" pitchFamily="34" charset="-120"/>
              </a:rPr>
              <a:t>  notebook · section Lab 2.1</a:t>
            </a:r>
            <a:endParaRPr lang="en-US" sz="900" dirty="0"/>
          </a:p>
        </p:txBody>
      </p:sp>
      <p:sp>
        <p:nvSpPr>
          <p:cNvPr id="45" name="Text 43"/>
          <p:cNvSpPr txBox="1"/>
          <p:nvPr/>
        </p:nvSpPr>
        <p:spPr>
          <a:xfrm>
            <a:off x="5897880" y="1911096"/>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orders_2024_03.csv</a:t>
            </a:r>
            <a:pPr indent="0" marL="0">
              <a:buNone/>
            </a:pPr>
            <a:r>
              <a:rPr lang="en-US" sz="850" dirty="0">
                <a:solidFill>
                  <a:srgbClr val="3D3D3D"/>
                </a:solidFill>
                <a:latin typeface="Calibri" pitchFamily="34" charset="0"/>
                <a:ea typeface="Calibri" pitchFamily="34" charset="-122"/>
                <a:cs typeface="Calibri" pitchFamily="34" charset="-120"/>
              </a:rPr>
              <a:t>  32 rows · 12 columns</a:t>
            </a:r>
            <a:endParaRPr lang="en-US" sz="900" dirty="0"/>
          </a:p>
        </p:txBody>
      </p:sp>
      <p:sp>
        <p:nvSpPr>
          <p:cNvPr id="46" name="Text 44"/>
          <p:cNvSpPr txBox="1"/>
          <p:nvPr/>
        </p:nvSpPr>
        <p:spPr>
          <a:xfrm>
            <a:off x="5897880" y="2157984"/>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customers.csv</a:t>
            </a:r>
            <a:pPr indent="0" marL="0">
              <a:buNone/>
            </a:pPr>
            <a:r>
              <a:rPr lang="en-US" sz="850" dirty="0">
                <a:solidFill>
                  <a:srgbClr val="3D3D3D"/>
                </a:solidFill>
                <a:latin typeface="Calibri" pitchFamily="34" charset="0"/>
                <a:ea typeface="Calibri" pitchFamily="34" charset="-122"/>
                <a:cs typeface="Calibri" pitchFamily="34" charset="-120"/>
              </a:rPr>
              <a:t>  reference for accuracy</a:t>
            </a:r>
            <a:endParaRPr lang="en-US" sz="900" dirty="0"/>
          </a:p>
        </p:txBody>
      </p:sp>
      <p:sp>
        <p:nvSpPr>
          <p:cNvPr id="47" name="Text 45"/>
          <p:cNvSpPr txBox="1"/>
          <p:nvPr/>
        </p:nvSpPr>
        <p:spPr>
          <a:xfrm>
            <a:off x="5897880" y="2404872"/>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Lab2.1_QualityAudit.pptx</a:t>
            </a:r>
            <a:pPr indent="0" marL="0">
              <a:buNone/>
            </a:pPr>
            <a:r>
              <a:rPr lang="en-US" sz="850" dirty="0">
                <a:solidFill>
                  <a:srgbClr val="3D3D3D"/>
                </a:solidFill>
                <a:latin typeface="Calibri" pitchFamily="34" charset="0"/>
                <a:ea typeface="Calibri" pitchFamily="34" charset="-122"/>
                <a:cs typeface="Calibri" pitchFamily="34" charset="-120"/>
              </a:rPr>
              <a:t>  your worksheet</a:t>
            </a:r>
            <a:endParaRPr lang="en-US" sz="900" dirty="0"/>
          </a:p>
        </p:txBody>
      </p:sp>
      <p:sp>
        <p:nvSpPr>
          <p:cNvPr id="48" name="Submit"/>
          <p:cNvSpPr/>
          <p:nvPr/>
        </p:nvSpPr>
        <p:spPr>
          <a:xfrm>
            <a:off x="5760720" y="2834640"/>
            <a:ext cx="2971800" cy="1024128"/>
          </a:xfrm>
          <a:prstGeom prst="roundRect">
            <a:avLst>
              <a:gd name="adj" fmla="val 7143"/>
            </a:avLst>
          </a:prstGeom>
          <a:solidFill>
            <a:srgbClr val="FFF4EC"/>
          </a:solidFill>
          <a:ln w="12700">
            <a:solidFill>
              <a:srgbClr val="D9480F"/>
            </a:solidFill>
            <a:prstDash val="solid"/>
          </a:ln>
        </p:spPr>
      </p:sp>
      <p:sp>
        <p:nvSpPr>
          <p:cNvPr id="49" name="Text 47"/>
          <p:cNvSpPr txBox="1"/>
          <p:nvPr/>
        </p:nvSpPr>
        <p:spPr>
          <a:xfrm>
            <a:off x="5897880" y="2898648"/>
            <a:ext cx="2697480" cy="182880"/>
          </a:xfrm>
          <a:prstGeom prst="rect">
            <a:avLst/>
          </a:prstGeom>
          <a:noFill/>
          <a:ln/>
        </p:spPr>
        <p:txBody>
          <a:bodyPr wrap="square" lIns="0" tIns="0" rIns="0" bIns="0" rtlCol="0" anchor="ctr"/>
          <a:lstStyle/>
          <a:p>
            <a:pPr indent="0" marL="0">
              <a:buNone/>
            </a:pPr>
            <a:r>
              <a:rPr lang="en-US" sz="950" b="1" spc="120" kern="0" dirty="0">
                <a:solidFill>
                  <a:srgbClr val="D9480F"/>
                </a:solidFill>
                <a:latin typeface="Calibri" pitchFamily="34" charset="0"/>
                <a:ea typeface="Calibri" pitchFamily="34" charset="-122"/>
                <a:cs typeface="Calibri" pitchFamily="34" charset="-120"/>
              </a:rPr>
              <a:t>YOU SUBMIT ON MOODLE</a:t>
            </a:r>
            <a:endParaRPr lang="en-US" sz="950" dirty="0"/>
          </a:p>
        </p:txBody>
      </p:sp>
      <p:sp>
        <p:nvSpPr>
          <p:cNvPr id="50" name="Text 48"/>
          <p:cNvSpPr txBox="1"/>
          <p:nvPr/>
        </p:nvSpPr>
        <p:spPr>
          <a:xfrm>
            <a:off x="5897880" y="3090672"/>
            <a:ext cx="2743200" cy="731520"/>
          </a:xfrm>
          <a:prstGeom prst="rect">
            <a:avLst/>
          </a:prstGeom>
          <a:noFill/>
          <a:ln/>
        </p:spPr>
        <p:txBody>
          <a:bodyPr wrap="square" lIns="0" tIns="0" rIns="0" bIns="0" rtlCol="0" anchor="t"/>
          <a:lstStyle/>
          <a:p>
            <a:pPr indent="0" marL="0">
              <a:spcAft>
                <a:spcPts val="200"/>
              </a:spcAft>
              <a:buNone/>
            </a:pPr>
            <a:r>
              <a:rPr lang="en-US" sz="950" dirty="0">
                <a:solidFill>
                  <a:srgbClr val="3D3D3D"/>
                </a:solidFill>
                <a:latin typeface="Calibri" pitchFamily="34" charset="0"/>
                <a:ea typeface="Calibri" pitchFamily="34" charset="-122"/>
                <a:cs typeface="Calibri" pitchFamily="34" charset="-120"/>
              </a:rPr>
              <a:t>ZIP: worksheet PDF + your notebook (.ipynb)</a:t>
            </a:r>
            <a:endParaRPr lang="en-US" sz="950" dirty="0"/>
          </a:p>
          <a:p>
            <a:pPr indent="0" marL="0">
              <a:spcAft>
                <a:spcPts val="200"/>
              </a:spcAft>
              <a:buNone/>
            </a:pPr>
            <a:r>
              <a:rPr lang="en-US" sz="950" b="1" dirty="0">
                <a:solidFill>
                  <a:srgbClr val="3D3D3D"/>
                </a:solidFill>
                <a:latin typeface="Calibri" pitchFamily="34" charset="0"/>
                <a:ea typeface="Calibri" pitchFamily="34" charset="-122"/>
                <a:cs typeface="Calibri" pitchFamily="34" charset="-120"/>
              </a:rPr>
              <a:t>Group representative</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 · one file per group</a:t>
            </a:r>
            <a:endParaRPr lang="en-US" sz="950" dirty="0"/>
          </a:p>
          <a:p>
            <a:pPr indent="0" marL="0">
              <a:spcAft>
                <a:spcPts val="200"/>
              </a:spcAft>
              <a:buNone/>
            </a:pPr>
            <a:r>
              <a:rPr lang="en-US" sz="950" b="1" dirty="0">
                <a:solidFill>
                  <a:srgbClr val="3D3D3D"/>
                </a:solidFill>
                <a:latin typeface="Calibri" pitchFamily="34" charset="0"/>
                <a:ea typeface="Calibri" pitchFamily="34" charset="-122"/>
                <a:cs typeface="Calibri" pitchFamily="34" charset="-120"/>
              </a:rPr>
              <a:t>File: </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Lab2.1_Group&lt;Nr&gt;.zip</a:t>
            </a:r>
            <a:endParaRPr lang="en-US" sz="950" dirty="0"/>
          </a:p>
          <a:p>
            <a:pPr indent="0" marL="0">
              <a:spcAft>
                <a:spcPts val="200"/>
              </a:spcAft>
              <a:buNone/>
            </a:pPr>
            <a:r>
              <a:rPr lang="en-US" sz="950" b="1" dirty="0">
                <a:solidFill>
                  <a:srgbClr val="D9480F"/>
                </a:solidFill>
                <a:latin typeface="Calibri" pitchFamily="34" charset="0"/>
                <a:ea typeface="Calibri" pitchFamily="34" charset="-122"/>
                <a:cs typeface="Calibri" pitchFamily="34" charset="-120"/>
              </a:rPr>
              <a:t>Deadline: </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before the next session</a:t>
            </a:r>
            <a:endParaRPr lang="en-US" sz="950" dirty="0"/>
          </a:p>
        </p:txBody>
      </p:sp>
      <p:sp>
        <p:nvSpPr>
          <p:cNvPr id="51" name="Progress check"/>
          <p:cNvSpPr/>
          <p:nvPr/>
        </p:nvSpPr>
        <p:spPr>
          <a:xfrm>
            <a:off x="5760720" y="3968496"/>
            <a:ext cx="2971800" cy="877824"/>
          </a:xfrm>
          <a:prstGeom prst="roundRect">
            <a:avLst>
              <a:gd name="adj" fmla="val 8333"/>
            </a:avLst>
          </a:prstGeom>
          <a:solidFill>
            <a:srgbClr val="0B5A43"/>
          </a:solidFill>
          <a:ln w="12700">
            <a:solidFill>
              <a:srgbClr val="0B5A43"/>
            </a:solidFill>
            <a:prstDash val="solid"/>
          </a:ln>
        </p:spPr>
      </p:sp>
      <p:sp>
        <p:nvSpPr>
          <p:cNvPr id="52" name="Text 50"/>
          <p:cNvSpPr txBox="1"/>
          <p:nvPr/>
        </p:nvSpPr>
        <p:spPr>
          <a:xfrm>
            <a:off x="5897880" y="4041648"/>
            <a:ext cx="2697480" cy="182880"/>
          </a:xfrm>
          <a:prstGeom prst="rect">
            <a:avLst/>
          </a:prstGeom>
          <a:noFill/>
          <a:ln/>
        </p:spPr>
        <p:txBody>
          <a:bodyPr wrap="square" lIns="0" tIns="0" rIns="0" bIns="0" rtlCol="0" anchor="ctr"/>
          <a:lstStyle/>
          <a:p>
            <a:pPr indent="0" marL="0">
              <a:buNone/>
            </a:pPr>
            <a:r>
              <a:rPr lang="en-US" sz="950" b="1" spc="120" kern="0" dirty="0">
                <a:solidFill>
                  <a:srgbClr val="9CD3B5"/>
                </a:solidFill>
                <a:latin typeface="Calibri" pitchFamily="34" charset="0"/>
                <a:ea typeface="Calibri" pitchFamily="34" charset="-122"/>
                <a:cs typeface="Calibri" pitchFamily="34" charset="-120"/>
              </a:rPr>
              <a:t>PROGRESS CHECK · END OF SESSION</a:t>
            </a:r>
            <a:endParaRPr lang="en-US" sz="950" dirty="0"/>
          </a:p>
        </p:txBody>
      </p:sp>
      <p:sp>
        <p:nvSpPr>
          <p:cNvPr id="53" name="Text 51"/>
          <p:cNvSpPr txBox="1"/>
          <p:nvPr/>
        </p:nvSpPr>
        <p:spPr>
          <a:xfrm>
            <a:off x="5897880" y="4242816"/>
            <a:ext cx="2743200" cy="566928"/>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Show your KPI table and the ONE issue you would fix first — and why.</a:t>
            </a:r>
            <a:endParaRPr lang="en-US" sz="950" dirty="0"/>
          </a:p>
        </p:txBody>
      </p:sp>
      <p:sp>
        <p:nvSpPr>
          <p:cNvPr id="54" name="Text 52"/>
          <p:cNvSpPr txBox="1"/>
          <p:nvPr/>
        </p:nvSpPr>
        <p:spPr>
          <a:xfrm>
            <a:off x="411480" y="4773168"/>
            <a:ext cx="5120640" cy="228600"/>
          </a:xfrm>
          <a:prstGeom prst="rect">
            <a:avLst/>
          </a:prstGeom>
          <a:noFill/>
          <a:ln/>
        </p:spPr>
        <p:txBody>
          <a:bodyPr wrap="square" lIns="0" tIns="0" rIns="0" bIns="0" rtlCol="0" anchor="ctr"/>
          <a:lstStyle/>
          <a:p>
            <a:pPr indent="0" marL="0">
              <a:buNone/>
            </a:pPr>
            <a:r>
              <a:rPr lang="en-US" sz="1000" i="1" dirty="0">
                <a:solidFill>
                  <a:srgbClr val="6B6762"/>
                </a:solidFill>
                <a:latin typeface="Calibri" pitchFamily="34" charset="0"/>
                <a:ea typeface="Calibri" pitchFamily="34" charset="-122"/>
                <a:cs typeface="Calibri" pitchFamily="34" charset="-120"/>
              </a:rPr>
              <a:t>Groups of 3–5 · Jupyter notebook (pandas) · start in class (~40 min), finish before the next session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11480" y="201168"/>
            <a:ext cx="8321040" cy="384048"/>
          </a:xfrm>
          <a:prstGeom prst="rect">
            <a:avLst/>
          </a:prstGeom>
          <a:noFill/>
          <a:ln/>
        </p:spPr>
        <p:txBody>
          <a:bodyPr wrap="square" lIns="0" tIns="0" rIns="0" bIns="0" rtlCol="0" anchor="ctr"/>
          <a:lstStyle/>
          <a:p>
            <a:pPr indent="0" marL="0">
              <a:buNone/>
            </a:pPr>
            <a:r>
              <a:rPr lang="en-US" sz="1900" b="1" dirty="0">
                <a:solidFill>
                  <a:srgbClr val="D9480F"/>
                </a:solidFill>
                <a:latin typeface="Calibri" pitchFamily="34" charset="0"/>
                <a:ea typeface="Calibri" pitchFamily="34" charset="-122"/>
                <a:cs typeface="Calibri" pitchFamily="34" charset="-120"/>
              </a:rPr>
              <a:t>Lab 2.1 Worksheet: Data Quality Audit</a:t>
            </a:r>
            <a:endParaRPr lang="en-US" sz="1900" dirty="0"/>
          </a:p>
        </p:txBody>
      </p:sp>
      <p:sp>
        <p:nvSpPr>
          <p:cNvPr id="3" name="Text 1"/>
          <p:cNvSpPr txBox="1"/>
          <p:nvPr/>
        </p:nvSpPr>
        <p:spPr>
          <a:xfrm>
            <a:off x="411480" y="566928"/>
            <a:ext cx="8321040" cy="182880"/>
          </a:xfrm>
          <a:prstGeom prst="rect">
            <a:avLst/>
          </a:prstGeom>
          <a:noFill/>
          <a:ln/>
        </p:spPr>
        <p:txBody>
          <a:bodyPr wrap="square" lIns="0" tIns="0" rIns="0" bIns="0" rtlCol="0" anchor="ctr"/>
          <a:lstStyle/>
          <a:p>
            <a:pPr indent="0" marL="0">
              <a:buNone/>
            </a:pPr>
            <a:r>
              <a:rPr lang="en-US" sz="900" i="1" dirty="0">
                <a:solidFill>
                  <a:srgbClr val="6B6762"/>
                </a:solidFill>
                <a:latin typeface="Calibri" pitchFamily="34" charset="0"/>
                <a:ea typeface="Calibri" pitchFamily="34" charset="-122"/>
                <a:cs typeface="Calibri" pitchFamily="34" charset="-120"/>
              </a:rPr>
              <a:t>Preview only — fill in the editable worksheet from Moodle.</a:t>
            </a:r>
            <a:endParaRPr lang="en-US" sz="900" dirty="0"/>
          </a:p>
        </p:txBody>
      </p:sp>
      <p:sp>
        <p:nvSpPr>
          <p:cNvPr id="4" name="Text 2"/>
          <p:cNvSpPr txBox="1"/>
          <p:nvPr/>
        </p:nvSpPr>
        <p:spPr>
          <a:xfrm>
            <a:off x="411480" y="822960"/>
            <a:ext cx="640080" cy="237744"/>
          </a:xfrm>
          <a:prstGeom prst="rect">
            <a:avLst/>
          </a:prstGeom>
          <a:noFill/>
          <a:ln/>
        </p:spPr>
        <p:txBody>
          <a:bodyPr wrap="square" lIns="0" tIns="0" rIns="0" bIns="0" rtlCol="0" anchor="ctr"/>
          <a:lstStyle/>
          <a:p>
            <a:pPr indent="0" marL="0">
              <a:buNone/>
            </a:pPr>
            <a:r>
              <a:rPr lang="en-US" sz="1000" b="1" dirty="0">
                <a:solidFill>
                  <a:srgbClr val="0B5A43"/>
                </a:solidFill>
                <a:latin typeface="Calibri" pitchFamily="34" charset="0"/>
                <a:ea typeface="Calibri" pitchFamily="34" charset="-122"/>
                <a:cs typeface="Calibri" pitchFamily="34" charset="-120"/>
              </a:rPr>
              <a:t>Group Nr</a:t>
            </a:r>
            <a:endParaRPr lang="en-US" sz="1000" dirty="0"/>
          </a:p>
        </p:txBody>
      </p:sp>
      <p:sp>
        <p:nvSpPr>
          <p:cNvPr id="5" name="Group Nr"/>
          <p:cNvSpPr/>
          <p:nvPr/>
        </p:nvSpPr>
        <p:spPr>
          <a:xfrm>
            <a:off x="1024128" y="822960"/>
            <a:ext cx="411480" cy="237744"/>
          </a:xfrm>
          <a:prstGeom prst="rect">
            <a:avLst/>
          </a:prstGeom>
          <a:solidFill>
            <a:srgbClr val="FFFFFF"/>
          </a:solidFill>
          <a:ln w="9525">
            <a:solidFill>
              <a:srgbClr val="B9B4AD"/>
            </a:solidFill>
            <a:prstDash val="dash"/>
          </a:ln>
        </p:spPr>
        <p:txBody>
          <a:bodyPr wrap="square" lIns="38100" tIns="38100" rIns="38100" bIns="38100" rtlCol="0" anchor="ctr"/>
          <a:lstStyle/>
          <a:p>
            <a:pPr indent="0" marL="0">
              <a:buNone/>
            </a:pPr>
            <a:r>
              <a:rPr lang="en-US" sz="1000" i="1" dirty="0">
                <a:solidFill>
                  <a:srgbClr val="8A8680"/>
                </a:solidFill>
                <a:latin typeface="Calibri" pitchFamily="34" charset="0"/>
                <a:ea typeface="Calibri" pitchFamily="34" charset="-122"/>
                <a:cs typeface="Calibri" pitchFamily="34" charset="-120"/>
              </a:rPr>
              <a:t>__</a:t>
            </a:r>
            <a:endParaRPr lang="en-US" sz="1000" dirty="0"/>
          </a:p>
        </p:txBody>
      </p:sp>
      <p:sp>
        <p:nvSpPr>
          <p:cNvPr id="6" name="Text 4"/>
          <p:cNvSpPr txBox="1"/>
          <p:nvPr/>
        </p:nvSpPr>
        <p:spPr>
          <a:xfrm>
            <a:off x="1600200" y="822960"/>
            <a:ext cx="640080" cy="237744"/>
          </a:xfrm>
          <a:prstGeom prst="rect">
            <a:avLst/>
          </a:prstGeom>
          <a:noFill/>
          <a:ln/>
        </p:spPr>
        <p:txBody>
          <a:bodyPr wrap="square" lIns="0" tIns="0" rIns="0" bIns="0" rtlCol="0" anchor="ctr"/>
          <a:lstStyle/>
          <a:p>
            <a:pPr indent="0" marL="0">
              <a:buNone/>
            </a:pPr>
            <a:r>
              <a:rPr lang="en-US" sz="1000" b="1" dirty="0">
                <a:solidFill>
                  <a:srgbClr val="0B5A43"/>
                </a:solidFill>
                <a:latin typeface="Calibri" pitchFamily="34" charset="0"/>
                <a:ea typeface="Calibri" pitchFamily="34" charset="-122"/>
                <a:cs typeface="Calibri" pitchFamily="34" charset="-120"/>
              </a:rPr>
              <a:t>Members</a:t>
            </a:r>
            <a:endParaRPr lang="en-US" sz="1000" dirty="0"/>
          </a:p>
        </p:txBody>
      </p:sp>
      <p:sp>
        <p:nvSpPr>
          <p:cNvPr id="7" name="Members"/>
          <p:cNvSpPr/>
          <p:nvPr/>
        </p:nvSpPr>
        <p:spPr>
          <a:xfrm>
            <a:off x="2240280" y="822960"/>
            <a:ext cx="4389120" cy="237744"/>
          </a:xfrm>
          <a:prstGeom prst="rect">
            <a:avLst/>
          </a:prstGeom>
          <a:solidFill>
            <a:srgbClr val="FFFFFF"/>
          </a:solidFill>
          <a:ln w="9525">
            <a:solidFill>
              <a:srgbClr val="B9B4AD"/>
            </a:solidFill>
            <a:prstDash val="dash"/>
          </a:ln>
        </p:spPr>
        <p:txBody>
          <a:bodyPr wrap="square" lIns="38100" tIns="38100" rIns="38100" bIns="38100" rtlCol="0" anchor="ctr"/>
          <a:lstStyle/>
          <a:p>
            <a:pPr indent="0" marL="0">
              <a:buNone/>
            </a:pPr>
            <a:r>
              <a:rPr lang="en-US" sz="1000" i="1" dirty="0">
                <a:solidFill>
                  <a:srgbClr val="8A8680"/>
                </a:solidFill>
                <a:latin typeface="Calibri" pitchFamily="34" charset="0"/>
                <a:ea typeface="Calibri" pitchFamily="34" charset="-122"/>
                <a:cs typeface="Calibri" pitchFamily="34" charset="-120"/>
              </a:rPr>
              <a:t>Full names of all members</a:t>
            </a:r>
            <a:endParaRPr lang="en-US" sz="1000" dirty="0"/>
          </a:p>
        </p:txBody>
      </p:sp>
      <p:sp>
        <p:nvSpPr>
          <p:cNvPr id="8" name="Text 6"/>
          <p:cNvSpPr txBox="1"/>
          <p:nvPr/>
        </p:nvSpPr>
        <p:spPr>
          <a:xfrm>
            <a:off x="411480" y="1161288"/>
            <a:ext cx="4114800" cy="182880"/>
          </a:xfrm>
          <a:prstGeom prst="rect">
            <a:avLst/>
          </a:prstGeom>
          <a:noFill/>
          <a:ln/>
        </p:spPr>
        <p:txBody>
          <a:bodyPr wrap="square" lIns="0" tIns="0" rIns="0" bIns="0" rtlCol="0" anchor="ctr"/>
          <a:lstStyle/>
          <a:p>
            <a:pPr indent="0" marL="0">
              <a:buNone/>
            </a:pPr>
            <a:r>
              <a:rPr lang="en-US" sz="900" b="1" spc="100" kern="0" dirty="0">
                <a:solidFill>
                  <a:srgbClr val="1F5FA8"/>
                </a:solidFill>
                <a:latin typeface="Calibri" pitchFamily="34" charset="0"/>
                <a:ea typeface="Calibri" pitchFamily="34" charset="-122"/>
                <a:cs typeface="Calibri" pitchFamily="34" charset="-120"/>
              </a:rPr>
              <a:t>A · ONE EXAMPLE PER DIMENSION</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4572000" cy="914400"/>
        </p:xfrm>
        <a:graphic>
          <a:graphicData uri="http://schemas.openxmlformats.org/drawingml/2006/table">
            <a:tbl>
              <a:tblPr/>
              <a:tblGrid>
                <a:gridCol w="914400"/>
                <a:gridCol w="1143000"/>
                <a:gridCol w="2057400"/>
                <a:gridCol w="457200"/>
              </a:tblGrid>
              <a:tr h="24688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Dimension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Hint</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Example: order_id + what is wrong</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 rows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1F5FA8"/>
                    </a:solidFill>
                  </a:tcPr>
                </a:tc>
              </a:tr>
              <a:tr h="246888">
                <a:tc>
                  <a:txBody>
                    <a:bodyPr/>
                    <a:lstStyle/>
                    <a:p>
                      <a:pPr indent="0" marL="0">
                        <a:buNone/>
                      </a:pPr>
                      <a:r>
                        <a:rPr lang="en-US" sz="900" b="1" dirty="0">
                          <a:solidFill>
                            <a:srgbClr val="1F3F6B"/>
                          </a:solidFill>
                          <a:latin typeface="Calibri" pitchFamily="34" charset="0"/>
                          <a:ea typeface="Calibri" pitchFamily="34" charset="-122"/>
                          <a:cs typeface="Calibri" pitchFamily="34" charset="-120"/>
                        </a:rPr>
                        <a:t>Accuracy</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AF2FB"/>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vs. customers.csv</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e.g. O10xx —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46888">
                <a:tc>
                  <a:txBody>
                    <a:bodyPr/>
                    <a:lstStyle/>
                    <a:p>
                      <a:pPr indent="0" marL="0">
                        <a:buNone/>
                      </a:pPr>
                      <a:r>
                        <a:rPr lang="en-US" sz="900" b="1" dirty="0">
                          <a:solidFill>
                            <a:srgbClr val="1F3F6B"/>
                          </a:solidFill>
                          <a:latin typeface="Calibri" pitchFamily="34" charset="0"/>
                          <a:ea typeface="Calibri" pitchFamily="34" charset="-122"/>
                          <a:cs typeface="Calibri" pitchFamily="34" charset="-120"/>
                        </a:rPr>
                        <a:t>Completeness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AF2FB"/>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empty cells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e.g. O10xx —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46888">
                <a:tc>
                  <a:txBody>
                    <a:bodyPr/>
                    <a:lstStyle/>
                    <a:p>
                      <a:pPr indent="0" marL="0">
                        <a:buNone/>
                      </a:pPr>
                      <a:r>
                        <a:rPr lang="en-US" sz="900" b="1" dirty="0">
                          <a:solidFill>
                            <a:srgbClr val="1F3F6B"/>
                          </a:solidFill>
                          <a:latin typeface="Calibri" pitchFamily="34" charset="0"/>
                          <a:ea typeface="Calibri" pitchFamily="34" charset="-122"/>
                          <a:cs typeface="Calibri" pitchFamily="34" charset="-120"/>
                        </a:rPr>
                        <a:t>Consistency</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AF2FB"/>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two spellings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e.g. O10xx —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46888">
                <a:tc>
                  <a:txBody>
                    <a:bodyPr/>
                    <a:lstStyle/>
                    <a:p>
                      <a:pPr indent="0" marL="0">
                        <a:buNone/>
                      </a:pPr>
                      <a:r>
                        <a:rPr lang="en-US" sz="900" b="1" dirty="0">
                          <a:solidFill>
                            <a:srgbClr val="1F3F6B"/>
                          </a:solidFill>
                          <a:latin typeface="Calibri" pitchFamily="34" charset="0"/>
                          <a:ea typeface="Calibri" pitchFamily="34" charset="-122"/>
                          <a:cs typeface="Calibri" pitchFamily="34" charset="-120"/>
                        </a:rPr>
                        <a:t>Timeliness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AF2FB"/>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late updates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e.g. O10xx —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46888">
                <a:tc>
                  <a:txBody>
                    <a:bodyPr/>
                    <a:lstStyle/>
                    <a:p>
                      <a:pPr indent="0" marL="0">
                        <a:buNone/>
                      </a:pPr>
                      <a:r>
                        <a:rPr lang="en-US" sz="900" b="1" dirty="0">
                          <a:solidFill>
                            <a:srgbClr val="1F3F6B"/>
                          </a:solidFill>
                          <a:latin typeface="Calibri" pitchFamily="34" charset="0"/>
                          <a:ea typeface="Calibri" pitchFamily="34" charset="-122"/>
                          <a:cs typeface="Calibri" pitchFamily="34" charset="-120"/>
                        </a:rPr>
                        <a:t>Uniqueness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AF2FB"/>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same order twice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e.g. O10xx —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46888">
                <a:tc>
                  <a:txBody>
                    <a:bodyPr/>
                    <a:lstStyle/>
                    <a:p>
                      <a:pPr indent="0" marL="0">
                        <a:buNone/>
                      </a:pPr>
                      <a:r>
                        <a:rPr lang="en-US" sz="900" b="1" dirty="0">
                          <a:solidFill>
                            <a:srgbClr val="1F3F6B"/>
                          </a:solidFill>
                          <a:latin typeface="Calibri" pitchFamily="34" charset="0"/>
                          <a:ea typeface="Calibri" pitchFamily="34" charset="-122"/>
                          <a:cs typeface="Calibri" pitchFamily="34" charset="-120"/>
                        </a:rPr>
                        <a:t>Validity</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AF2FB"/>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breaks a rule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e.g. O10xx —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bl>
          </a:graphicData>
        </a:graphic>
      </p:graphicFrame>
      <p:sp>
        <p:nvSpPr>
          <p:cNvPr id="10" name="Text 7"/>
          <p:cNvSpPr txBox="1"/>
          <p:nvPr/>
        </p:nvSpPr>
        <p:spPr>
          <a:xfrm>
            <a:off x="5166360" y="1161288"/>
            <a:ext cx="2743200" cy="182880"/>
          </a:xfrm>
          <a:prstGeom prst="rect">
            <a:avLst/>
          </a:prstGeom>
          <a:noFill/>
          <a:ln/>
        </p:spPr>
        <p:txBody>
          <a:bodyPr wrap="square" lIns="0" tIns="0" rIns="0" bIns="0" rtlCol="0" anchor="ctr"/>
          <a:lstStyle/>
          <a:p>
            <a:pPr indent="0" marL="0">
              <a:buNone/>
            </a:pPr>
            <a:r>
              <a:rPr lang="en-US" sz="900" b="1" spc="100" kern="0" dirty="0">
                <a:solidFill>
                  <a:srgbClr val="1F5FA8"/>
                </a:solidFill>
                <a:latin typeface="Calibri" pitchFamily="34" charset="0"/>
                <a:ea typeface="Calibri" pitchFamily="34" charset="-122"/>
                <a:cs typeface="Calibri" pitchFamily="34" charset="-120"/>
              </a:rPr>
              <a:t>B · KPIs</a:t>
            </a:r>
            <a:endParaRPr lang="en-US" sz="9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166360" y="1371600"/>
          <a:ext cx="3566160" cy="914400"/>
        </p:xfrm>
        <a:graphic>
          <a:graphicData uri="http://schemas.openxmlformats.org/drawingml/2006/table">
            <a:tbl>
              <a:tblPr/>
              <a:tblGrid>
                <a:gridCol w="1051560"/>
                <a:gridCol w="1691640"/>
                <a:gridCol w="822960"/>
              </a:tblGrid>
              <a:tr h="24688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KPI</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Your count</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1F5FA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1F5FA8"/>
                    </a:solidFill>
                  </a:tcPr>
                </a:tc>
              </a:tr>
              <a:tr h="246888">
                <a:tc>
                  <a:txBody>
                    <a:bodyPr/>
                    <a:lstStyle/>
                    <a:p>
                      <a:pPr indent="0" marL="0">
                        <a:buNone/>
                      </a:pPr>
                      <a:r>
                        <a:rPr lang="en-US" sz="900" b="1" dirty="0">
                          <a:solidFill>
                            <a:srgbClr val="1F3F6B"/>
                          </a:solidFill>
                          <a:latin typeface="Calibri" pitchFamily="34" charset="0"/>
                          <a:ea typeface="Calibri" pitchFamily="34" charset="-122"/>
                          <a:cs typeface="Calibri" pitchFamily="34" charset="-120"/>
                        </a:rPr>
                        <a:t>Completeness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AF2FB"/>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filled ÷ all fields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46888">
                <a:tc>
                  <a:txBody>
                    <a:bodyPr/>
                    <a:lstStyle/>
                    <a:p>
                      <a:pPr indent="0" marL="0">
                        <a:buNone/>
                      </a:pPr>
                      <a:r>
                        <a:rPr lang="en-US" sz="900" b="1" dirty="0">
                          <a:solidFill>
                            <a:srgbClr val="1F3F6B"/>
                          </a:solidFill>
                          <a:latin typeface="Calibri" pitchFamily="34" charset="0"/>
                          <a:ea typeface="Calibri" pitchFamily="34" charset="-122"/>
                          <a:cs typeface="Calibri" pitchFamily="34" charset="-120"/>
                        </a:rPr>
                        <a:t>Duplication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AF2FB"/>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duplicates ÷ rows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46888">
                <a:tc>
                  <a:txBody>
                    <a:bodyPr/>
                    <a:lstStyle/>
                    <a:p>
                      <a:pPr indent="0" marL="0">
                        <a:buNone/>
                      </a:pPr>
                      <a:r>
                        <a:rPr lang="en-US" sz="900" b="1" dirty="0">
                          <a:solidFill>
                            <a:srgbClr val="1F3F6B"/>
                          </a:solidFill>
                          <a:latin typeface="Calibri" pitchFamily="34" charset="0"/>
                          <a:ea typeface="Calibri" pitchFamily="34" charset="-122"/>
                          <a:cs typeface="Calibri" pitchFamily="34" charset="-120"/>
                        </a:rPr>
                        <a:t>Validity</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AF2FB"/>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passing ÷ checked</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46888">
                <a:tc>
                  <a:txBody>
                    <a:bodyPr/>
                    <a:lstStyle/>
                    <a:p>
                      <a:pPr indent="0" marL="0">
                        <a:buNone/>
                      </a:pPr>
                      <a:r>
                        <a:rPr lang="en-US" sz="900" b="1" dirty="0">
                          <a:solidFill>
                            <a:srgbClr val="1F3F6B"/>
                          </a:solidFill>
                          <a:latin typeface="Calibri" pitchFamily="34" charset="0"/>
                          <a:ea typeface="Calibri" pitchFamily="34" charset="-122"/>
                          <a:cs typeface="Calibri" pitchFamily="34" charset="-120"/>
                        </a:rPr>
                        <a:t>Timeliness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AF2FB"/>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on-time ÷ rows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bl>
          </a:graphicData>
        </a:graphic>
      </p:graphicFrame>
      <p:sp>
        <p:nvSpPr>
          <p:cNvPr id="12" name="Rules"/>
          <p:cNvSpPr/>
          <p:nvPr/>
        </p:nvSpPr>
        <p:spPr>
          <a:xfrm>
            <a:off x="5166360" y="2697480"/>
            <a:ext cx="3566160" cy="868680"/>
          </a:xfrm>
          <a:prstGeom prst="roundRect">
            <a:avLst>
              <a:gd name="adj" fmla="val 8421"/>
            </a:avLst>
          </a:prstGeom>
          <a:solidFill>
            <a:srgbClr val="F3F1EE"/>
          </a:solidFill>
          <a:ln w="12700">
            <a:solidFill>
              <a:srgbClr val="C9C4BD"/>
            </a:solidFill>
            <a:prstDash val="solid"/>
          </a:ln>
        </p:spPr>
      </p:sp>
      <p:sp>
        <p:nvSpPr>
          <p:cNvPr id="13" name="Text 9"/>
          <p:cNvSpPr txBox="1"/>
          <p:nvPr/>
        </p:nvSpPr>
        <p:spPr>
          <a:xfrm>
            <a:off x="5257800" y="2743200"/>
            <a:ext cx="3383280" cy="786384"/>
          </a:xfrm>
          <a:prstGeom prst="rect">
            <a:avLst/>
          </a:prstGeom>
          <a:noFill/>
          <a:ln/>
        </p:spPr>
        <p:txBody>
          <a:bodyPr wrap="square" lIns="0" tIns="0" rIns="0" bIns="0" rtlCol="0" anchor="t"/>
          <a:lstStyle/>
          <a:p>
            <a:pPr indent="0" marL="0">
              <a:buNone/>
            </a:pPr>
            <a:r>
              <a:rPr lang="en-US" sz="850" b="1" dirty="0">
                <a:solidFill>
                  <a:srgbClr val="0B5A43"/>
                </a:solidFill>
                <a:latin typeface="Calibri" pitchFamily="34" charset="0"/>
                <a:ea typeface="Calibri" pitchFamily="34" charset="-122"/>
                <a:cs typeface="Calibri" pitchFamily="34" charset="-120"/>
              </a:rPr>
              <a:t>Validity rules</a:t>
            </a:r>
            <a:endParaRPr lang="en-US" sz="850" dirty="0"/>
          </a:p>
          <a:p>
            <a:pPr indent="0" marL="0">
              <a:buNone/>
            </a:pPr>
            <a:r>
              <a:rPr lang="en-US" sz="850" dirty="0">
                <a:solidFill>
                  <a:srgbClr val="3D3D3D"/>
                </a:solidFill>
                <a:latin typeface="Calibri" pitchFamily="34" charset="0"/>
                <a:ea typeface="Calibri" pitchFamily="34" charset="-122"/>
                <a:cs typeface="Calibri" pitchFamily="34" charset="-120"/>
              </a:rPr>
              <a:t>date = YYYY-MM-DD · quantity &gt; 0 · email = name@domain · country ∈ {Germany, Austria, Switzerland} · category ∈ {Electronics, Accessories, Office} · currency ∈ {EUR, CHF, USD}</a:t>
            </a:r>
            <a:endParaRPr lang="en-US" sz="850" dirty="0"/>
          </a:p>
          <a:p>
            <a:pPr indent="0" marL="0">
              <a:buNone/>
            </a:pPr>
            <a:r>
              <a:rPr lang="en-US" sz="850" b="1" dirty="0">
                <a:solidFill>
                  <a:srgbClr val="3D3D3D"/>
                </a:solidFill>
                <a:latin typeface="Calibri" pitchFamily="34" charset="0"/>
                <a:ea typeface="Calibri" pitchFamily="34" charset="-122"/>
                <a:cs typeface="Calibri" pitchFamily="34" charset="-120"/>
              </a:rPr>
              <a:t>On time = last_updated ≤ 2 days after order_date</a:t>
            </a:r>
            <a:endParaRPr lang="en-US" sz="850" dirty="0"/>
          </a:p>
        </p:txBody>
      </p:sp>
      <p:sp>
        <p:nvSpPr>
          <p:cNvPr id="14" name="Text 10"/>
          <p:cNvSpPr txBox="1"/>
          <p:nvPr/>
        </p:nvSpPr>
        <p:spPr>
          <a:xfrm>
            <a:off x="411480" y="3246120"/>
            <a:ext cx="2743200" cy="182880"/>
          </a:xfrm>
          <a:prstGeom prst="rect">
            <a:avLst/>
          </a:prstGeom>
          <a:noFill/>
          <a:ln/>
        </p:spPr>
        <p:txBody>
          <a:bodyPr wrap="square" lIns="0" tIns="0" rIns="0" bIns="0" rtlCol="0" anchor="ctr"/>
          <a:lstStyle/>
          <a:p>
            <a:pPr indent="0" marL="0">
              <a:buNone/>
            </a:pPr>
            <a:r>
              <a:rPr lang="en-US" sz="900" b="1" spc="100" kern="0" dirty="0">
                <a:solidFill>
                  <a:srgbClr val="1F5FA8"/>
                </a:solidFill>
                <a:latin typeface="Calibri" pitchFamily="34" charset="0"/>
                <a:ea typeface="Calibri" pitchFamily="34" charset="-122"/>
                <a:cs typeface="Calibri" pitchFamily="34" charset="-120"/>
              </a:rPr>
              <a:t>C · VERDICT</a:t>
            </a:r>
            <a:endParaRPr lang="en-US" sz="900" dirty="0"/>
          </a:p>
        </p:txBody>
      </p:sp>
      <p:sp>
        <p:nvSpPr>
          <p:cNvPr id="15" name="Verdict"/>
          <p:cNvSpPr/>
          <p:nvPr/>
        </p:nvSpPr>
        <p:spPr>
          <a:xfrm>
            <a:off x="411480" y="3456432"/>
            <a:ext cx="4572000" cy="566928"/>
          </a:xfrm>
          <a:prstGeom prst="rect">
            <a:avLst/>
          </a:prstGeom>
          <a:solidFill>
            <a:srgbClr val="FFFFFF"/>
          </a:solidFill>
          <a:ln w="9525">
            <a:solidFill>
              <a:srgbClr val="B9B4AD"/>
            </a:solidFill>
            <a:prstDash val="dash"/>
          </a:ln>
        </p:spPr>
        <p:txBody>
          <a:bodyPr wrap="square" lIns="50800" tIns="50800" rIns="50800" bIns="50800" rtlCol="0" anchor="t"/>
          <a:lstStyle/>
          <a:p>
            <a:pPr indent="0" marL="0">
              <a:buNone/>
            </a:pPr>
            <a:r>
              <a:rPr lang="en-US" sz="950" i="1" dirty="0">
                <a:solidFill>
                  <a:srgbClr val="8A8680"/>
                </a:solidFill>
                <a:latin typeface="Calibri" pitchFamily="34" charset="0"/>
                <a:ea typeface="Calibri" pitchFamily="34" charset="-122"/>
                <a:cs typeface="Calibri" pitchFamily="34" charset="-120"/>
              </a:rPr>
              <a:t>Is this file fit for a "revenue by city" report? Yes / No — and the ONE issue you would fix first, with a reason.</a:t>
            </a:r>
            <a:endParaRPr lang="en-US" sz="950" dirty="0"/>
          </a:p>
        </p:txBody>
      </p:sp>
      <p:sp>
        <p:nvSpPr>
          <p:cNvPr id="16" name="Text 12"/>
          <p:cNvSpPr txBox="1"/>
          <p:nvPr/>
        </p:nvSpPr>
        <p:spPr>
          <a:xfrm>
            <a:off x="411480" y="4160520"/>
            <a:ext cx="8321040" cy="201168"/>
          </a:xfrm>
          <a:prstGeom prst="rect">
            <a:avLst/>
          </a:prstGeom>
          <a:noFill/>
          <a:ln/>
        </p:spPr>
        <p:txBody>
          <a:bodyPr wrap="square" lIns="0" tIns="0" rIns="0" bIns="0" rtlCol="0" anchor="ctr"/>
          <a:lstStyle/>
          <a:p>
            <a:pPr indent="0" marL="0">
              <a:buNone/>
            </a:pPr>
            <a:r>
              <a:rPr lang="en-US" sz="900" b="1" dirty="0">
                <a:solidFill>
                  <a:srgbClr val="D9480F"/>
                </a:solidFill>
                <a:latin typeface="Calibri" pitchFamily="34" charset="0"/>
                <a:ea typeface="Calibri" pitchFamily="34" charset="-122"/>
                <a:cs typeface="Calibri" pitchFamily="34" charset="-120"/>
              </a:rPr>
              <a:t>Before you submit:  </a:t>
            </a:r>
            <a:pPr indent="0" marL="0">
              <a:buNone/>
            </a:pPr>
            <a:r>
              <a:rPr lang="en-US" sz="900" dirty="0">
                <a:solidFill>
                  <a:srgbClr val="3D3D3D"/>
                </a:solidFill>
                <a:latin typeface="Calibri" pitchFamily="34" charset="0"/>
                <a:ea typeface="Calibri" pitchFamily="34" charset="-122"/>
                <a:cs typeface="Calibri" pitchFamily="34" charset="-120"/>
              </a:rPr>
              <a:t>☐ 6 dimensions with an example    ☐ 4 KPIs with counts    ☐ verdict + first fix    ☐ all names</a:t>
            </a:r>
            <a:endParaRPr lang="en-US" sz="900" dirty="0"/>
          </a:p>
        </p:txBody>
      </p:sp>
      <p:sp>
        <p:nvSpPr>
          <p:cNvPr id="17" name="Text 13"/>
          <p:cNvSpPr txBox="1"/>
          <p:nvPr/>
        </p:nvSpPr>
        <p:spPr>
          <a:xfrm>
            <a:off x="411480" y="4379976"/>
            <a:ext cx="8321040" cy="182880"/>
          </a:xfrm>
          <a:prstGeom prst="rect">
            <a:avLst/>
          </a:prstGeom>
          <a:noFill/>
          <a:ln/>
        </p:spPr>
        <p:txBody>
          <a:bodyPr wrap="square" lIns="0" tIns="0" rIns="0" bIns="0" rtlCol="0" anchor="ctr"/>
          <a:lstStyle/>
          <a:p>
            <a:pPr indent="0" marL="0">
              <a:buNone/>
            </a:pPr>
            <a:r>
              <a:rPr lang="en-US" sz="850" i="1" dirty="0">
                <a:solidFill>
                  <a:srgbClr val="6B6762"/>
                </a:solidFill>
                <a:latin typeface="Calibri" pitchFamily="34" charset="0"/>
                <a:ea typeface="Calibri" pitchFamily="34" charset="-122"/>
                <a:cs typeface="Calibri" pitchFamily="34" charset="-120"/>
              </a:rPr>
              <a:t>Group representative uploads Lab2.1_Group&lt;Nr&gt;.zip on Moodle · Deadline: before the next session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11480" y="256032"/>
            <a:ext cx="7863840" cy="457200"/>
          </a:xfrm>
          <a:prstGeom prst="rect">
            <a:avLst/>
          </a:prstGeom>
          <a:noFill/>
          <a:ln/>
        </p:spPr>
        <p:txBody>
          <a:bodyPr wrap="square" lIns="0" tIns="0" rIns="0" bIns="0" rtlCol="0" anchor="ctr"/>
          <a:lstStyle/>
          <a:p>
            <a:pPr indent="0" marL="0">
              <a:buNone/>
            </a:pPr>
            <a:r>
              <a:rPr lang="en-US" sz="2200" b="1" dirty="0">
                <a:solidFill>
                  <a:srgbClr val="D9480F"/>
                </a:solidFill>
                <a:latin typeface="Calibri" pitchFamily="34" charset="0"/>
                <a:ea typeface="Calibri" pitchFamily="34" charset="-122"/>
                <a:cs typeface="Calibri" pitchFamily="34" charset="-120"/>
              </a:rPr>
              <a:t>Lab 2.2: Data Profiling</a:t>
            </a:r>
            <a:endParaRPr lang="en-US" sz="2200" dirty="0"/>
          </a:p>
        </p:txBody>
      </p:sp>
      <p:sp>
        <p:nvSpPr>
          <p:cNvPr id="3" name="Text 1"/>
          <p:cNvSpPr txBox="1"/>
          <p:nvPr/>
        </p:nvSpPr>
        <p:spPr>
          <a:xfrm>
            <a:off x="411480" y="749808"/>
            <a:ext cx="8321040" cy="274320"/>
          </a:xfrm>
          <a:prstGeom prst="rect">
            <a:avLst/>
          </a:prstGeom>
          <a:noFill/>
          <a:ln/>
        </p:spPr>
        <p:txBody>
          <a:bodyPr wrap="square" lIns="0" tIns="0" rIns="0" bIns="0" rtlCol="0" anchor="ctr"/>
          <a:lstStyle/>
          <a:p>
            <a:pPr indent="0" marL="0">
              <a:buNone/>
            </a:pPr>
            <a:r>
              <a:rPr lang="en-US" sz="1200" b="1" dirty="0">
                <a:solidFill>
                  <a:srgbClr val="0B5A43"/>
                </a:solidFill>
                <a:latin typeface="Calibri" pitchFamily="34" charset="0"/>
                <a:ea typeface="Calibri" pitchFamily="34" charset="-122"/>
                <a:cs typeface="Calibri" pitchFamily="34" charset="-120"/>
              </a:rPr>
              <a:t>Goal: </a:t>
            </a:r>
            <a:pPr indent="0" marL="0">
              <a:buNone/>
            </a:pPr>
            <a:r>
              <a:rPr lang="en-US" sz="1200" dirty="0">
                <a:solidFill>
                  <a:srgbClr val="3D3D3D"/>
                </a:solidFill>
                <a:latin typeface="Calibri" pitchFamily="34" charset="0"/>
                <a:ea typeface="Calibri" pitchFamily="34" charset="-122"/>
                <a:cs typeface="Calibri" pitchFamily="34" charset="-120"/>
              </a:rPr>
              <a:t>Profile before you fix — describe every column and every relationship, then write a cleaning plan.</a:t>
            </a:r>
            <a:endParaRPr lang="en-US" sz="1200" dirty="0"/>
          </a:p>
        </p:txBody>
      </p:sp>
      <p:sp>
        <p:nvSpPr>
          <p:cNvPr id="4" name="Text 2"/>
          <p:cNvSpPr txBox="1"/>
          <p:nvPr/>
        </p:nvSpPr>
        <p:spPr>
          <a:xfrm>
            <a:off x="411480" y="1005840"/>
            <a:ext cx="8321040" cy="274320"/>
          </a:xfrm>
          <a:prstGeom prst="rect">
            <a:avLst/>
          </a:prstGeom>
          <a:noFill/>
          <a:ln/>
        </p:spPr>
        <p:txBody>
          <a:bodyPr wrap="square" lIns="0" tIns="0" rIns="0" bIns="0" rtlCol="0" anchor="ctr"/>
          <a:lstStyle/>
          <a:p>
            <a:pPr indent="0" marL="0">
              <a:buNone/>
            </a:pPr>
            <a:r>
              <a:rPr lang="en-US" sz="1200" b="1" dirty="0">
                <a:solidFill>
                  <a:srgbClr val="0B5A43"/>
                </a:solidFill>
                <a:latin typeface="Calibri" pitchFamily="34" charset="0"/>
                <a:ea typeface="Calibri" pitchFamily="34" charset="-122"/>
                <a:cs typeface="Calibri" pitchFamily="34" charset="-120"/>
              </a:rPr>
              <a:t>Scenario: </a:t>
            </a:r>
            <a:pPr indent="0" marL="0">
              <a:buNone/>
            </a:pPr>
            <a:r>
              <a:rPr lang="en-US" sz="1200" dirty="0">
                <a:solidFill>
                  <a:srgbClr val="3D3D3D"/>
                </a:solidFill>
                <a:latin typeface="Calibri" pitchFamily="34" charset="0"/>
                <a:ea typeface="Calibri" pitchFamily="34" charset="-122"/>
                <a:cs typeface="Calibri" pitchFamily="34" charset="-120"/>
              </a:rPr>
              <a:t>Same orders file, now together with customers.csv, the customer master list.</a:t>
            </a:r>
            <a:endParaRPr lang="en-US" sz="1200" dirty="0"/>
          </a:p>
        </p:txBody>
      </p:sp>
      <p:sp>
        <p:nvSpPr>
          <p:cNvPr id="5" name="Text 3"/>
          <p:cNvSpPr txBox="1"/>
          <p:nvPr/>
        </p:nvSpPr>
        <p:spPr>
          <a:xfrm>
            <a:off x="411480" y="1371600"/>
            <a:ext cx="2743200" cy="201168"/>
          </a:xfrm>
          <a:prstGeom prst="rect">
            <a:avLst/>
          </a:prstGeom>
          <a:noFill/>
          <a:ln/>
        </p:spPr>
        <p:txBody>
          <a:bodyPr wrap="square" lIns="0" tIns="0" rIns="0" bIns="0" rtlCol="0" anchor="ctr"/>
          <a:lstStyle/>
          <a:p>
            <a:pPr indent="0" marL="0">
              <a:buNone/>
            </a:pPr>
            <a:r>
              <a:rPr lang="en-US" sz="1000" b="1" spc="150" kern="0" dirty="0">
                <a:solidFill>
                  <a:srgbClr val="2E8B6A"/>
                </a:solidFill>
                <a:latin typeface="Calibri" pitchFamily="34" charset="0"/>
                <a:ea typeface="Calibri" pitchFamily="34" charset="-122"/>
                <a:cs typeface="Calibri" pitchFamily="34" charset="-120"/>
              </a:rPr>
              <a:t>YOUR TASKS</a:t>
            </a:r>
            <a:endParaRPr lang="en-US" sz="1000" dirty="0"/>
          </a:p>
        </p:txBody>
      </p:sp>
      <p:sp>
        <p:nvSpPr>
          <p:cNvPr id="6" name="Step 1"/>
          <p:cNvSpPr/>
          <p:nvPr/>
        </p:nvSpPr>
        <p:spPr>
          <a:xfrm>
            <a:off x="411480" y="1609344"/>
            <a:ext cx="5120640" cy="457200"/>
          </a:xfrm>
          <a:prstGeom prst="roundRect">
            <a:avLst>
              <a:gd name="adj" fmla="val 16000"/>
            </a:avLst>
          </a:prstGeom>
          <a:solidFill>
            <a:srgbClr val="E3F4EC"/>
          </a:solidFill>
          <a:ln w="12700">
            <a:solidFill>
              <a:srgbClr val="E3F4EC"/>
            </a:solidFill>
            <a:prstDash val="solid"/>
          </a:ln>
        </p:spPr>
      </p:sp>
      <p:sp>
        <p:nvSpPr>
          <p:cNvPr id="7" name="Shape 5"/>
          <p:cNvSpPr/>
          <p:nvPr/>
        </p:nvSpPr>
        <p:spPr>
          <a:xfrm>
            <a:off x="512064" y="1682496"/>
            <a:ext cx="310896" cy="310896"/>
          </a:xfrm>
          <a:prstGeom prst="ellipse">
            <a:avLst/>
          </a:prstGeom>
          <a:solidFill>
            <a:srgbClr val="2E8B6A"/>
          </a:solidFill>
          <a:ln w="12700">
            <a:solidFill>
              <a:srgbClr val="2E8B6A"/>
            </a:solidFill>
            <a:prstDash val="solid"/>
          </a:ln>
        </p:spPr>
      </p:sp>
      <p:sp>
        <p:nvSpPr>
          <p:cNvPr id="8" name="Text 6"/>
          <p:cNvSpPr txBox="1"/>
          <p:nvPr/>
        </p:nvSpPr>
        <p:spPr>
          <a:xfrm>
            <a:off x="512064" y="168249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txBox="1"/>
          <p:nvPr/>
        </p:nvSpPr>
        <p:spPr>
          <a:xfrm>
            <a:off x="941832" y="1627632"/>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Column profile</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write profile(): type, missing, nunique(), min/max or top → table A</a:t>
            </a:r>
            <a:endParaRPr lang="en-US" sz="1100" dirty="0"/>
          </a:p>
        </p:txBody>
      </p:sp>
      <p:sp>
        <p:nvSpPr>
          <p:cNvPr id="10" name="Shape 8"/>
          <p:cNvSpPr/>
          <p:nvPr/>
        </p:nvSpPr>
        <p:spPr>
          <a:xfrm>
            <a:off x="4828032" y="1700784"/>
            <a:ext cx="621792" cy="274320"/>
          </a:xfrm>
          <a:prstGeom prst="roundRect">
            <a:avLst>
              <a:gd name="adj" fmla="val 26667"/>
            </a:avLst>
          </a:prstGeom>
          <a:solidFill>
            <a:srgbClr val="FFFFFF"/>
          </a:solidFill>
          <a:ln w="12700">
            <a:solidFill>
              <a:srgbClr val="2E8B6A"/>
            </a:solidFill>
            <a:prstDash val="solid"/>
          </a:ln>
        </p:spPr>
      </p:sp>
      <p:sp>
        <p:nvSpPr>
          <p:cNvPr id="11" name="Text 9"/>
          <p:cNvSpPr txBox="1"/>
          <p:nvPr/>
        </p:nvSpPr>
        <p:spPr>
          <a:xfrm>
            <a:off x="4828032" y="1700784"/>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12 min</a:t>
            </a:r>
            <a:endParaRPr lang="en-US" sz="950" dirty="0"/>
          </a:p>
        </p:txBody>
      </p:sp>
      <p:sp>
        <p:nvSpPr>
          <p:cNvPr id="12" name="Step 2"/>
          <p:cNvSpPr/>
          <p:nvPr/>
        </p:nvSpPr>
        <p:spPr>
          <a:xfrm>
            <a:off x="411480" y="2125980"/>
            <a:ext cx="5120640" cy="457200"/>
          </a:xfrm>
          <a:prstGeom prst="roundRect">
            <a:avLst>
              <a:gd name="adj" fmla="val 16000"/>
            </a:avLst>
          </a:prstGeom>
          <a:solidFill>
            <a:srgbClr val="E3F4EC"/>
          </a:solidFill>
          <a:ln w="12700">
            <a:solidFill>
              <a:srgbClr val="E3F4EC"/>
            </a:solidFill>
            <a:prstDash val="solid"/>
          </a:ln>
        </p:spPr>
      </p:sp>
      <p:sp>
        <p:nvSpPr>
          <p:cNvPr id="13" name="Shape 11"/>
          <p:cNvSpPr/>
          <p:nvPr/>
        </p:nvSpPr>
        <p:spPr>
          <a:xfrm>
            <a:off x="512064" y="2199132"/>
            <a:ext cx="310896" cy="310896"/>
          </a:xfrm>
          <a:prstGeom prst="ellipse">
            <a:avLst/>
          </a:prstGeom>
          <a:solidFill>
            <a:srgbClr val="2E8B6A"/>
          </a:solidFill>
          <a:ln w="12700">
            <a:solidFill>
              <a:srgbClr val="2E8B6A"/>
            </a:solidFill>
            <a:prstDash val="solid"/>
          </a:ln>
        </p:spPr>
      </p:sp>
      <p:sp>
        <p:nvSpPr>
          <p:cNvPr id="14" name="Text 12"/>
          <p:cNvSpPr txBox="1"/>
          <p:nvPr/>
        </p:nvSpPr>
        <p:spPr>
          <a:xfrm>
            <a:off x="512064" y="2199132"/>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3"/>
          <p:cNvSpPr txBox="1"/>
          <p:nvPr/>
        </p:nvSpPr>
        <p:spPr>
          <a:xfrm>
            <a:off x="941832" y="2144268"/>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Patterns and domains</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reuse the Lab 2.1 masks: which order_ids break a rule?</a:t>
            </a:r>
            <a:endParaRPr lang="en-US" sz="1100" dirty="0"/>
          </a:p>
        </p:txBody>
      </p:sp>
      <p:sp>
        <p:nvSpPr>
          <p:cNvPr id="16" name="Shape 14"/>
          <p:cNvSpPr/>
          <p:nvPr/>
        </p:nvSpPr>
        <p:spPr>
          <a:xfrm>
            <a:off x="4828032" y="2217420"/>
            <a:ext cx="621792" cy="274320"/>
          </a:xfrm>
          <a:prstGeom prst="roundRect">
            <a:avLst>
              <a:gd name="adj" fmla="val 26667"/>
            </a:avLst>
          </a:prstGeom>
          <a:solidFill>
            <a:srgbClr val="FFFFFF"/>
          </a:solidFill>
          <a:ln w="12700">
            <a:solidFill>
              <a:srgbClr val="2E8B6A"/>
            </a:solidFill>
            <a:prstDash val="solid"/>
          </a:ln>
        </p:spPr>
      </p:sp>
      <p:sp>
        <p:nvSpPr>
          <p:cNvPr id="17" name="Text 15"/>
          <p:cNvSpPr txBox="1"/>
          <p:nvPr/>
        </p:nvSpPr>
        <p:spPr>
          <a:xfrm>
            <a:off x="4828032" y="2217420"/>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6 min</a:t>
            </a:r>
            <a:endParaRPr lang="en-US" sz="950" dirty="0"/>
          </a:p>
        </p:txBody>
      </p:sp>
      <p:sp>
        <p:nvSpPr>
          <p:cNvPr id="18" name="Step 3"/>
          <p:cNvSpPr/>
          <p:nvPr/>
        </p:nvSpPr>
        <p:spPr>
          <a:xfrm>
            <a:off x="411480" y="2642616"/>
            <a:ext cx="5120640" cy="457200"/>
          </a:xfrm>
          <a:prstGeom prst="roundRect">
            <a:avLst>
              <a:gd name="adj" fmla="val 16000"/>
            </a:avLst>
          </a:prstGeom>
          <a:solidFill>
            <a:srgbClr val="E3F4EC"/>
          </a:solidFill>
          <a:ln w="12700">
            <a:solidFill>
              <a:srgbClr val="E3F4EC"/>
            </a:solidFill>
            <a:prstDash val="solid"/>
          </a:ln>
        </p:spPr>
      </p:sp>
      <p:sp>
        <p:nvSpPr>
          <p:cNvPr id="19" name="Shape 17"/>
          <p:cNvSpPr/>
          <p:nvPr/>
        </p:nvSpPr>
        <p:spPr>
          <a:xfrm>
            <a:off x="512064" y="2715768"/>
            <a:ext cx="310896" cy="310896"/>
          </a:xfrm>
          <a:prstGeom prst="ellipse">
            <a:avLst/>
          </a:prstGeom>
          <a:solidFill>
            <a:srgbClr val="2E8B6A"/>
          </a:solidFill>
          <a:ln w="12700">
            <a:solidFill>
              <a:srgbClr val="2E8B6A"/>
            </a:solidFill>
            <a:prstDash val="solid"/>
          </a:ln>
        </p:spPr>
      </p:sp>
      <p:sp>
        <p:nvSpPr>
          <p:cNvPr id="20" name="Text 18"/>
          <p:cNvSpPr txBox="1"/>
          <p:nvPr/>
        </p:nvSpPr>
        <p:spPr>
          <a:xfrm>
            <a:off x="512064" y="271576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1" name="Text 19"/>
          <p:cNvSpPr txBox="1"/>
          <p:nvPr/>
        </p:nvSpPr>
        <p:spPr>
          <a:xfrm>
            <a:off x="941832" y="2660904"/>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Distribution and outliers</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quantile(.25 / .75) → IQR rule on quantity</a:t>
            </a:r>
            <a:endParaRPr lang="en-US" sz="1100" dirty="0"/>
          </a:p>
        </p:txBody>
      </p:sp>
      <p:sp>
        <p:nvSpPr>
          <p:cNvPr id="22" name="Shape 20"/>
          <p:cNvSpPr/>
          <p:nvPr/>
        </p:nvSpPr>
        <p:spPr>
          <a:xfrm>
            <a:off x="4828032" y="2734056"/>
            <a:ext cx="621792" cy="274320"/>
          </a:xfrm>
          <a:prstGeom prst="roundRect">
            <a:avLst>
              <a:gd name="adj" fmla="val 26667"/>
            </a:avLst>
          </a:prstGeom>
          <a:solidFill>
            <a:srgbClr val="FFFFFF"/>
          </a:solidFill>
          <a:ln w="12700">
            <a:solidFill>
              <a:srgbClr val="2E8B6A"/>
            </a:solidFill>
            <a:prstDash val="solid"/>
          </a:ln>
        </p:spPr>
      </p:sp>
      <p:sp>
        <p:nvSpPr>
          <p:cNvPr id="23" name="Text 21"/>
          <p:cNvSpPr txBox="1"/>
          <p:nvPr/>
        </p:nvSpPr>
        <p:spPr>
          <a:xfrm>
            <a:off x="4828032" y="2734056"/>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7 min</a:t>
            </a:r>
            <a:endParaRPr lang="en-US" sz="950" dirty="0"/>
          </a:p>
        </p:txBody>
      </p:sp>
      <p:sp>
        <p:nvSpPr>
          <p:cNvPr id="24" name="Step 4"/>
          <p:cNvSpPr/>
          <p:nvPr/>
        </p:nvSpPr>
        <p:spPr>
          <a:xfrm>
            <a:off x="411480" y="3159252"/>
            <a:ext cx="5120640" cy="457200"/>
          </a:xfrm>
          <a:prstGeom prst="roundRect">
            <a:avLst>
              <a:gd name="adj" fmla="val 16000"/>
            </a:avLst>
          </a:prstGeom>
          <a:solidFill>
            <a:srgbClr val="E3F4EC"/>
          </a:solidFill>
          <a:ln w="12700">
            <a:solidFill>
              <a:srgbClr val="E3F4EC"/>
            </a:solidFill>
            <a:prstDash val="solid"/>
          </a:ln>
        </p:spPr>
      </p:sp>
      <p:sp>
        <p:nvSpPr>
          <p:cNvPr id="25" name="Shape 23"/>
          <p:cNvSpPr/>
          <p:nvPr/>
        </p:nvSpPr>
        <p:spPr>
          <a:xfrm>
            <a:off x="512064" y="3232404"/>
            <a:ext cx="310896" cy="310896"/>
          </a:xfrm>
          <a:prstGeom prst="ellipse">
            <a:avLst/>
          </a:prstGeom>
          <a:solidFill>
            <a:srgbClr val="2E8B6A"/>
          </a:solidFill>
          <a:ln w="12700">
            <a:solidFill>
              <a:srgbClr val="2E8B6A"/>
            </a:solidFill>
            <a:prstDash val="solid"/>
          </a:ln>
        </p:spPr>
      </p:sp>
      <p:sp>
        <p:nvSpPr>
          <p:cNvPr id="26" name="Text 24"/>
          <p:cNvSpPr txBox="1"/>
          <p:nvPr/>
        </p:nvSpPr>
        <p:spPr>
          <a:xfrm>
            <a:off x="512064" y="3232404"/>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7" name="Text 25"/>
          <p:cNvSpPr txBox="1"/>
          <p:nvPr/>
        </p:nvSpPr>
        <p:spPr>
          <a:xfrm>
            <a:off x="941832" y="3177540"/>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Functional dependency</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groupby("customer_id").customer_name.nunique() &gt; 1 ?</a:t>
            </a:r>
            <a:endParaRPr lang="en-US" sz="1100" dirty="0"/>
          </a:p>
        </p:txBody>
      </p:sp>
      <p:sp>
        <p:nvSpPr>
          <p:cNvPr id="28" name="Shape 26"/>
          <p:cNvSpPr/>
          <p:nvPr/>
        </p:nvSpPr>
        <p:spPr>
          <a:xfrm>
            <a:off x="4828032" y="3250692"/>
            <a:ext cx="621792" cy="274320"/>
          </a:xfrm>
          <a:prstGeom prst="roundRect">
            <a:avLst>
              <a:gd name="adj" fmla="val 26667"/>
            </a:avLst>
          </a:prstGeom>
          <a:solidFill>
            <a:srgbClr val="FFFFFF"/>
          </a:solidFill>
          <a:ln w="12700">
            <a:solidFill>
              <a:srgbClr val="2E8B6A"/>
            </a:solidFill>
            <a:prstDash val="solid"/>
          </a:ln>
        </p:spPr>
      </p:sp>
      <p:sp>
        <p:nvSpPr>
          <p:cNvPr id="29" name="Text 27"/>
          <p:cNvSpPr txBox="1"/>
          <p:nvPr/>
        </p:nvSpPr>
        <p:spPr>
          <a:xfrm>
            <a:off x="4828032" y="3250692"/>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5 min</a:t>
            </a:r>
            <a:endParaRPr lang="en-US" sz="950" dirty="0"/>
          </a:p>
        </p:txBody>
      </p:sp>
      <p:sp>
        <p:nvSpPr>
          <p:cNvPr id="30" name="Step 5"/>
          <p:cNvSpPr/>
          <p:nvPr/>
        </p:nvSpPr>
        <p:spPr>
          <a:xfrm>
            <a:off x="411480" y="3675888"/>
            <a:ext cx="5120640" cy="457200"/>
          </a:xfrm>
          <a:prstGeom prst="roundRect">
            <a:avLst>
              <a:gd name="adj" fmla="val 16000"/>
            </a:avLst>
          </a:prstGeom>
          <a:solidFill>
            <a:srgbClr val="E3F4EC"/>
          </a:solidFill>
          <a:ln w="12700">
            <a:solidFill>
              <a:srgbClr val="E3F4EC"/>
            </a:solidFill>
            <a:prstDash val="solid"/>
          </a:ln>
        </p:spPr>
      </p:sp>
      <p:sp>
        <p:nvSpPr>
          <p:cNvPr id="31" name="Shape 29"/>
          <p:cNvSpPr/>
          <p:nvPr/>
        </p:nvSpPr>
        <p:spPr>
          <a:xfrm>
            <a:off x="512064" y="3749040"/>
            <a:ext cx="310896" cy="310896"/>
          </a:xfrm>
          <a:prstGeom prst="ellipse">
            <a:avLst/>
          </a:prstGeom>
          <a:solidFill>
            <a:srgbClr val="2E8B6A"/>
          </a:solidFill>
          <a:ln w="12700">
            <a:solidFill>
              <a:srgbClr val="2E8B6A"/>
            </a:solidFill>
            <a:prstDash val="solid"/>
          </a:ln>
        </p:spPr>
      </p:sp>
      <p:sp>
        <p:nvSpPr>
          <p:cNvPr id="32" name="Text 30"/>
          <p:cNvSpPr txBox="1"/>
          <p:nvPr/>
        </p:nvSpPr>
        <p:spPr>
          <a:xfrm>
            <a:off x="512064" y="374904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33" name="Text 31"/>
          <p:cNvSpPr txBox="1"/>
          <p:nvPr/>
        </p:nvSpPr>
        <p:spPr>
          <a:xfrm>
            <a:off x="941832" y="3694176"/>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Keys and inclusion</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is_unique on both tables · ~isin() for orphan orders</a:t>
            </a:r>
            <a:endParaRPr lang="en-US" sz="1100" dirty="0"/>
          </a:p>
        </p:txBody>
      </p:sp>
      <p:sp>
        <p:nvSpPr>
          <p:cNvPr id="34" name="Shape 32"/>
          <p:cNvSpPr/>
          <p:nvPr/>
        </p:nvSpPr>
        <p:spPr>
          <a:xfrm>
            <a:off x="4828032" y="3767328"/>
            <a:ext cx="621792" cy="274320"/>
          </a:xfrm>
          <a:prstGeom prst="roundRect">
            <a:avLst>
              <a:gd name="adj" fmla="val 26667"/>
            </a:avLst>
          </a:prstGeom>
          <a:solidFill>
            <a:srgbClr val="FFFFFF"/>
          </a:solidFill>
          <a:ln w="12700">
            <a:solidFill>
              <a:srgbClr val="2E8B6A"/>
            </a:solidFill>
            <a:prstDash val="solid"/>
          </a:ln>
        </p:spPr>
      </p:sp>
      <p:sp>
        <p:nvSpPr>
          <p:cNvPr id="35" name="Text 33"/>
          <p:cNvSpPr txBox="1"/>
          <p:nvPr/>
        </p:nvSpPr>
        <p:spPr>
          <a:xfrm>
            <a:off x="4828032" y="3767328"/>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6 min</a:t>
            </a:r>
            <a:endParaRPr lang="en-US" sz="950" dirty="0"/>
          </a:p>
        </p:txBody>
      </p:sp>
      <p:sp>
        <p:nvSpPr>
          <p:cNvPr id="36" name="Step 6"/>
          <p:cNvSpPr/>
          <p:nvPr/>
        </p:nvSpPr>
        <p:spPr>
          <a:xfrm>
            <a:off x="411480" y="4192524"/>
            <a:ext cx="5120640" cy="457200"/>
          </a:xfrm>
          <a:prstGeom prst="roundRect">
            <a:avLst>
              <a:gd name="adj" fmla="val 16000"/>
            </a:avLst>
          </a:prstGeom>
          <a:solidFill>
            <a:srgbClr val="E3F4EC"/>
          </a:solidFill>
          <a:ln w="12700">
            <a:solidFill>
              <a:srgbClr val="E3F4EC"/>
            </a:solidFill>
            <a:prstDash val="solid"/>
          </a:ln>
        </p:spPr>
      </p:sp>
      <p:sp>
        <p:nvSpPr>
          <p:cNvPr id="37" name="Shape 35"/>
          <p:cNvSpPr/>
          <p:nvPr/>
        </p:nvSpPr>
        <p:spPr>
          <a:xfrm>
            <a:off x="512064" y="4265676"/>
            <a:ext cx="310896" cy="310896"/>
          </a:xfrm>
          <a:prstGeom prst="ellipse">
            <a:avLst/>
          </a:prstGeom>
          <a:solidFill>
            <a:srgbClr val="2E8B6A"/>
          </a:solidFill>
          <a:ln w="12700">
            <a:solidFill>
              <a:srgbClr val="2E8B6A"/>
            </a:solidFill>
            <a:prstDash val="solid"/>
          </a:ln>
        </p:spPr>
      </p:sp>
      <p:sp>
        <p:nvSpPr>
          <p:cNvPr id="38" name="Text 36"/>
          <p:cNvSpPr txBox="1"/>
          <p:nvPr/>
        </p:nvSpPr>
        <p:spPr>
          <a:xfrm>
            <a:off x="512064" y="426567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9" name="Text 37"/>
          <p:cNvSpPr txBox="1"/>
          <p:nvPr/>
        </p:nvSpPr>
        <p:spPr>
          <a:xfrm>
            <a:off x="941832" y="4210812"/>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Cleaning plan</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Top 5 issues, ranked by impact on revenue → table C</a:t>
            </a:r>
            <a:endParaRPr lang="en-US" sz="1100" dirty="0"/>
          </a:p>
        </p:txBody>
      </p:sp>
      <p:sp>
        <p:nvSpPr>
          <p:cNvPr id="40" name="Shape 38"/>
          <p:cNvSpPr/>
          <p:nvPr/>
        </p:nvSpPr>
        <p:spPr>
          <a:xfrm>
            <a:off x="4828032" y="4283964"/>
            <a:ext cx="621792" cy="274320"/>
          </a:xfrm>
          <a:prstGeom prst="roundRect">
            <a:avLst>
              <a:gd name="adj" fmla="val 26667"/>
            </a:avLst>
          </a:prstGeom>
          <a:solidFill>
            <a:srgbClr val="FFFFFF"/>
          </a:solidFill>
          <a:ln w="12700">
            <a:solidFill>
              <a:srgbClr val="2E8B6A"/>
            </a:solidFill>
            <a:prstDash val="solid"/>
          </a:ln>
        </p:spPr>
      </p:sp>
      <p:sp>
        <p:nvSpPr>
          <p:cNvPr id="41" name="Text 39"/>
          <p:cNvSpPr txBox="1"/>
          <p:nvPr/>
        </p:nvSpPr>
        <p:spPr>
          <a:xfrm>
            <a:off x="4828032" y="4283964"/>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6 min</a:t>
            </a:r>
            <a:endParaRPr lang="en-US" sz="950" dirty="0"/>
          </a:p>
        </p:txBody>
      </p:sp>
      <p:sp>
        <p:nvSpPr>
          <p:cNvPr id="42" name="Files on Moodle"/>
          <p:cNvSpPr/>
          <p:nvPr/>
        </p:nvSpPr>
        <p:spPr>
          <a:xfrm>
            <a:off x="5760720" y="1371600"/>
            <a:ext cx="2971800" cy="1353312"/>
          </a:xfrm>
          <a:prstGeom prst="roundRect">
            <a:avLst>
              <a:gd name="adj" fmla="val 5405"/>
            </a:avLst>
          </a:prstGeom>
          <a:solidFill>
            <a:srgbClr val="EAF2FB"/>
          </a:solidFill>
          <a:ln w="12700">
            <a:solidFill>
              <a:srgbClr val="1F5FA8"/>
            </a:solidFill>
            <a:prstDash val="solid"/>
          </a:ln>
        </p:spPr>
      </p:sp>
      <p:sp>
        <p:nvSpPr>
          <p:cNvPr id="43" name="Text 41"/>
          <p:cNvSpPr txBox="1"/>
          <p:nvPr/>
        </p:nvSpPr>
        <p:spPr>
          <a:xfrm>
            <a:off x="5897880" y="1435608"/>
            <a:ext cx="2697480" cy="182880"/>
          </a:xfrm>
          <a:prstGeom prst="rect">
            <a:avLst/>
          </a:prstGeom>
          <a:noFill/>
          <a:ln/>
        </p:spPr>
        <p:txBody>
          <a:bodyPr wrap="square" lIns="0" tIns="0" rIns="0" bIns="0" rtlCol="0" anchor="ctr"/>
          <a:lstStyle/>
          <a:p>
            <a:pPr indent="0" marL="0">
              <a:buNone/>
            </a:pPr>
            <a:r>
              <a:rPr lang="en-US" sz="950" b="1" spc="120" kern="0" dirty="0">
                <a:solidFill>
                  <a:srgbClr val="1F5FA8"/>
                </a:solidFill>
                <a:latin typeface="Calibri" pitchFamily="34" charset="0"/>
                <a:ea typeface="Calibri" pitchFamily="34" charset="-122"/>
                <a:cs typeface="Calibri" pitchFamily="34" charset="-120"/>
              </a:rPr>
              <a:t>FILES ON MOODLE · USE THESE</a:t>
            </a:r>
            <a:endParaRPr lang="en-US" sz="950" dirty="0"/>
          </a:p>
        </p:txBody>
      </p:sp>
      <p:sp>
        <p:nvSpPr>
          <p:cNvPr id="44" name="Text 42"/>
          <p:cNvSpPr txBox="1"/>
          <p:nvPr/>
        </p:nvSpPr>
        <p:spPr>
          <a:xfrm>
            <a:off x="5897880" y="1664208"/>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Lab2_Starter.ipynb</a:t>
            </a:r>
            <a:pPr indent="0" marL="0">
              <a:buNone/>
            </a:pPr>
            <a:r>
              <a:rPr lang="en-US" sz="850" dirty="0">
                <a:solidFill>
                  <a:srgbClr val="3D3D3D"/>
                </a:solidFill>
                <a:latin typeface="Calibri" pitchFamily="34" charset="0"/>
                <a:ea typeface="Calibri" pitchFamily="34" charset="-122"/>
                <a:cs typeface="Calibri" pitchFamily="34" charset="-120"/>
              </a:rPr>
              <a:t>  notebook · section Lab 2.2</a:t>
            </a:r>
            <a:endParaRPr lang="en-US" sz="900" dirty="0"/>
          </a:p>
        </p:txBody>
      </p:sp>
      <p:sp>
        <p:nvSpPr>
          <p:cNvPr id="45" name="Text 43"/>
          <p:cNvSpPr txBox="1"/>
          <p:nvPr/>
        </p:nvSpPr>
        <p:spPr>
          <a:xfrm>
            <a:off x="5897880" y="1911096"/>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orders_2024_03.csv</a:t>
            </a:r>
            <a:pPr indent="0" marL="0">
              <a:buNone/>
            </a:pPr>
            <a:r>
              <a:rPr lang="en-US" sz="850" dirty="0">
                <a:solidFill>
                  <a:srgbClr val="3D3D3D"/>
                </a:solidFill>
                <a:latin typeface="Calibri" pitchFamily="34" charset="0"/>
                <a:ea typeface="Calibri" pitchFamily="34" charset="-122"/>
                <a:cs typeface="Calibri" pitchFamily="34" charset="-120"/>
              </a:rPr>
              <a:t>  the March orders</a:t>
            </a:r>
            <a:endParaRPr lang="en-US" sz="900" dirty="0"/>
          </a:p>
        </p:txBody>
      </p:sp>
      <p:sp>
        <p:nvSpPr>
          <p:cNvPr id="46" name="Text 44"/>
          <p:cNvSpPr txBox="1"/>
          <p:nvPr/>
        </p:nvSpPr>
        <p:spPr>
          <a:xfrm>
            <a:off x="5897880" y="2157984"/>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customers.csv</a:t>
            </a:r>
            <a:pPr indent="0" marL="0">
              <a:buNone/>
            </a:pPr>
            <a:r>
              <a:rPr lang="en-US" sz="850" dirty="0">
                <a:solidFill>
                  <a:srgbClr val="3D3D3D"/>
                </a:solidFill>
                <a:latin typeface="Calibri" pitchFamily="34" charset="0"/>
                <a:ea typeface="Calibri" pitchFamily="34" charset="-122"/>
                <a:cs typeface="Calibri" pitchFamily="34" charset="-120"/>
              </a:rPr>
              <a:t>  27 rows · customer master</a:t>
            </a:r>
            <a:endParaRPr lang="en-US" sz="900" dirty="0"/>
          </a:p>
        </p:txBody>
      </p:sp>
      <p:sp>
        <p:nvSpPr>
          <p:cNvPr id="47" name="Text 45"/>
          <p:cNvSpPr txBox="1"/>
          <p:nvPr/>
        </p:nvSpPr>
        <p:spPr>
          <a:xfrm>
            <a:off x="5897880" y="2404872"/>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Lab2.2_ProfileReport.pptx</a:t>
            </a:r>
            <a:pPr indent="0" marL="0">
              <a:buNone/>
            </a:pPr>
            <a:r>
              <a:rPr lang="en-US" sz="850" dirty="0">
                <a:solidFill>
                  <a:srgbClr val="3D3D3D"/>
                </a:solidFill>
                <a:latin typeface="Calibri" pitchFamily="34" charset="0"/>
                <a:ea typeface="Calibri" pitchFamily="34" charset="-122"/>
                <a:cs typeface="Calibri" pitchFamily="34" charset="-120"/>
              </a:rPr>
              <a:t>  your worksheet</a:t>
            </a:r>
            <a:endParaRPr lang="en-US" sz="900" dirty="0"/>
          </a:p>
        </p:txBody>
      </p:sp>
      <p:sp>
        <p:nvSpPr>
          <p:cNvPr id="48" name="Submit"/>
          <p:cNvSpPr/>
          <p:nvPr/>
        </p:nvSpPr>
        <p:spPr>
          <a:xfrm>
            <a:off x="5760720" y="2834640"/>
            <a:ext cx="2971800" cy="1024128"/>
          </a:xfrm>
          <a:prstGeom prst="roundRect">
            <a:avLst>
              <a:gd name="adj" fmla="val 7143"/>
            </a:avLst>
          </a:prstGeom>
          <a:solidFill>
            <a:srgbClr val="FFF4EC"/>
          </a:solidFill>
          <a:ln w="12700">
            <a:solidFill>
              <a:srgbClr val="D9480F"/>
            </a:solidFill>
            <a:prstDash val="solid"/>
          </a:ln>
        </p:spPr>
      </p:sp>
      <p:sp>
        <p:nvSpPr>
          <p:cNvPr id="49" name="Text 47"/>
          <p:cNvSpPr txBox="1"/>
          <p:nvPr/>
        </p:nvSpPr>
        <p:spPr>
          <a:xfrm>
            <a:off x="5897880" y="2898648"/>
            <a:ext cx="2697480" cy="182880"/>
          </a:xfrm>
          <a:prstGeom prst="rect">
            <a:avLst/>
          </a:prstGeom>
          <a:noFill/>
          <a:ln/>
        </p:spPr>
        <p:txBody>
          <a:bodyPr wrap="square" lIns="0" tIns="0" rIns="0" bIns="0" rtlCol="0" anchor="ctr"/>
          <a:lstStyle/>
          <a:p>
            <a:pPr indent="0" marL="0">
              <a:buNone/>
            </a:pPr>
            <a:r>
              <a:rPr lang="en-US" sz="950" b="1" spc="120" kern="0" dirty="0">
                <a:solidFill>
                  <a:srgbClr val="D9480F"/>
                </a:solidFill>
                <a:latin typeface="Calibri" pitchFamily="34" charset="0"/>
                <a:ea typeface="Calibri" pitchFamily="34" charset="-122"/>
                <a:cs typeface="Calibri" pitchFamily="34" charset="-120"/>
              </a:rPr>
              <a:t>YOU SUBMIT ON MOODLE</a:t>
            </a:r>
            <a:endParaRPr lang="en-US" sz="950" dirty="0"/>
          </a:p>
        </p:txBody>
      </p:sp>
      <p:sp>
        <p:nvSpPr>
          <p:cNvPr id="50" name="Text 48"/>
          <p:cNvSpPr txBox="1"/>
          <p:nvPr/>
        </p:nvSpPr>
        <p:spPr>
          <a:xfrm>
            <a:off x="5897880" y="3090672"/>
            <a:ext cx="2743200" cy="731520"/>
          </a:xfrm>
          <a:prstGeom prst="rect">
            <a:avLst/>
          </a:prstGeom>
          <a:noFill/>
          <a:ln/>
        </p:spPr>
        <p:txBody>
          <a:bodyPr wrap="square" lIns="0" tIns="0" rIns="0" bIns="0" rtlCol="0" anchor="t"/>
          <a:lstStyle/>
          <a:p>
            <a:pPr indent="0" marL="0">
              <a:spcAft>
                <a:spcPts val="200"/>
              </a:spcAft>
              <a:buNone/>
            </a:pPr>
            <a:r>
              <a:rPr lang="en-US" sz="950" dirty="0">
                <a:solidFill>
                  <a:srgbClr val="3D3D3D"/>
                </a:solidFill>
                <a:latin typeface="Calibri" pitchFamily="34" charset="0"/>
                <a:ea typeface="Calibri" pitchFamily="34" charset="-122"/>
                <a:cs typeface="Calibri" pitchFamily="34" charset="-120"/>
              </a:rPr>
              <a:t>ZIP: profile report PDF + your notebook</a:t>
            </a:r>
            <a:endParaRPr lang="en-US" sz="950" dirty="0"/>
          </a:p>
          <a:p>
            <a:pPr indent="0" marL="0">
              <a:spcAft>
                <a:spcPts val="200"/>
              </a:spcAft>
              <a:buNone/>
            </a:pPr>
            <a:r>
              <a:rPr lang="en-US" sz="950" b="1" dirty="0">
                <a:solidFill>
                  <a:srgbClr val="3D3D3D"/>
                </a:solidFill>
                <a:latin typeface="Calibri" pitchFamily="34" charset="0"/>
                <a:ea typeface="Calibri" pitchFamily="34" charset="-122"/>
                <a:cs typeface="Calibri" pitchFamily="34" charset="-120"/>
              </a:rPr>
              <a:t>Group representative</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 · one file per group</a:t>
            </a:r>
            <a:endParaRPr lang="en-US" sz="950" dirty="0"/>
          </a:p>
          <a:p>
            <a:pPr indent="0" marL="0">
              <a:spcAft>
                <a:spcPts val="200"/>
              </a:spcAft>
              <a:buNone/>
            </a:pPr>
            <a:r>
              <a:rPr lang="en-US" sz="950" b="1" dirty="0">
                <a:solidFill>
                  <a:srgbClr val="3D3D3D"/>
                </a:solidFill>
                <a:latin typeface="Calibri" pitchFamily="34" charset="0"/>
                <a:ea typeface="Calibri" pitchFamily="34" charset="-122"/>
                <a:cs typeface="Calibri" pitchFamily="34" charset="-120"/>
              </a:rPr>
              <a:t>File: </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Lab2.2_Group&lt;Nr&gt;.zip</a:t>
            </a:r>
            <a:endParaRPr lang="en-US" sz="950" dirty="0"/>
          </a:p>
          <a:p>
            <a:pPr indent="0" marL="0">
              <a:spcAft>
                <a:spcPts val="200"/>
              </a:spcAft>
              <a:buNone/>
            </a:pPr>
            <a:r>
              <a:rPr lang="en-US" sz="950" b="1" dirty="0">
                <a:solidFill>
                  <a:srgbClr val="D9480F"/>
                </a:solidFill>
                <a:latin typeface="Calibri" pitchFamily="34" charset="0"/>
                <a:ea typeface="Calibri" pitchFamily="34" charset="-122"/>
                <a:cs typeface="Calibri" pitchFamily="34" charset="-120"/>
              </a:rPr>
              <a:t>Deadline: </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before the next session</a:t>
            </a:r>
            <a:endParaRPr lang="en-US" sz="950" dirty="0"/>
          </a:p>
        </p:txBody>
      </p:sp>
      <p:sp>
        <p:nvSpPr>
          <p:cNvPr id="51" name="Progress check"/>
          <p:cNvSpPr/>
          <p:nvPr/>
        </p:nvSpPr>
        <p:spPr>
          <a:xfrm>
            <a:off x="5760720" y="3968496"/>
            <a:ext cx="2971800" cy="877824"/>
          </a:xfrm>
          <a:prstGeom prst="roundRect">
            <a:avLst>
              <a:gd name="adj" fmla="val 8333"/>
            </a:avLst>
          </a:prstGeom>
          <a:solidFill>
            <a:srgbClr val="0B5A43"/>
          </a:solidFill>
          <a:ln w="12700">
            <a:solidFill>
              <a:srgbClr val="0B5A43"/>
            </a:solidFill>
            <a:prstDash val="solid"/>
          </a:ln>
        </p:spPr>
      </p:sp>
      <p:sp>
        <p:nvSpPr>
          <p:cNvPr id="52" name="Text 50"/>
          <p:cNvSpPr txBox="1"/>
          <p:nvPr/>
        </p:nvSpPr>
        <p:spPr>
          <a:xfrm>
            <a:off x="5897880" y="4041648"/>
            <a:ext cx="2697480" cy="182880"/>
          </a:xfrm>
          <a:prstGeom prst="rect">
            <a:avLst/>
          </a:prstGeom>
          <a:noFill/>
          <a:ln/>
        </p:spPr>
        <p:txBody>
          <a:bodyPr wrap="square" lIns="0" tIns="0" rIns="0" bIns="0" rtlCol="0" anchor="ctr"/>
          <a:lstStyle/>
          <a:p>
            <a:pPr indent="0" marL="0">
              <a:buNone/>
            </a:pPr>
            <a:r>
              <a:rPr lang="en-US" sz="950" b="1" spc="120" kern="0" dirty="0">
                <a:solidFill>
                  <a:srgbClr val="9CD3B5"/>
                </a:solidFill>
                <a:latin typeface="Calibri" pitchFamily="34" charset="0"/>
                <a:ea typeface="Calibri" pitchFamily="34" charset="-122"/>
                <a:cs typeface="Calibri" pitchFamily="34" charset="-120"/>
              </a:rPr>
              <a:t>PROGRESS CHECK · END OF SESSION</a:t>
            </a:r>
            <a:endParaRPr lang="en-US" sz="950" dirty="0"/>
          </a:p>
        </p:txBody>
      </p:sp>
      <p:sp>
        <p:nvSpPr>
          <p:cNvPr id="53" name="Text 51"/>
          <p:cNvSpPr txBox="1"/>
          <p:nvPr/>
        </p:nvSpPr>
        <p:spPr>
          <a:xfrm>
            <a:off x="5897880" y="4242816"/>
            <a:ext cx="2743200" cy="566928"/>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Show your column profile and ONE relationship problem (structure analysis) you found.</a:t>
            </a:r>
            <a:endParaRPr lang="en-US" sz="950" dirty="0"/>
          </a:p>
        </p:txBody>
      </p:sp>
      <p:sp>
        <p:nvSpPr>
          <p:cNvPr id="54" name="Text 52"/>
          <p:cNvSpPr txBox="1"/>
          <p:nvPr/>
        </p:nvSpPr>
        <p:spPr>
          <a:xfrm>
            <a:off x="411480" y="4773168"/>
            <a:ext cx="5120640" cy="228600"/>
          </a:xfrm>
          <a:prstGeom prst="rect">
            <a:avLst/>
          </a:prstGeom>
          <a:noFill/>
          <a:ln/>
        </p:spPr>
        <p:txBody>
          <a:bodyPr wrap="square" lIns="0" tIns="0" rIns="0" bIns="0" rtlCol="0" anchor="ctr"/>
          <a:lstStyle/>
          <a:p>
            <a:pPr indent="0" marL="0">
              <a:buNone/>
            </a:pPr>
            <a:r>
              <a:rPr lang="en-US" sz="1000" i="1" dirty="0">
                <a:solidFill>
                  <a:srgbClr val="6B6762"/>
                </a:solidFill>
                <a:latin typeface="Calibri" pitchFamily="34" charset="0"/>
                <a:ea typeface="Calibri" pitchFamily="34" charset="-122"/>
                <a:cs typeface="Calibri" pitchFamily="34" charset="-120"/>
              </a:rPr>
              <a:t>Groups of 3–5 · Jupyter notebook (pandas) · start in class (~40 min), finish before the next session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11480" y="201168"/>
            <a:ext cx="8321040" cy="384048"/>
          </a:xfrm>
          <a:prstGeom prst="rect">
            <a:avLst/>
          </a:prstGeom>
          <a:noFill/>
          <a:ln/>
        </p:spPr>
        <p:txBody>
          <a:bodyPr wrap="square" lIns="0" tIns="0" rIns="0" bIns="0" rtlCol="0" anchor="ctr"/>
          <a:lstStyle/>
          <a:p>
            <a:pPr indent="0" marL="0">
              <a:buNone/>
            </a:pPr>
            <a:r>
              <a:rPr lang="en-US" sz="1900" b="1" dirty="0">
                <a:solidFill>
                  <a:srgbClr val="D9480F"/>
                </a:solidFill>
                <a:latin typeface="Calibri" pitchFamily="34" charset="0"/>
                <a:ea typeface="Calibri" pitchFamily="34" charset="-122"/>
                <a:cs typeface="Calibri" pitchFamily="34" charset="-120"/>
              </a:rPr>
              <a:t>Lab 2.2 Worksheet: Profile Report</a:t>
            </a:r>
            <a:endParaRPr lang="en-US" sz="1900" dirty="0"/>
          </a:p>
        </p:txBody>
      </p:sp>
      <p:sp>
        <p:nvSpPr>
          <p:cNvPr id="3" name="Text 1"/>
          <p:cNvSpPr txBox="1"/>
          <p:nvPr/>
        </p:nvSpPr>
        <p:spPr>
          <a:xfrm>
            <a:off x="411480" y="566928"/>
            <a:ext cx="8321040" cy="182880"/>
          </a:xfrm>
          <a:prstGeom prst="rect">
            <a:avLst/>
          </a:prstGeom>
          <a:noFill/>
          <a:ln/>
        </p:spPr>
        <p:txBody>
          <a:bodyPr wrap="square" lIns="0" tIns="0" rIns="0" bIns="0" rtlCol="0" anchor="ctr"/>
          <a:lstStyle/>
          <a:p>
            <a:pPr indent="0" marL="0">
              <a:buNone/>
            </a:pPr>
            <a:r>
              <a:rPr lang="en-US" sz="900" i="1" dirty="0">
                <a:solidFill>
                  <a:srgbClr val="6B6762"/>
                </a:solidFill>
                <a:latin typeface="Calibri" pitchFamily="34" charset="0"/>
                <a:ea typeface="Calibri" pitchFamily="34" charset="-122"/>
                <a:cs typeface="Calibri" pitchFamily="34" charset="-120"/>
              </a:rPr>
              <a:t>Preview only — fill in the editable worksheet from Moodle.</a:t>
            </a:r>
            <a:endParaRPr lang="en-US" sz="900" dirty="0"/>
          </a:p>
        </p:txBody>
      </p:sp>
      <p:sp>
        <p:nvSpPr>
          <p:cNvPr id="4" name="Text 2"/>
          <p:cNvSpPr txBox="1"/>
          <p:nvPr/>
        </p:nvSpPr>
        <p:spPr>
          <a:xfrm>
            <a:off x="411480" y="822960"/>
            <a:ext cx="640080" cy="237744"/>
          </a:xfrm>
          <a:prstGeom prst="rect">
            <a:avLst/>
          </a:prstGeom>
          <a:noFill/>
          <a:ln/>
        </p:spPr>
        <p:txBody>
          <a:bodyPr wrap="square" lIns="0" tIns="0" rIns="0" bIns="0" rtlCol="0" anchor="ctr"/>
          <a:lstStyle/>
          <a:p>
            <a:pPr indent="0" marL="0">
              <a:buNone/>
            </a:pPr>
            <a:r>
              <a:rPr lang="en-US" sz="1000" b="1" dirty="0">
                <a:solidFill>
                  <a:srgbClr val="0B5A43"/>
                </a:solidFill>
                <a:latin typeface="Calibri" pitchFamily="34" charset="0"/>
                <a:ea typeface="Calibri" pitchFamily="34" charset="-122"/>
                <a:cs typeface="Calibri" pitchFamily="34" charset="-120"/>
              </a:rPr>
              <a:t>Group Nr</a:t>
            </a:r>
            <a:endParaRPr lang="en-US" sz="1000" dirty="0"/>
          </a:p>
        </p:txBody>
      </p:sp>
      <p:sp>
        <p:nvSpPr>
          <p:cNvPr id="5" name="Group Nr"/>
          <p:cNvSpPr/>
          <p:nvPr/>
        </p:nvSpPr>
        <p:spPr>
          <a:xfrm>
            <a:off x="1024128" y="822960"/>
            <a:ext cx="411480" cy="237744"/>
          </a:xfrm>
          <a:prstGeom prst="rect">
            <a:avLst/>
          </a:prstGeom>
          <a:solidFill>
            <a:srgbClr val="FFFFFF"/>
          </a:solidFill>
          <a:ln w="9525">
            <a:solidFill>
              <a:srgbClr val="B9B4AD"/>
            </a:solidFill>
            <a:prstDash val="dash"/>
          </a:ln>
        </p:spPr>
        <p:txBody>
          <a:bodyPr wrap="square" lIns="38100" tIns="38100" rIns="38100" bIns="38100" rtlCol="0" anchor="ctr"/>
          <a:lstStyle/>
          <a:p>
            <a:pPr indent="0" marL="0">
              <a:buNone/>
            </a:pPr>
            <a:r>
              <a:rPr lang="en-US" sz="1000" i="1" dirty="0">
                <a:solidFill>
                  <a:srgbClr val="8A8680"/>
                </a:solidFill>
                <a:latin typeface="Calibri" pitchFamily="34" charset="0"/>
                <a:ea typeface="Calibri" pitchFamily="34" charset="-122"/>
                <a:cs typeface="Calibri" pitchFamily="34" charset="-120"/>
              </a:rPr>
              <a:t>__</a:t>
            </a:r>
            <a:endParaRPr lang="en-US" sz="1000" dirty="0"/>
          </a:p>
        </p:txBody>
      </p:sp>
      <p:sp>
        <p:nvSpPr>
          <p:cNvPr id="6" name="Text 4"/>
          <p:cNvSpPr txBox="1"/>
          <p:nvPr/>
        </p:nvSpPr>
        <p:spPr>
          <a:xfrm>
            <a:off x="1600200" y="822960"/>
            <a:ext cx="640080" cy="237744"/>
          </a:xfrm>
          <a:prstGeom prst="rect">
            <a:avLst/>
          </a:prstGeom>
          <a:noFill/>
          <a:ln/>
        </p:spPr>
        <p:txBody>
          <a:bodyPr wrap="square" lIns="0" tIns="0" rIns="0" bIns="0" rtlCol="0" anchor="ctr"/>
          <a:lstStyle/>
          <a:p>
            <a:pPr indent="0" marL="0">
              <a:buNone/>
            </a:pPr>
            <a:r>
              <a:rPr lang="en-US" sz="1000" b="1" dirty="0">
                <a:solidFill>
                  <a:srgbClr val="0B5A43"/>
                </a:solidFill>
                <a:latin typeface="Calibri" pitchFamily="34" charset="0"/>
                <a:ea typeface="Calibri" pitchFamily="34" charset="-122"/>
                <a:cs typeface="Calibri" pitchFamily="34" charset="-120"/>
              </a:rPr>
              <a:t>Members</a:t>
            </a:r>
            <a:endParaRPr lang="en-US" sz="1000" dirty="0"/>
          </a:p>
        </p:txBody>
      </p:sp>
      <p:sp>
        <p:nvSpPr>
          <p:cNvPr id="7" name="Members"/>
          <p:cNvSpPr/>
          <p:nvPr/>
        </p:nvSpPr>
        <p:spPr>
          <a:xfrm>
            <a:off x="2240280" y="822960"/>
            <a:ext cx="4389120" cy="237744"/>
          </a:xfrm>
          <a:prstGeom prst="rect">
            <a:avLst/>
          </a:prstGeom>
          <a:solidFill>
            <a:srgbClr val="FFFFFF"/>
          </a:solidFill>
          <a:ln w="9525">
            <a:solidFill>
              <a:srgbClr val="B9B4AD"/>
            </a:solidFill>
            <a:prstDash val="dash"/>
          </a:ln>
        </p:spPr>
        <p:txBody>
          <a:bodyPr wrap="square" lIns="38100" tIns="38100" rIns="38100" bIns="38100" rtlCol="0" anchor="ctr"/>
          <a:lstStyle/>
          <a:p>
            <a:pPr indent="0" marL="0">
              <a:buNone/>
            </a:pPr>
            <a:r>
              <a:rPr lang="en-US" sz="1000" i="1" dirty="0">
                <a:solidFill>
                  <a:srgbClr val="8A8680"/>
                </a:solidFill>
                <a:latin typeface="Calibri" pitchFamily="34" charset="0"/>
                <a:ea typeface="Calibri" pitchFamily="34" charset="-122"/>
                <a:cs typeface="Calibri" pitchFamily="34" charset="-120"/>
              </a:rPr>
              <a:t>Full names of all members</a:t>
            </a:r>
            <a:endParaRPr lang="en-US" sz="1000" dirty="0"/>
          </a:p>
        </p:txBody>
      </p:sp>
      <p:sp>
        <p:nvSpPr>
          <p:cNvPr id="8" name="Text 6"/>
          <p:cNvSpPr txBox="1"/>
          <p:nvPr/>
        </p:nvSpPr>
        <p:spPr>
          <a:xfrm>
            <a:off x="411480" y="1161288"/>
            <a:ext cx="5486400" cy="182880"/>
          </a:xfrm>
          <a:prstGeom prst="rect">
            <a:avLst/>
          </a:prstGeom>
          <a:noFill/>
          <a:ln/>
        </p:spPr>
        <p:txBody>
          <a:bodyPr wrap="square" lIns="0" tIns="0" rIns="0" bIns="0" rtlCol="0" anchor="ctr"/>
          <a:lstStyle/>
          <a:p>
            <a:pPr indent="0" marL="0">
              <a:buNone/>
            </a:pPr>
            <a:r>
              <a:rPr lang="en-US" sz="900" b="1" spc="100" kern="0" dirty="0">
                <a:solidFill>
                  <a:srgbClr val="4B3A99"/>
                </a:solidFill>
                <a:latin typeface="Calibri" pitchFamily="34" charset="0"/>
                <a:ea typeface="Calibri" pitchFamily="34" charset="-122"/>
                <a:cs typeface="Calibri" pitchFamily="34" charset="-120"/>
              </a:rPr>
              <a:t>A · COLUMN PROFILE  (orders_2024_03.csv)</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1005840"/>
                <a:gridCol w="914400"/>
                <a:gridCol w="640080"/>
                <a:gridCol w="640080"/>
                <a:gridCol w="2103120"/>
                <a:gridCol w="3017520"/>
              </a:tblGrid>
              <a:tr h="22860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Column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4B3A9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Type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4B3A9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Missing</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4B3A9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Distinct</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4B3A9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Min / max  or  top value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4B3A9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Problem you see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4B3A99"/>
                    </a:solidFill>
                  </a:tcPr>
                </a:tc>
              </a:tr>
              <a:tr h="228600">
                <a:tc>
                  <a:txBody>
                    <a:bodyPr/>
                    <a:lstStyle/>
                    <a:p>
                      <a:pPr indent="0" marL="0">
                        <a:buNone/>
                      </a:pPr>
                      <a:r>
                        <a:rPr lang="en-US" sz="900" b="1" dirty="0">
                          <a:solidFill>
                            <a:srgbClr val="2E2366"/>
                          </a:solidFill>
                          <a:latin typeface="Calibri" pitchFamily="34" charset="0"/>
                          <a:ea typeface="Calibri" pitchFamily="34" charset="-122"/>
                          <a:cs typeface="Calibri" pitchFamily="34" charset="-120"/>
                        </a:rPr>
                        <a:t>order_id</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EEBF8"/>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text / number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28600">
                <a:tc>
                  <a:txBody>
                    <a:bodyPr/>
                    <a:lstStyle/>
                    <a:p>
                      <a:pPr indent="0" marL="0">
                        <a:buNone/>
                      </a:pPr>
                      <a:r>
                        <a:rPr lang="en-US" sz="900" b="1" dirty="0">
                          <a:solidFill>
                            <a:srgbClr val="2E2366"/>
                          </a:solidFill>
                          <a:latin typeface="Calibri" pitchFamily="34" charset="0"/>
                          <a:ea typeface="Calibri" pitchFamily="34" charset="-122"/>
                          <a:cs typeface="Calibri" pitchFamily="34" charset="-120"/>
                        </a:rPr>
                        <a:t>customer_id</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EEBF8"/>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text / number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28600">
                <a:tc>
                  <a:txBody>
                    <a:bodyPr/>
                    <a:lstStyle/>
                    <a:p>
                      <a:pPr indent="0" marL="0">
                        <a:buNone/>
                      </a:pPr>
                      <a:r>
                        <a:rPr lang="en-US" sz="900" b="1" dirty="0">
                          <a:solidFill>
                            <a:srgbClr val="2E2366"/>
                          </a:solidFill>
                          <a:latin typeface="Calibri" pitchFamily="34" charset="0"/>
                          <a:ea typeface="Calibri" pitchFamily="34" charset="-122"/>
                          <a:cs typeface="Calibri" pitchFamily="34" charset="-120"/>
                        </a:rPr>
                        <a:t>city</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EEBF8"/>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text / number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28600">
                <a:tc>
                  <a:txBody>
                    <a:bodyPr/>
                    <a:lstStyle/>
                    <a:p>
                      <a:pPr indent="0" marL="0">
                        <a:buNone/>
                      </a:pPr>
                      <a:r>
                        <a:rPr lang="en-US" sz="900" b="1" dirty="0">
                          <a:solidFill>
                            <a:srgbClr val="2E2366"/>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EEBF8"/>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text / number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28600">
                <a:tc>
                  <a:txBody>
                    <a:bodyPr/>
                    <a:lstStyle/>
                    <a:p>
                      <a:pPr indent="0" marL="0">
                        <a:buNone/>
                      </a:pPr>
                      <a:r>
                        <a:rPr lang="en-US" sz="900" b="1" dirty="0">
                          <a:solidFill>
                            <a:srgbClr val="2E2366"/>
                          </a:solidFill>
                          <a:latin typeface="Calibri" pitchFamily="34" charset="0"/>
                          <a:ea typeface="Calibri" pitchFamily="34" charset="-122"/>
                          <a:cs typeface="Calibri" pitchFamily="34" charset="-120"/>
                        </a:rPr>
                        <a:t>unit_price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EEBF8"/>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text / number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28600">
                <a:tc>
                  <a:txBody>
                    <a:bodyPr/>
                    <a:lstStyle/>
                    <a:p>
                      <a:pPr indent="0" marL="0">
                        <a:buNone/>
                      </a:pPr>
                      <a:r>
                        <a:rPr lang="en-US" sz="900" b="1" dirty="0">
                          <a:solidFill>
                            <a:srgbClr val="2E2366"/>
                          </a:solidFill>
                          <a:latin typeface="Calibri" pitchFamily="34" charset="0"/>
                          <a:ea typeface="Calibri" pitchFamily="34" charset="-122"/>
                          <a:cs typeface="Calibri" pitchFamily="34" charset="-120"/>
                        </a:rPr>
                        <a:t>category</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EEBF8"/>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text / number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bl>
          </a:graphicData>
        </a:graphic>
      </p:graphicFrame>
      <p:sp>
        <p:nvSpPr>
          <p:cNvPr id="10" name="Text 7"/>
          <p:cNvSpPr txBox="1"/>
          <p:nvPr/>
        </p:nvSpPr>
        <p:spPr>
          <a:xfrm>
            <a:off x="411480" y="3090672"/>
            <a:ext cx="3657600" cy="182880"/>
          </a:xfrm>
          <a:prstGeom prst="rect">
            <a:avLst/>
          </a:prstGeom>
          <a:noFill/>
          <a:ln/>
        </p:spPr>
        <p:txBody>
          <a:bodyPr wrap="square" lIns="0" tIns="0" rIns="0" bIns="0" rtlCol="0" anchor="ctr"/>
          <a:lstStyle/>
          <a:p>
            <a:pPr indent="0" marL="0">
              <a:buNone/>
            </a:pPr>
            <a:r>
              <a:rPr lang="en-US" sz="900" b="1" spc="100" kern="0" dirty="0">
                <a:solidFill>
                  <a:srgbClr val="4B3A99"/>
                </a:solidFill>
                <a:latin typeface="Calibri" pitchFamily="34" charset="0"/>
                <a:ea typeface="Calibri" pitchFamily="34" charset="-122"/>
                <a:cs typeface="Calibri" pitchFamily="34" charset="-120"/>
              </a:rPr>
              <a:t>B · STRUCTURE CHECKS</a:t>
            </a:r>
            <a:endParaRPr lang="en-US" sz="9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11480" y="3291840"/>
          <a:ext cx="4160520" cy="914400"/>
        </p:xfrm>
        <a:graphic>
          <a:graphicData uri="http://schemas.openxmlformats.org/drawingml/2006/table">
            <a:tbl>
              <a:tblPr/>
              <a:tblGrid>
                <a:gridCol w="1965960"/>
                <a:gridCol w="2194560"/>
              </a:tblGrid>
              <a:tr h="21945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Question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4B3A9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Yes / No + evidence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4B3A99"/>
                    </a:solidFill>
                  </a:tcPr>
                </a:tc>
              </a:tr>
              <a:tr h="219456">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order_id is a unique key?</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19456">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customer_id → customer_name?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19456">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customer_id unique in customers.csv?</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19456">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every orders.customer_id in customers?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19456">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quantity outlier by IQR rule?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Q1 = , Q3 = , IQR = , limit =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bl>
          </a:graphicData>
        </a:graphic>
      </p:graphicFrame>
      <p:sp>
        <p:nvSpPr>
          <p:cNvPr id="12" name="Text 8"/>
          <p:cNvSpPr txBox="1"/>
          <p:nvPr/>
        </p:nvSpPr>
        <p:spPr>
          <a:xfrm>
            <a:off x="4754880" y="3090672"/>
            <a:ext cx="3657600" cy="182880"/>
          </a:xfrm>
          <a:prstGeom prst="rect">
            <a:avLst/>
          </a:prstGeom>
          <a:noFill/>
          <a:ln/>
        </p:spPr>
        <p:txBody>
          <a:bodyPr wrap="square" lIns="0" tIns="0" rIns="0" bIns="0" rtlCol="0" anchor="ctr"/>
          <a:lstStyle/>
          <a:p>
            <a:pPr indent="0" marL="0">
              <a:buNone/>
            </a:pPr>
            <a:r>
              <a:rPr lang="en-US" sz="900" b="1" spc="100" kern="0" dirty="0">
                <a:solidFill>
                  <a:srgbClr val="4B3A99"/>
                </a:solidFill>
                <a:latin typeface="Calibri" pitchFamily="34" charset="0"/>
                <a:ea typeface="Calibri" pitchFamily="34" charset="-122"/>
                <a:cs typeface="Calibri" pitchFamily="34" charset="-120"/>
              </a:rPr>
              <a:t>C · CLEANING PLAN  (top 5)</a:t>
            </a:r>
            <a:endParaRPr lang="en-US" sz="900" dirty="0"/>
          </a:p>
        </p:txBody>
      </p:sp>
      <p:graphicFrame>
        <p:nvGraphicFramePr>
          <p:cNvPr id="19" name="Table 2"/>
          <p:cNvGraphicFramePr>
            <a:graphicFrameLocks noGrp="1"/>
          </p:cNvGraphicFramePr>
          <p:nvPr>
            <p:extLst>
              <p:ext uri="{D42A27DB-BD31-4B8C-83A1-F6EECF244321}">
                <p14:modId xmlns:p14="http://schemas.microsoft.com/office/powerpoint/2010/main" val="1579011935"/>
              </p:ext>
            </p:extLst>
          </p:nvPr>
        </p:nvGraphicFramePr>
        <p:xfrm>
          <a:off x="4754880" y="3291840"/>
          <a:ext cx="3977640" cy="914400"/>
        </p:xfrm>
        <a:graphic>
          <a:graphicData uri="http://schemas.openxmlformats.org/drawingml/2006/table">
            <a:tbl>
              <a:tblPr/>
              <a:tblGrid>
                <a:gridCol w="274320"/>
                <a:gridCol w="1828800"/>
                <a:gridCol w="1874520"/>
              </a:tblGrid>
              <a:tr h="21945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4B3A9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Issue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4B3A99"/>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Planned action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4B3A99"/>
                    </a:solidFill>
                  </a:tcPr>
                </a:tc>
              </a:tr>
              <a:tr h="219456">
                <a:tc>
                  <a:txBody>
                    <a:bodyPr/>
                    <a:lstStyle/>
                    <a:p>
                      <a:pPr indent="0" marL="0">
                        <a:buNone/>
                      </a:pPr>
                      <a:r>
                        <a:rPr lang="en-US" sz="900" b="1" dirty="0">
                          <a:solidFill>
                            <a:srgbClr val="2E2366"/>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EEBF8"/>
                    </a:solidFill>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fix / flag / quarantine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19456">
                <a:tc>
                  <a:txBody>
                    <a:bodyPr/>
                    <a:lstStyle/>
                    <a:p>
                      <a:pPr indent="0" marL="0">
                        <a:buNone/>
                      </a:pPr>
                      <a:r>
                        <a:rPr lang="en-US" sz="900" b="1" dirty="0">
                          <a:solidFill>
                            <a:srgbClr val="2E2366"/>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EEBF8"/>
                    </a:solidFill>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fix / flag / quarantine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19456">
                <a:tc>
                  <a:txBody>
                    <a:bodyPr/>
                    <a:lstStyle/>
                    <a:p>
                      <a:pPr indent="0" marL="0">
                        <a:buNone/>
                      </a:pPr>
                      <a:r>
                        <a:rPr lang="en-US" sz="900" b="1" dirty="0">
                          <a:solidFill>
                            <a:srgbClr val="2E2366"/>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EEBF8"/>
                    </a:solidFill>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fix / flag / quarantine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19456">
                <a:tc>
                  <a:txBody>
                    <a:bodyPr/>
                    <a:lstStyle/>
                    <a:p>
                      <a:pPr indent="0" marL="0">
                        <a:buNone/>
                      </a:pPr>
                      <a:r>
                        <a:rPr lang="en-US" sz="900" b="1" dirty="0">
                          <a:solidFill>
                            <a:srgbClr val="2E2366"/>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EEBF8"/>
                    </a:solidFill>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fix / flag / quarantine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19456">
                <a:tc>
                  <a:txBody>
                    <a:bodyPr/>
                    <a:lstStyle/>
                    <a:p>
                      <a:pPr indent="0" marL="0">
                        <a:buNone/>
                      </a:pPr>
                      <a:r>
                        <a:rPr lang="en-US" sz="900" b="1" dirty="0">
                          <a:solidFill>
                            <a:srgbClr val="2E2366"/>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EEBF8"/>
                    </a:solidFill>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fix / flag / quarantine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bl>
          </a:graphicData>
        </a:graphic>
      </p:graphicFrame>
      <p:sp>
        <p:nvSpPr>
          <p:cNvPr id="14" name="Text 9"/>
          <p:cNvSpPr txBox="1"/>
          <p:nvPr/>
        </p:nvSpPr>
        <p:spPr>
          <a:xfrm>
            <a:off x="411480" y="4663440"/>
            <a:ext cx="8321040" cy="201168"/>
          </a:xfrm>
          <a:prstGeom prst="rect">
            <a:avLst/>
          </a:prstGeom>
          <a:noFill/>
          <a:ln/>
        </p:spPr>
        <p:txBody>
          <a:bodyPr wrap="square" lIns="0" tIns="0" rIns="0" bIns="0" rtlCol="0" anchor="ctr"/>
          <a:lstStyle/>
          <a:p>
            <a:pPr indent="0" marL="0">
              <a:buNone/>
            </a:pPr>
            <a:r>
              <a:rPr lang="en-US" sz="900" b="1" dirty="0">
                <a:solidFill>
                  <a:srgbClr val="D9480F"/>
                </a:solidFill>
                <a:latin typeface="Calibri" pitchFamily="34" charset="0"/>
                <a:ea typeface="Calibri" pitchFamily="34" charset="-122"/>
                <a:cs typeface="Calibri" pitchFamily="34" charset="-120"/>
              </a:rPr>
              <a:t>Before you submit:  </a:t>
            </a:r>
            <a:pPr indent="0" marL="0">
              <a:buNone/>
            </a:pPr>
            <a:r>
              <a:rPr lang="en-US" sz="900" dirty="0">
                <a:solidFill>
                  <a:srgbClr val="3D3D3D"/>
                </a:solidFill>
                <a:latin typeface="Calibri" pitchFamily="34" charset="0"/>
                <a:ea typeface="Calibri" pitchFamily="34" charset="-122"/>
                <a:cs typeface="Calibri" pitchFamily="34" charset="-120"/>
              </a:rPr>
              <a:t>☐ 6 columns profiled    ☐ 5 structure checks    ☐ ranked plan    ☐ all names</a:t>
            </a:r>
            <a:endParaRPr lang="en-US" sz="900" dirty="0"/>
          </a:p>
        </p:txBody>
      </p:sp>
      <p:sp>
        <p:nvSpPr>
          <p:cNvPr id="15" name="Text 10"/>
          <p:cNvSpPr txBox="1"/>
          <p:nvPr/>
        </p:nvSpPr>
        <p:spPr>
          <a:xfrm>
            <a:off x="411480" y="4882896"/>
            <a:ext cx="8321040" cy="182880"/>
          </a:xfrm>
          <a:prstGeom prst="rect">
            <a:avLst/>
          </a:prstGeom>
          <a:noFill/>
          <a:ln/>
        </p:spPr>
        <p:txBody>
          <a:bodyPr wrap="square" lIns="0" tIns="0" rIns="0" bIns="0" rtlCol="0" anchor="ctr"/>
          <a:lstStyle/>
          <a:p>
            <a:pPr indent="0" marL="0">
              <a:buNone/>
            </a:pPr>
            <a:r>
              <a:rPr lang="en-US" sz="850" i="1" dirty="0">
                <a:solidFill>
                  <a:srgbClr val="6B6762"/>
                </a:solidFill>
                <a:latin typeface="Calibri" pitchFamily="34" charset="0"/>
                <a:ea typeface="Calibri" pitchFamily="34" charset="-122"/>
                <a:cs typeface="Calibri" pitchFamily="34" charset="-120"/>
              </a:rPr>
              <a:t>Group representative uploads Lab2.2_Group&lt;Nr&gt;.zip on Moodle · Deadline: before the next session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11480" y="256032"/>
            <a:ext cx="7863840" cy="457200"/>
          </a:xfrm>
          <a:prstGeom prst="rect">
            <a:avLst/>
          </a:prstGeom>
          <a:noFill/>
          <a:ln/>
        </p:spPr>
        <p:txBody>
          <a:bodyPr wrap="square" lIns="0" tIns="0" rIns="0" bIns="0" rtlCol="0" anchor="ctr"/>
          <a:lstStyle/>
          <a:p>
            <a:pPr indent="0" marL="0">
              <a:buNone/>
            </a:pPr>
            <a:r>
              <a:rPr lang="en-US" sz="2200" b="1" dirty="0">
                <a:solidFill>
                  <a:srgbClr val="D9480F"/>
                </a:solidFill>
                <a:latin typeface="Calibri" pitchFamily="34" charset="0"/>
                <a:ea typeface="Calibri" pitchFamily="34" charset="-122"/>
                <a:cs typeface="Calibri" pitchFamily="34" charset="-120"/>
              </a:rPr>
              <a:t>Lab 2.3: Data Cleaning</a:t>
            </a:r>
            <a:endParaRPr lang="en-US" sz="2200" dirty="0"/>
          </a:p>
        </p:txBody>
      </p:sp>
      <p:sp>
        <p:nvSpPr>
          <p:cNvPr id="3" name="Text 1"/>
          <p:cNvSpPr txBox="1"/>
          <p:nvPr/>
        </p:nvSpPr>
        <p:spPr>
          <a:xfrm>
            <a:off x="411480" y="749808"/>
            <a:ext cx="8321040" cy="274320"/>
          </a:xfrm>
          <a:prstGeom prst="rect">
            <a:avLst/>
          </a:prstGeom>
          <a:noFill/>
          <a:ln/>
        </p:spPr>
        <p:txBody>
          <a:bodyPr wrap="square" lIns="0" tIns="0" rIns="0" bIns="0" rtlCol="0" anchor="ctr"/>
          <a:lstStyle/>
          <a:p>
            <a:pPr indent="0" marL="0">
              <a:buNone/>
            </a:pPr>
            <a:r>
              <a:rPr lang="en-US" sz="1200" b="1" dirty="0">
                <a:solidFill>
                  <a:srgbClr val="0B5A43"/>
                </a:solidFill>
                <a:latin typeface="Calibri" pitchFamily="34" charset="0"/>
                <a:ea typeface="Calibri" pitchFamily="34" charset="-122"/>
                <a:cs typeface="Calibri" pitchFamily="34" charset="-120"/>
              </a:rPr>
              <a:t>Goal: </a:t>
            </a:r>
            <a:pPr indent="0" marL="0">
              <a:buNone/>
            </a:pPr>
            <a:r>
              <a:rPr lang="en-US" sz="1200" dirty="0">
                <a:solidFill>
                  <a:srgbClr val="3D3D3D"/>
                </a:solidFill>
                <a:latin typeface="Calibri" pitchFamily="34" charset="0"/>
                <a:ea typeface="Calibri" pitchFamily="34" charset="-122"/>
                <a:cs typeface="Calibri" pitchFamily="34" charset="-120"/>
              </a:rPr>
              <a:t>Turn your cleaning plan into a clean dataset — and document every decision.</a:t>
            </a:r>
            <a:endParaRPr lang="en-US" sz="1200" dirty="0"/>
          </a:p>
        </p:txBody>
      </p:sp>
      <p:sp>
        <p:nvSpPr>
          <p:cNvPr id="4" name="Text 2"/>
          <p:cNvSpPr txBox="1"/>
          <p:nvPr/>
        </p:nvSpPr>
        <p:spPr>
          <a:xfrm>
            <a:off x="411480" y="1005840"/>
            <a:ext cx="8321040" cy="274320"/>
          </a:xfrm>
          <a:prstGeom prst="rect">
            <a:avLst/>
          </a:prstGeom>
          <a:noFill/>
          <a:ln/>
        </p:spPr>
        <p:txBody>
          <a:bodyPr wrap="square" lIns="0" tIns="0" rIns="0" bIns="0" rtlCol="0" anchor="ctr"/>
          <a:lstStyle/>
          <a:p>
            <a:pPr indent="0" marL="0">
              <a:buNone/>
            </a:pPr>
            <a:r>
              <a:rPr lang="en-US" sz="1200" b="1" dirty="0">
                <a:solidFill>
                  <a:srgbClr val="0B5A43"/>
                </a:solidFill>
                <a:latin typeface="Calibri" pitchFamily="34" charset="0"/>
                <a:ea typeface="Calibri" pitchFamily="34" charset="-122"/>
                <a:cs typeface="Calibri" pitchFamily="34" charset="-120"/>
              </a:rPr>
              <a:t>Scenario: </a:t>
            </a:r>
            <a:pPr indent="0" marL="0">
              <a:buNone/>
            </a:pPr>
            <a:r>
              <a:rPr lang="en-US" sz="1200" dirty="0">
                <a:solidFill>
                  <a:srgbClr val="3D3D3D"/>
                </a:solidFill>
                <a:latin typeface="Calibri" pitchFamily="34" charset="0"/>
                <a:ea typeface="Calibri" pitchFamily="34" charset="-122"/>
                <a:cs typeface="Calibri" pitchFamily="34" charset="-120"/>
              </a:rPr>
              <a:t>Use your plan from Lab 2.2. The raw file stays untouched: you always work on a copy.</a:t>
            </a:r>
            <a:endParaRPr lang="en-US" sz="1200" dirty="0"/>
          </a:p>
        </p:txBody>
      </p:sp>
      <p:sp>
        <p:nvSpPr>
          <p:cNvPr id="5" name="Text 3"/>
          <p:cNvSpPr txBox="1"/>
          <p:nvPr/>
        </p:nvSpPr>
        <p:spPr>
          <a:xfrm>
            <a:off x="411480" y="1371600"/>
            <a:ext cx="2743200" cy="201168"/>
          </a:xfrm>
          <a:prstGeom prst="rect">
            <a:avLst/>
          </a:prstGeom>
          <a:noFill/>
          <a:ln/>
        </p:spPr>
        <p:txBody>
          <a:bodyPr wrap="square" lIns="0" tIns="0" rIns="0" bIns="0" rtlCol="0" anchor="ctr"/>
          <a:lstStyle/>
          <a:p>
            <a:pPr indent="0" marL="0">
              <a:buNone/>
            </a:pPr>
            <a:r>
              <a:rPr lang="en-US" sz="1000" b="1" spc="150" kern="0" dirty="0">
                <a:solidFill>
                  <a:srgbClr val="2E8B6A"/>
                </a:solidFill>
                <a:latin typeface="Calibri" pitchFamily="34" charset="0"/>
                <a:ea typeface="Calibri" pitchFamily="34" charset="-122"/>
                <a:cs typeface="Calibri" pitchFamily="34" charset="-120"/>
              </a:rPr>
              <a:t>YOUR TASKS</a:t>
            </a:r>
            <a:endParaRPr lang="en-US" sz="1000" dirty="0"/>
          </a:p>
        </p:txBody>
      </p:sp>
      <p:sp>
        <p:nvSpPr>
          <p:cNvPr id="6" name="Step 1"/>
          <p:cNvSpPr/>
          <p:nvPr/>
        </p:nvSpPr>
        <p:spPr>
          <a:xfrm>
            <a:off x="411480" y="1609344"/>
            <a:ext cx="5120640" cy="457200"/>
          </a:xfrm>
          <a:prstGeom prst="roundRect">
            <a:avLst>
              <a:gd name="adj" fmla="val 16000"/>
            </a:avLst>
          </a:prstGeom>
          <a:solidFill>
            <a:srgbClr val="E3F4EC"/>
          </a:solidFill>
          <a:ln w="12700">
            <a:solidFill>
              <a:srgbClr val="E3F4EC"/>
            </a:solidFill>
            <a:prstDash val="solid"/>
          </a:ln>
        </p:spPr>
      </p:sp>
      <p:sp>
        <p:nvSpPr>
          <p:cNvPr id="7" name="Shape 5"/>
          <p:cNvSpPr/>
          <p:nvPr/>
        </p:nvSpPr>
        <p:spPr>
          <a:xfrm>
            <a:off x="512064" y="1682496"/>
            <a:ext cx="310896" cy="310896"/>
          </a:xfrm>
          <a:prstGeom prst="ellipse">
            <a:avLst/>
          </a:prstGeom>
          <a:solidFill>
            <a:srgbClr val="2E8B6A"/>
          </a:solidFill>
          <a:ln w="12700">
            <a:solidFill>
              <a:srgbClr val="2E8B6A"/>
            </a:solidFill>
            <a:prstDash val="solid"/>
          </a:ln>
        </p:spPr>
      </p:sp>
      <p:sp>
        <p:nvSpPr>
          <p:cNvPr id="8" name="Text 6"/>
          <p:cNvSpPr txBox="1"/>
          <p:nvPr/>
        </p:nvSpPr>
        <p:spPr>
          <a:xfrm>
            <a:off x="512064" y="168249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txBox="1"/>
          <p:nvPr/>
        </p:nvSpPr>
        <p:spPr>
          <a:xfrm>
            <a:off x="941832" y="1627632"/>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Protect the raw data</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df = raw.copy() — results only ever go to NEW files</a:t>
            </a:r>
            <a:endParaRPr lang="en-US" sz="1100" dirty="0"/>
          </a:p>
        </p:txBody>
      </p:sp>
      <p:sp>
        <p:nvSpPr>
          <p:cNvPr id="10" name="Shape 8"/>
          <p:cNvSpPr/>
          <p:nvPr/>
        </p:nvSpPr>
        <p:spPr>
          <a:xfrm>
            <a:off x="4828032" y="1700784"/>
            <a:ext cx="621792" cy="274320"/>
          </a:xfrm>
          <a:prstGeom prst="roundRect">
            <a:avLst>
              <a:gd name="adj" fmla="val 26667"/>
            </a:avLst>
          </a:prstGeom>
          <a:solidFill>
            <a:srgbClr val="FFFFFF"/>
          </a:solidFill>
          <a:ln w="12700">
            <a:solidFill>
              <a:srgbClr val="2E8B6A"/>
            </a:solidFill>
            <a:prstDash val="solid"/>
          </a:ln>
        </p:spPr>
      </p:sp>
      <p:sp>
        <p:nvSpPr>
          <p:cNvPr id="11" name="Text 9"/>
          <p:cNvSpPr txBox="1"/>
          <p:nvPr/>
        </p:nvSpPr>
        <p:spPr>
          <a:xfrm>
            <a:off x="4828032" y="1700784"/>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3 min</a:t>
            </a:r>
            <a:endParaRPr lang="en-US" sz="950" dirty="0"/>
          </a:p>
        </p:txBody>
      </p:sp>
      <p:sp>
        <p:nvSpPr>
          <p:cNvPr id="12" name="Step 2"/>
          <p:cNvSpPr/>
          <p:nvPr/>
        </p:nvSpPr>
        <p:spPr>
          <a:xfrm>
            <a:off x="411480" y="2125980"/>
            <a:ext cx="5120640" cy="457200"/>
          </a:xfrm>
          <a:prstGeom prst="roundRect">
            <a:avLst>
              <a:gd name="adj" fmla="val 16000"/>
            </a:avLst>
          </a:prstGeom>
          <a:solidFill>
            <a:srgbClr val="E3F4EC"/>
          </a:solidFill>
          <a:ln w="12700">
            <a:solidFill>
              <a:srgbClr val="E3F4EC"/>
            </a:solidFill>
            <a:prstDash val="solid"/>
          </a:ln>
        </p:spPr>
      </p:sp>
      <p:sp>
        <p:nvSpPr>
          <p:cNvPr id="13" name="Shape 11"/>
          <p:cNvSpPr/>
          <p:nvPr/>
        </p:nvSpPr>
        <p:spPr>
          <a:xfrm>
            <a:off x="512064" y="2199132"/>
            <a:ext cx="310896" cy="310896"/>
          </a:xfrm>
          <a:prstGeom prst="ellipse">
            <a:avLst/>
          </a:prstGeom>
          <a:solidFill>
            <a:srgbClr val="2E8B6A"/>
          </a:solidFill>
          <a:ln w="12700">
            <a:solidFill>
              <a:srgbClr val="2E8B6A"/>
            </a:solidFill>
            <a:prstDash val="solid"/>
          </a:ln>
        </p:spPr>
      </p:sp>
      <p:sp>
        <p:nvSpPr>
          <p:cNvPr id="14" name="Text 12"/>
          <p:cNvSpPr txBox="1"/>
          <p:nvPr/>
        </p:nvSpPr>
        <p:spPr>
          <a:xfrm>
            <a:off x="512064" y="2199132"/>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3"/>
          <p:cNvSpPr txBox="1"/>
          <p:nvPr/>
        </p:nvSpPr>
        <p:spPr>
          <a:xfrm>
            <a:off x="941832" y="2144268"/>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Remove duplicates</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drop_duplicates() · log rows before → after</a:t>
            </a:r>
            <a:endParaRPr lang="en-US" sz="1100" dirty="0"/>
          </a:p>
        </p:txBody>
      </p:sp>
      <p:sp>
        <p:nvSpPr>
          <p:cNvPr id="16" name="Shape 14"/>
          <p:cNvSpPr/>
          <p:nvPr/>
        </p:nvSpPr>
        <p:spPr>
          <a:xfrm>
            <a:off x="4828032" y="2217420"/>
            <a:ext cx="621792" cy="274320"/>
          </a:xfrm>
          <a:prstGeom prst="roundRect">
            <a:avLst>
              <a:gd name="adj" fmla="val 26667"/>
            </a:avLst>
          </a:prstGeom>
          <a:solidFill>
            <a:srgbClr val="FFFFFF"/>
          </a:solidFill>
          <a:ln w="12700">
            <a:solidFill>
              <a:srgbClr val="2E8B6A"/>
            </a:solidFill>
            <a:prstDash val="solid"/>
          </a:ln>
        </p:spPr>
      </p:sp>
      <p:sp>
        <p:nvSpPr>
          <p:cNvPr id="17" name="Text 15"/>
          <p:cNvSpPr txBox="1"/>
          <p:nvPr/>
        </p:nvSpPr>
        <p:spPr>
          <a:xfrm>
            <a:off x="4828032" y="2217420"/>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4 min</a:t>
            </a:r>
            <a:endParaRPr lang="en-US" sz="950" dirty="0"/>
          </a:p>
        </p:txBody>
      </p:sp>
      <p:sp>
        <p:nvSpPr>
          <p:cNvPr id="18" name="Step 3"/>
          <p:cNvSpPr/>
          <p:nvPr/>
        </p:nvSpPr>
        <p:spPr>
          <a:xfrm>
            <a:off x="411480" y="2642616"/>
            <a:ext cx="5120640" cy="457200"/>
          </a:xfrm>
          <a:prstGeom prst="roundRect">
            <a:avLst>
              <a:gd name="adj" fmla="val 16000"/>
            </a:avLst>
          </a:prstGeom>
          <a:solidFill>
            <a:srgbClr val="E3F4EC"/>
          </a:solidFill>
          <a:ln w="12700">
            <a:solidFill>
              <a:srgbClr val="E3F4EC"/>
            </a:solidFill>
            <a:prstDash val="solid"/>
          </a:ln>
        </p:spPr>
      </p:sp>
      <p:sp>
        <p:nvSpPr>
          <p:cNvPr id="19" name="Shape 17"/>
          <p:cNvSpPr/>
          <p:nvPr/>
        </p:nvSpPr>
        <p:spPr>
          <a:xfrm>
            <a:off x="512064" y="2715768"/>
            <a:ext cx="310896" cy="310896"/>
          </a:xfrm>
          <a:prstGeom prst="ellipse">
            <a:avLst/>
          </a:prstGeom>
          <a:solidFill>
            <a:srgbClr val="2E8B6A"/>
          </a:solidFill>
          <a:ln w="12700">
            <a:solidFill>
              <a:srgbClr val="2E8B6A"/>
            </a:solidFill>
            <a:prstDash val="solid"/>
          </a:ln>
        </p:spPr>
      </p:sp>
      <p:sp>
        <p:nvSpPr>
          <p:cNvPr id="20" name="Text 18"/>
          <p:cNvSpPr txBox="1"/>
          <p:nvPr/>
        </p:nvSpPr>
        <p:spPr>
          <a:xfrm>
            <a:off x="512064" y="271576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1" name="Text 19"/>
          <p:cNvSpPr txBox="1"/>
          <p:nvPr/>
        </p:nvSpPr>
        <p:spPr>
          <a:xfrm>
            <a:off x="941832" y="2660904"/>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Standardize formats</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dates → YYYY-MM-DD · str.strip() · replace() for city, country, currency</a:t>
            </a:r>
            <a:endParaRPr lang="en-US" sz="1100" dirty="0"/>
          </a:p>
        </p:txBody>
      </p:sp>
      <p:sp>
        <p:nvSpPr>
          <p:cNvPr id="22" name="Shape 20"/>
          <p:cNvSpPr/>
          <p:nvPr/>
        </p:nvSpPr>
        <p:spPr>
          <a:xfrm>
            <a:off x="4828032" y="2734056"/>
            <a:ext cx="621792" cy="274320"/>
          </a:xfrm>
          <a:prstGeom prst="roundRect">
            <a:avLst>
              <a:gd name="adj" fmla="val 26667"/>
            </a:avLst>
          </a:prstGeom>
          <a:solidFill>
            <a:srgbClr val="FFFFFF"/>
          </a:solidFill>
          <a:ln w="12700">
            <a:solidFill>
              <a:srgbClr val="2E8B6A"/>
            </a:solidFill>
            <a:prstDash val="solid"/>
          </a:ln>
        </p:spPr>
      </p:sp>
      <p:sp>
        <p:nvSpPr>
          <p:cNvPr id="23" name="Text 21"/>
          <p:cNvSpPr txBox="1"/>
          <p:nvPr/>
        </p:nvSpPr>
        <p:spPr>
          <a:xfrm>
            <a:off x="4828032" y="2734056"/>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10 min</a:t>
            </a:r>
            <a:endParaRPr lang="en-US" sz="950" dirty="0"/>
          </a:p>
        </p:txBody>
      </p:sp>
      <p:sp>
        <p:nvSpPr>
          <p:cNvPr id="24" name="Step 4"/>
          <p:cNvSpPr/>
          <p:nvPr/>
        </p:nvSpPr>
        <p:spPr>
          <a:xfrm>
            <a:off x="411480" y="3159252"/>
            <a:ext cx="5120640" cy="457200"/>
          </a:xfrm>
          <a:prstGeom prst="roundRect">
            <a:avLst>
              <a:gd name="adj" fmla="val 16000"/>
            </a:avLst>
          </a:prstGeom>
          <a:solidFill>
            <a:srgbClr val="E3F4EC"/>
          </a:solidFill>
          <a:ln w="12700">
            <a:solidFill>
              <a:srgbClr val="E3F4EC"/>
            </a:solidFill>
            <a:prstDash val="solid"/>
          </a:ln>
        </p:spPr>
      </p:sp>
      <p:sp>
        <p:nvSpPr>
          <p:cNvPr id="25" name="Shape 23"/>
          <p:cNvSpPr/>
          <p:nvPr/>
        </p:nvSpPr>
        <p:spPr>
          <a:xfrm>
            <a:off x="512064" y="3232404"/>
            <a:ext cx="310896" cy="310896"/>
          </a:xfrm>
          <a:prstGeom prst="ellipse">
            <a:avLst/>
          </a:prstGeom>
          <a:solidFill>
            <a:srgbClr val="2E8B6A"/>
          </a:solidFill>
          <a:ln w="12700">
            <a:solidFill>
              <a:srgbClr val="2E8B6A"/>
            </a:solidFill>
            <a:prstDash val="solid"/>
          </a:ln>
        </p:spPr>
      </p:sp>
      <p:sp>
        <p:nvSpPr>
          <p:cNvPr id="26" name="Text 24"/>
          <p:cNvSpPr txBox="1"/>
          <p:nvPr/>
        </p:nvSpPr>
        <p:spPr>
          <a:xfrm>
            <a:off x="512064" y="3232404"/>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7" name="Text 25"/>
          <p:cNvSpPr txBox="1"/>
          <p:nvPr/>
        </p:nvSpPr>
        <p:spPr>
          <a:xfrm>
            <a:off x="941832" y="3177540"/>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Handle missing values</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map() names from customers.csv · flag column · or quarantine</a:t>
            </a:r>
            <a:endParaRPr lang="en-US" sz="1100" dirty="0"/>
          </a:p>
        </p:txBody>
      </p:sp>
      <p:sp>
        <p:nvSpPr>
          <p:cNvPr id="28" name="Shape 26"/>
          <p:cNvSpPr/>
          <p:nvPr/>
        </p:nvSpPr>
        <p:spPr>
          <a:xfrm>
            <a:off x="4828032" y="3250692"/>
            <a:ext cx="621792" cy="274320"/>
          </a:xfrm>
          <a:prstGeom prst="roundRect">
            <a:avLst>
              <a:gd name="adj" fmla="val 26667"/>
            </a:avLst>
          </a:prstGeom>
          <a:solidFill>
            <a:srgbClr val="FFFFFF"/>
          </a:solidFill>
          <a:ln w="12700">
            <a:solidFill>
              <a:srgbClr val="2E8B6A"/>
            </a:solidFill>
            <a:prstDash val="solid"/>
          </a:ln>
        </p:spPr>
      </p:sp>
      <p:sp>
        <p:nvSpPr>
          <p:cNvPr id="29" name="Text 27"/>
          <p:cNvSpPr txBox="1"/>
          <p:nvPr/>
        </p:nvSpPr>
        <p:spPr>
          <a:xfrm>
            <a:off x="4828032" y="3250692"/>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8 min</a:t>
            </a:r>
            <a:endParaRPr lang="en-US" sz="950" dirty="0"/>
          </a:p>
        </p:txBody>
      </p:sp>
      <p:sp>
        <p:nvSpPr>
          <p:cNvPr id="30" name="Step 5"/>
          <p:cNvSpPr/>
          <p:nvPr/>
        </p:nvSpPr>
        <p:spPr>
          <a:xfrm>
            <a:off x="411480" y="3675888"/>
            <a:ext cx="5120640" cy="457200"/>
          </a:xfrm>
          <a:prstGeom prst="roundRect">
            <a:avLst>
              <a:gd name="adj" fmla="val 16000"/>
            </a:avLst>
          </a:prstGeom>
          <a:solidFill>
            <a:srgbClr val="E3F4EC"/>
          </a:solidFill>
          <a:ln w="12700">
            <a:solidFill>
              <a:srgbClr val="E3F4EC"/>
            </a:solidFill>
            <a:prstDash val="solid"/>
          </a:ln>
        </p:spPr>
      </p:sp>
      <p:sp>
        <p:nvSpPr>
          <p:cNvPr id="31" name="Shape 29"/>
          <p:cNvSpPr/>
          <p:nvPr/>
        </p:nvSpPr>
        <p:spPr>
          <a:xfrm>
            <a:off x="512064" y="3749040"/>
            <a:ext cx="310896" cy="310896"/>
          </a:xfrm>
          <a:prstGeom prst="ellipse">
            <a:avLst/>
          </a:prstGeom>
          <a:solidFill>
            <a:srgbClr val="2E8B6A"/>
          </a:solidFill>
          <a:ln w="12700">
            <a:solidFill>
              <a:srgbClr val="2E8B6A"/>
            </a:solidFill>
            <a:prstDash val="solid"/>
          </a:ln>
        </p:spPr>
      </p:sp>
      <p:sp>
        <p:nvSpPr>
          <p:cNvPr id="32" name="Text 30"/>
          <p:cNvSpPr txBox="1"/>
          <p:nvPr/>
        </p:nvSpPr>
        <p:spPr>
          <a:xfrm>
            <a:off x="512064" y="374904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33" name="Text 31"/>
          <p:cNvSpPr txBox="1"/>
          <p:nvPr/>
        </p:nvSpPr>
        <p:spPr>
          <a:xfrm>
            <a:off x="941832" y="3694176"/>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Invalid values and outliers</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a reason column → quarantine DataFrame (−1, 500, no price, Gadgets)</a:t>
            </a:r>
            <a:endParaRPr lang="en-US" sz="1100" dirty="0"/>
          </a:p>
        </p:txBody>
      </p:sp>
      <p:sp>
        <p:nvSpPr>
          <p:cNvPr id="34" name="Shape 32"/>
          <p:cNvSpPr/>
          <p:nvPr/>
        </p:nvSpPr>
        <p:spPr>
          <a:xfrm>
            <a:off x="4828032" y="3767328"/>
            <a:ext cx="621792" cy="274320"/>
          </a:xfrm>
          <a:prstGeom prst="roundRect">
            <a:avLst>
              <a:gd name="adj" fmla="val 26667"/>
            </a:avLst>
          </a:prstGeom>
          <a:solidFill>
            <a:srgbClr val="FFFFFF"/>
          </a:solidFill>
          <a:ln w="12700">
            <a:solidFill>
              <a:srgbClr val="2E8B6A"/>
            </a:solidFill>
            <a:prstDash val="solid"/>
          </a:ln>
        </p:spPr>
      </p:sp>
      <p:sp>
        <p:nvSpPr>
          <p:cNvPr id="35" name="Text 33"/>
          <p:cNvSpPr txBox="1"/>
          <p:nvPr/>
        </p:nvSpPr>
        <p:spPr>
          <a:xfrm>
            <a:off x="4828032" y="3767328"/>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8 min</a:t>
            </a:r>
            <a:endParaRPr lang="en-US" sz="950" dirty="0"/>
          </a:p>
        </p:txBody>
      </p:sp>
      <p:sp>
        <p:nvSpPr>
          <p:cNvPr id="36" name="Step 6"/>
          <p:cNvSpPr/>
          <p:nvPr/>
        </p:nvSpPr>
        <p:spPr>
          <a:xfrm>
            <a:off x="411480" y="4192524"/>
            <a:ext cx="5120640" cy="457200"/>
          </a:xfrm>
          <a:prstGeom prst="roundRect">
            <a:avLst>
              <a:gd name="adj" fmla="val 16000"/>
            </a:avLst>
          </a:prstGeom>
          <a:solidFill>
            <a:srgbClr val="E3F4EC"/>
          </a:solidFill>
          <a:ln w="12700">
            <a:solidFill>
              <a:srgbClr val="E3F4EC"/>
            </a:solidFill>
            <a:prstDash val="solid"/>
          </a:ln>
        </p:spPr>
      </p:sp>
      <p:sp>
        <p:nvSpPr>
          <p:cNvPr id="37" name="Shape 35"/>
          <p:cNvSpPr/>
          <p:nvPr/>
        </p:nvSpPr>
        <p:spPr>
          <a:xfrm>
            <a:off x="512064" y="4265676"/>
            <a:ext cx="310896" cy="310896"/>
          </a:xfrm>
          <a:prstGeom prst="ellipse">
            <a:avLst/>
          </a:prstGeom>
          <a:solidFill>
            <a:srgbClr val="2E8B6A"/>
          </a:solidFill>
          <a:ln w="12700">
            <a:solidFill>
              <a:srgbClr val="2E8B6A"/>
            </a:solidFill>
            <a:prstDash val="solid"/>
          </a:ln>
        </p:spPr>
      </p:sp>
      <p:sp>
        <p:nvSpPr>
          <p:cNvPr id="38" name="Text 36"/>
          <p:cNvSpPr txBox="1"/>
          <p:nvPr/>
        </p:nvSpPr>
        <p:spPr>
          <a:xfrm>
            <a:off x="512064" y="426567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9" name="Text 37"/>
          <p:cNvSpPr txBox="1"/>
          <p:nvPr/>
        </p:nvSpPr>
        <p:spPr>
          <a:xfrm>
            <a:off x="941832" y="4210812"/>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Validate and write</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re-run the Lab 2.1 checks · to_csv: clean + quarantine</a:t>
            </a:r>
            <a:endParaRPr lang="en-US" sz="1100" dirty="0"/>
          </a:p>
        </p:txBody>
      </p:sp>
      <p:sp>
        <p:nvSpPr>
          <p:cNvPr id="40" name="Shape 38"/>
          <p:cNvSpPr/>
          <p:nvPr/>
        </p:nvSpPr>
        <p:spPr>
          <a:xfrm>
            <a:off x="4828032" y="4283964"/>
            <a:ext cx="621792" cy="274320"/>
          </a:xfrm>
          <a:prstGeom prst="roundRect">
            <a:avLst>
              <a:gd name="adj" fmla="val 26667"/>
            </a:avLst>
          </a:prstGeom>
          <a:solidFill>
            <a:srgbClr val="FFFFFF"/>
          </a:solidFill>
          <a:ln w="12700">
            <a:solidFill>
              <a:srgbClr val="2E8B6A"/>
            </a:solidFill>
            <a:prstDash val="solid"/>
          </a:ln>
        </p:spPr>
      </p:sp>
      <p:sp>
        <p:nvSpPr>
          <p:cNvPr id="41" name="Text 39"/>
          <p:cNvSpPr txBox="1"/>
          <p:nvPr/>
        </p:nvSpPr>
        <p:spPr>
          <a:xfrm>
            <a:off x="4828032" y="4283964"/>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5 min</a:t>
            </a:r>
            <a:endParaRPr lang="en-US" sz="950" dirty="0"/>
          </a:p>
        </p:txBody>
      </p:sp>
      <p:sp>
        <p:nvSpPr>
          <p:cNvPr id="42" name="Files on Moodle"/>
          <p:cNvSpPr/>
          <p:nvPr/>
        </p:nvSpPr>
        <p:spPr>
          <a:xfrm>
            <a:off x="5760720" y="1371600"/>
            <a:ext cx="2971800" cy="1353312"/>
          </a:xfrm>
          <a:prstGeom prst="roundRect">
            <a:avLst>
              <a:gd name="adj" fmla="val 5405"/>
            </a:avLst>
          </a:prstGeom>
          <a:solidFill>
            <a:srgbClr val="EAF2FB"/>
          </a:solidFill>
          <a:ln w="12700">
            <a:solidFill>
              <a:srgbClr val="1F5FA8"/>
            </a:solidFill>
            <a:prstDash val="solid"/>
          </a:ln>
        </p:spPr>
      </p:sp>
      <p:sp>
        <p:nvSpPr>
          <p:cNvPr id="43" name="Text 41"/>
          <p:cNvSpPr txBox="1"/>
          <p:nvPr/>
        </p:nvSpPr>
        <p:spPr>
          <a:xfrm>
            <a:off x="5897880" y="1435608"/>
            <a:ext cx="2697480" cy="182880"/>
          </a:xfrm>
          <a:prstGeom prst="rect">
            <a:avLst/>
          </a:prstGeom>
          <a:noFill/>
          <a:ln/>
        </p:spPr>
        <p:txBody>
          <a:bodyPr wrap="square" lIns="0" tIns="0" rIns="0" bIns="0" rtlCol="0" anchor="ctr"/>
          <a:lstStyle/>
          <a:p>
            <a:pPr indent="0" marL="0">
              <a:buNone/>
            </a:pPr>
            <a:r>
              <a:rPr lang="en-US" sz="950" b="1" spc="120" kern="0" dirty="0">
                <a:solidFill>
                  <a:srgbClr val="1F5FA8"/>
                </a:solidFill>
                <a:latin typeface="Calibri" pitchFamily="34" charset="0"/>
                <a:ea typeface="Calibri" pitchFamily="34" charset="-122"/>
                <a:cs typeface="Calibri" pitchFamily="34" charset="-120"/>
              </a:rPr>
              <a:t>FILES ON MOODLE · USE THESE</a:t>
            </a:r>
            <a:endParaRPr lang="en-US" sz="950" dirty="0"/>
          </a:p>
        </p:txBody>
      </p:sp>
      <p:sp>
        <p:nvSpPr>
          <p:cNvPr id="44" name="Text 42"/>
          <p:cNvSpPr txBox="1"/>
          <p:nvPr/>
        </p:nvSpPr>
        <p:spPr>
          <a:xfrm>
            <a:off x="5897880" y="1664208"/>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Lab2_Starter.ipynb</a:t>
            </a:r>
            <a:pPr indent="0" marL="0">
              <a:buNone/>
            </a:pPr>
            <a:r>
              <a:rPr lang="en-US" sz="850" dirty="0">
                <a:solidFill>
                  <a:srgbClr val="3D3D3D"/>
                </a:solidFill>
                <a:latin typeface="Calibri" pitchFamily="34" charset="0"/>
                <a:ea typeface="Calibri" pitchFamily="34" charset="-122"/>
                <a:cs typeface="Calibri" pitchFamily="34" charset="-120"/>
              </a:rPr>
              <a:t>  notebook · section Lab 2.3</a:t>
            </a:r>
            <a:endParaRPr lang="en-US" sz="900" dirty="0"/>
          </a:p>
        </p:txBody>
      </p:sp>
      <p:sp>
        <p:nvSpPr>
          <p:cNvPr id="45" name="Text 43"/>
          <p:cNvSpPr txBox="1"/>
          <p:nvPr/>
        </p:nvSpPr>
        <p:spPr>
          <a:xfrm>
            <a:off x="5897880" y="1911096"/>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orders_2024_03.csv</a:t>
            </a:r>
            <a:pPr indent="0" marL="0">
              <a:buNone/>
            </a:pPr>
            <a:r>
              <a:rPr lang="en-US" sz="850" dirty="0">
                <a:solidFill>
                  <a:srgbClr val="3D3D3D"/>
                </a:solidFill>
                <a:latin typeface="Calibri" pitchFamily="34" charset="0"/>
                <a:ea typeface="Calibri" pitchFamily="34" charset="-122"/>
                <a:cs typeface="Calibri" pitchFamily="34" charset="-120"/>
              </a:rPr>
              <a:t>  raw — never overwrite</a:t>
            </a:r>
            <a:endParaRPr lang="en-US" sz="900" dirty="0"/>
          </a:p>
        </p:txBody>
      </p:sp>
      <p:sp>
        <p:nvSpPr>
          <p:cNvPr id="46" name="Text 44"/>
          <p:cNvSpPr txBox="1"/>
          <p:nvPr/>
        </p:nvSpPr>
        <p:spPr>
          <a:xfrm>
            <a:off x="5897880" y="2157984"/>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customers.csv</a:t>
            </a:r>
            <a:pPr indent="0" marL="0">
              <a:buNone/>
            </a:pPr>
            <a:r>
              <a:rPr lang="en-US" sz="850" dirty="0">
                <a:solidFill>
                  <a:srgbClr val="3D3D3D"/>
                </a:solidFill>
                <a:latin typeface="Calibri" pitchFamily="34" charset="0"/>
                <a:ea typeface="Calibri" pitchFamily="34" charset="-122"/>
                <a:cs typeface="Calibri" pitchFamily="34" charset="-120"/>
              </a:rPr>
              <a:t>  to fill missing names</a:t>
            </a:r>
            <a:endParaRPr lang="en-US" sz="900" dirty="0"/>
          </a:p>
        </p:txBody>
      </p:sp>
      <p:sp>
        <p:nvSpPr>
          <p:cNvPr id="47" name="Text 45"/>
          <p:cNvSpPr txBox="1"/>
          <p:nvPr/>
        </p:nvSpPr>
        <p:spPr>
          <a:xfrm>
            <a:off x="5897880" y="2404872"/>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Lab2.3_CleaningLog.pptx</a:t>
            </a:r>
            <a:pPr indent="0" marL="0">
              <a:buNone/>
            </a:pPr>
            <a:r>
              <a:rPr lang="en-US" sz="850" dirty="0">
                <a:solidFill>
                  <a:srgbClr val="3D3D3D"/>
                </a:solidFill>
                <a:latin typeface="Calibri" pitchFamily="34" charset="0"/>
                <a:ea typeface="Calibri" pitchFamily="34" charset="-122"/>
                <a:cs typeface="Calibri" pitchFamily="34" charset="-120"/>
              </a:rPr>
              <a:t>  your cleaning log</a:t>
            </a:r>
            <a:endParaRPr lang="en-US" sz="900" dirty="0"/>
          </a:p>
        </p:txBody>
      </p:sp>
      <p:sp>
        <p:nvSpPr>
          <p:cNvPr id="48" name="Submit"/>
          <p:cNvSpPr/>
          <p:nvPr/>
        </p:nvSpPr>
        <p:spPr>
          <a:xfrm>
            <a:off x="5760720" y="2834640"/>
            <a:ext cx="2971800" cy="1024128"/>
          </a:xfrm>
          <a:prstGeom prst="roundRect">
            <a:avLst>
              <a:gd name="adj" fmla="val 7143"/>
            </a:avLst>
          </a:prstGeom>
          <a:solidFill>
            <a:srgbClr val="FFF4EC"/>
          </a:solidFill>
          <a:ln w="12700">
            <a:solidFill>
              <a:srgbClr val="D9480F"/>
            </a:solidFill>
            <a:prstDash val="solid"/>
          </a:ln>
        </p:spPr>
      </p:sp>
      <p:sp>
        <p:nvSpPr>
          <p:cNvPr id="49" name="Text 47"/>
          <p:cNvSpPr txBox="1"/>
          <p:nvPr/>
        </p:nvSpPr>
        <p:spPr>
          <a:xfrm>
            <a:off x="5897880" y="2898648"/>
            <a:ext cx="2697480" cy="182880"/>
          </a:xfrm>
          <a:prstGeom prst="rect">
            <a:avLst/>
          </a:prstGeom>
          <a:noFill/>
          <a:ln/>
        </p:spPr>
        <p:txBody>
          <a:bodyPr wrap="square" lIns="0" tIns="0" rIns="0" bIns="0" rtlCol="0" anchor="ctr"/>
          <a:lstStyle/>
          <a:p>
            <a:pPr indent="0" marL="0">
              <a:buNone/>
            </a:pPr>
            <a:r>
              <a:rPr lang="en-US" sz="950" b="1" spc="120" kern="0" dirty="0">
                <a:solidFill>
                  <a:srgbClr val="D9480F"/>
                </a:solidFill>
                <a:latin typeface="Calibri" pitchFamily="34" charset="0"/>
                <a:ea typeface="Calibri" pitchFamily="34" charset="-122"/>
                <a:cs typeface="Calibri" pitchFamily="34" charset="-120"/>
              </a:rPr>
              <a:t>YOU SUBMIT ON MOODLE</a:t>
            </a:r>
            <a:endParaRPr lang="en-US" sz="950" dirty="0"/>
          </a:p>
        </p:txBody>
      </p:sp>
      <p:sp>
        <p:nvSpPr>
          <p:cNvPr id="50" name="Text 48"/>
          <p:cNvSpPr txBox="1"/>
          <p:nvPr/>
        </p:nvSpPr>
        <p:spPr>
          <a:xfrm>
            <a:off x="5897880" y="3090672"/>
            <a:ext cx="2743200" cy="731520"/>
          </a:xfrm>
          <a:prstGeom prst="rect">
            <a:avLst/>
          </a:prstGeom>
          <a:noFill/>
          <a:ln/>
        </p:spPr>
        <p:txBody>
          <a:bodyPr wrap="square" lIns="0" tIns="0" rIns="0" bIns="0" rtlCol="0" anchor="t"/>
          <a:lstStyle/>
          <a:p>
            <a:pPr indent="0" marL="0">
              <a:spcAft>
                <a:spcPts val="200"/>
              </a:spcAft>
              <a:buNone/>
            </a:pPr>
            <a:r>
              <a:rPr lang="en-US" sz="950" dirty="0">
                <a:solidFill>
                  <a:srgbClr val="3D3D3D"/>
                </a:solidFill>
                <a:latin typeface="Calibri" pitchFamily="34" charset="0"/>
                <a:ea typeface="Calibri" pitchFamily="34" charset="-122"/>
                <a:cs typeface="Calibri" pitchFamily="34" charset="-120"/>
              </a:rPr>
              <a:t>ZIP: notebook + clean CSV + quarantine CSV + log PDF</a:t>
            </a:r>
            <a:endParaRPr lang="en-US" sz="950" dirty="0"/>
          </a:p>
          <a:p>
            <a:pPr indent="0" marL="0">
              <a:spcAft>
                <a:spcPts val="200"/>
              </a:spcAft>
              <a:buNone/>
            </a:pPr>
            <a:r>
              <a:rPr lang="en-US" sz="950" b="1" dirty="0">
                <a:solidFill>
                  <a:srgbClr val="3D3D3D"/>
                </a:solidFill>
                <a:latin typeface="Calibri" pitchFamily="34" charset="0"/>
                <a:ea typeface="Calibri" pitchFamily="34" charset="-122"/>
                <a:cs typeface="Calibri" pitchFamily="34" charset="-120"/>
              </a:rPr>
              <a:t>Group representative</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 · one file per group</a:t>
            </a:r>
            <a:endParaRPr lang="en-US" sz="950" dirty="0"/>
          </a:p>
          <a:p>
            <a:pPr indent="0" marL="0">
              <a:spcAft>
                <a:spcPts val="200"/>
              </a:spcAft>
              <a:buNone/>
            </a:pPr>
            <a:r>
              <a:rPr lang="en-US" sz="950" b="1" dirty="0">
                <a:solidFill>
                  <a:srgbClr val="3D3D3D"/>
                </a:solidFill>
                <a:latin typeface="Calibri" pitchFamily="34" charset="0"/>
                <a:ea typeface="Calibri" pitchFamily="34" charset="-122"/>
                <a:cs typeface="Calibri" pitchFamily="34" charset="-120"/>
              </a:rPr>
              <a:t>File: </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Lab2.3_Group&lt;Nr&gt;.zip</a:t>
            </a:r>
            <a:endParaRPr lang="en-US" sz="950" dirty="0"/>
          </a:p>
          <a:p>
            <a:pPr indent="0" marL="0">
              <a:spcAft>
                <a:spcPts val="200"/>
              </a:spcAft>
              <a:buNone/>
            </a:pPr>
            <a:r>
              <a:rPr lang="en-US" sz="950" b="1" dirty="0">
                <a:solidFill>
                  <a:srgbClr val="D9480F"/>
                </a:solidFill>
                <a:latin typeface="Calibri" pitchFamily="34" charset="0"/>
                <a:ea typeface="Calibri" pitchFamily="34" charset="-122"/>
                <a:cs typeface="Calibri" pitchFamily="34" charset="-120"/>
              </a:rPr>
              <a:t>Deadline: </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before the next session</a:t>
            </a:r>
            <a:endParaRPr lang="en-US" sz="950" dirty="0"/>
          </a:p>
        </p:txBody>
      </p:sp>
      <p:sp>
        <p:nvSpPr>
          <p:cNvPr id="51" name="Progress check"/>
          <p:cNvSpPr/>
          <p:nvPr/>
        </p:nvSpPr>
        <p:spPr>
          <a:xfrm>
            <a:off x="5760720" y="3968496"/>
            <a:ext cx="2971800" cy="877824"/>
          </a:xfrm>
          <a:prstGeom prst="roundRect">
            <a:avLst>
              <a:gd name="adj" fmla="val 8333"/>
            </a:avLst>
          </a:prstGeom>
          <a:solidFill>
            <a:srgbClr val="0B5A43"/>
          </a:solidFill>
          <a:ln w="12700">
            <a:solidFill>
              <a:srgbClr val="0B5A43"/>
            </a:solidFill>
            <a:prstDash val="solid"/>
          </a:ln>
        </p:spPr>
      </p:sp>
      <p:sp>
        <p:nvSpPr>
          <p:cNvPr id="52" name="Text 50"/>
          <p:cNvSpPr txBox="1"/>
          <p:nvPr/>
        </p:nvSpPr>
        <p:spPr>
          <a:xfrm>
            <a:off x="5897880" y="4041648"/>
            <a:ext cx="2697480" cy="182880"/>
          </a:xfrm>
          <a:prstGeom prst="rect">
            <a:avLst/>
          </a:prstGeom>
          <a:noFill/>
          <a:ln/>
        </p:spPr>
        <p:txBody>
          <a:bodyPr wrap="square" lIns="0" tIns="0" rIns="0" bIns="0" rtlCol="0" anchor="ctr"/>
          <a:lstStyle/>
          <a:p>
            <a:pPr indent="0" marL="0">
              <a:buNone/>
            </a:pPr>
            <a:r>
              <a:rPr lang="en-US" sz="950" b="1" spc="120" kern="0" dirty="0">
                <a:solidFill>
                  <a:srgbClr val="9CD3B5"/>
                </a:solidFill>
                <a:latin typeface="Calibri" pitchFamily="34" charset="0"/>
                <a:ea typeface="Calibri" pitchFamily="34" charset="-122"/>
                <a:cs typeface="Calibri" pitchFamily="34" charset="-120"/>
              </a:rPr>
              <a:t>PROGRESS CHECK · END OF SESSION</a:t>
            </a:r>
            <a:endParaRPr lang="en-US" sz="950" dirty="0"/>
          </a:p>
        </p:txBody>
      </p:sp>
      <p:sp>
        <p:nvSpPr>
          <p:cNvPr id="53" name="Text 51"/>
          <p:cNvSpPr txBox="1"/>
          <p:nvPr/>
        </p:nvSpPr>
        <p:spPr>
          <a:xfrm>
            <a:off x="5897880" y="4242816"/>
            <a:ext cx="2743200" cy="566928"/>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Show your cleaning log and ONE decision your group discussed — what else could you have done?</a:t>
            </a:r>
            <a:endParaRPr lang="en-US" sz="950" dirty="0"/>
          </a:p>
        </p:txBody>
      </p:sp>
      <p:sp>
        <p:nvSpPr>
          <p:cNvPr id="54" name="Text 52"/>
          <p:cNvSpPr txBox="1"/>
          <p:nvPr/>
        </p:nvSpPr>
        <p:spPr>
          <a:xfrm>
            <a:off x="411480" y="4773168"/>
            <a:ext cx="5120640" cy="228600"/>
          </a:xfrm>
          <a:prstGeom prst="rect">
            <a:avLst/>
          </a:prstGeom>
          <a:noFill/>
          <a:ln/>
        </p:spPr>
        <p:txBody>
          <a:bodyPr wrap="square" lIns="0" tIns="0" rIns="0" bIns="0" rtlCol="0" anchor="ctr"/>
          <a:lstStyle/>
          <a:p>
            <a:pPr indent="0" marL="0">
              <a:buNone/>
            </a:pPr>
            <a:r>
              <a:rPr lang="en-US" sz="1000" i="1" dirty="0">
                <a:solidFill>
                  <a:srgbClr val="6B6762"/>
                </a:solidFill>
                <a:latin typeface="Calibri" pitchFamily="34" charset="0"/>
                <a:ea typeface="Calibri" pitchFamily="34" charset="-122"/>
                <a:cs typeface="Calibri" pitchFamily="34" charset="-120"/>
              </a:rPr>
              <a:t>Groups of 3–5 · Jupyter notebook (pandas) · start in class (~40 min), finish before the next session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11480" y="201168"/>
            <a:ext cx="8321040" cy="384048"/>
          </a:xfrm>
          <a:prstGeom prst="rect">
            <a:avLst/>
          </a:prstGeom>
          <a:noFill/>
          <a:ln/>
        </p:spPr>
        <p:txBody>
          <a:bodyPr wrap="square" lIns="0" tIns="0" rIns="0" bIns="0" rtlCol="0" anchor="ctr"/>
          <a:lstStyle/>
          <a:p>
            <a:pPr indent="0" marL="0">
              <a:buNone/>
            </a:pPr>
            <a:r>
              <a:rPr lang="en-US" sz="1900" b="1" dirty="0">
                <a:solidFill>
                  <a:srgbClr val="D9480F"/>
                </a:solidFill>
                <a:latin typeface="Calibri" pitchFamily="34" charset="0"/>
                <a:ea typeface="Calibri" pitchFamily="34" charset="-122"/>
                <a:cs typeface="Calibri" pitchFamily="34" charset="-120"/>
              </a:rPr>
              <a:t>Lab 2.3 Worksheet: Cleaning Log</a:t>
            </a:r>
            <a:endParaRPr lang="en-US" sz="1900" dirty="0"/>
          </a:p>
        </p:txBody>
      </p:sp>
      <p:sp>
        <p:nvSpPr>
          <p:cNvPr id="3" name="Text 1"/>
          <p:cNvSpPr txBox="1"/>
          <p:nvPr/>
        </p:nvSpPr>
        <p:spPr>
          <a:xfrm>
            <a:off x="411480" y="566928"/>
            <a:ext cx="8321040" cy="182880"/>
          </a:xfrm>
          <a:prstGeom prst="rect">
            <a:avLst/>
          </a:prstGeom>
          <a:noFill/>
          <a:ln/>
        </p:spPr>
        <p:txBody>
          <a:bodyPr wrap="square" lIns="0" tIns="0" rIns="0" bIns="0" rtlCol="0" anchor="ctr"/>
          <a:lstStyle/>
          <a:p>
            <a:pPr indent="0" marL="0">
              <a:buNone/>
            </a:pPr>
            <a:r>
              <a:rPr lang="en-US" sz="900" i="1" dirty="0">
                <a:solidFill>
                  <a:srgbClr val="6B6762"/>
                </a:solidFill>
                <a:latin typeface="Calibri" pitchFamily="34" charset="0"/>
                <a:ea typeface="Calibri" pitchFamily="34" charset="-122"/>
                <a:cs typeface="Calibri" pitchFamily="34" charset="-120"/>
              </a:rPr>
              <a:t>Preview only — fill in the editable worksheet from Moodle.</a:t>
            </a:r>
            <a:endParaRPr lang="en-US" sz="900" dirty="0"/>
          </a:p>
        </p:txBody>
      </p:sp>
      <p:sp>
        <p:nvSpPr>
          <p:cNvPr id="4" name="Text 2"/>
          <p:cNvSpPr txBox="1"/>
          <p:nvPr/>
        </p:nvSpPr>
        <p:spPr>
          <a:xfrm>
            <a:off x="411480" y="822960"/>
            <a:ext cx="640080" cy="237744"/>
          </a:xfrm>
          <a:prstGeom prst="rect">
            <a:avLst/>
          </a:prstGeom>
          <a:noFill/>
          <a:ln/>
        </p:spPr>
        <p:txBody>
          <a:bodyPr wrap="square" lIns="0" tIns="0" rIns="0" bIns="0" rtlCol="0" anchor="ctr"/>
          <a:lstStyle/>
          <a:p>
            <a:pPr indent="0" marL="0">
              <a:buNone/>
            </a:pPr>
            <a:r>
              <a:rPr lang="en-US" sz="1000" b="1" dirty="0">
                <a:solidFill>
                  <a:srgbClr val="0B5A43"/>
                </a:solidFill>
                <a:latin typeface="Calibri" pitchFamily="34" charset="0"/>
                <a:ea typeface="Calibri" pitchFamily="34" charset="-122"/>
                <a:cs typeface="Calibri" pitchFamily="34" charset="-120"/>
              </a:rPr>
              <a:t>Group Nr</a:t>
            </a:r>
            <a:endParaRPr lang="en-US" sz="1000" dirty="0"/>
          </a:p>
        </p:txBody>
      </p:sp>
      <p:sp>
        <p:nvSpPr>
          <p:cNvPr id="5" name="Group Nr"/>
          <p:cNvSpPr/>
          <p:nvPr/>
        </p:nvSpPr>
        <p:spPr>
          <a:xfrm>
            <a:off x="1024128" y="822960"/>
            <a:ext cx="411480" cy="237744"/>
          </a:xfrm>
          <a:prstGeom prst="rect">
            <a:avLst/>
          </a:prstGeom>
          <a:solidFill>
            <a:srgbClr val="FFFFFF"/>
          </a:solidFill>
          <a:ln w="9525">
            <a:solidFill>
              <a:srgbClr val="B9B4AD"/>
            </a:solidFill>
            <a:prstDash val="dash"/>
          </a:ln>
        </p:spPr>
        <p:txBody>
          <a:bodyPr wrap="square" lIns="38100" tIns="38100" rIns="38100" bIns="38100" rtlCol="0" anchor="ctr"/>
          <a:lstStyle/>
          <a:p>
            <a:pPr indent="0" marL="0">
              <a:buNone/>
            </a:pPr>
            <a:r>
              <a:rPr lang="en-US" sz="1000" i="1" dirty="0">
                <a:solidFill>
                  <a:srgbClr val="8A8680"/>
                </a:solidFill>
                <a:latin typeface="Calibri" pitchFamily="34" charset="0"/>
                <a:ea typeface="Calibri" pitchFamily="34" charset="-122"/>
                <a:cs typeface="Calibri" pitchFamily="34" charset="-120"/>
              </a:rPr>
              <a:t>__</a:t>
            </a:r>
            <a:endParaRPr lang="en-US" sz="1000" dirty="0"/>
          </a:p>
        </p:txBody>
      </p:sp>
      <p:sp>
        <p:nvSpPr>
          <p:cNvPr id="6" name="Text 4"/>
          <p:cNvSpPr txBox="1"/>
          <p:nvPr/>
        </p:nvSpPr>
        <p:spPr>
          <a:xfrm>
            <a:off x="1600200" y="822960"/>
            <a:ext cx="640080" cy="237744"/>
          </a:xfrm>
          <a:prstGeom prst="rect">
            <a:avLst/>
          </a:prstGeom>
          <a:noFill/>
          <a:ln/>
        </p:spPr>
        <p:txBody>
          <a:bodyPr wrap="square" lIns="0" tIns="0" rIns="0" bIns="0" rtlCol="0" anchor="ctr"/>
          <a:lstStyle/>
          <a:p>
            <a:pPr indent="0" marL="0">
              <a:buNone/>
            </a:pPr>
            <a:r>
              <a:rPr lang="en-US" sz="1000" b="1" dirty="0">
                <a:solidFill>
                  <a:srgbClr val="0B5A43"/>
                </a:solidFill>
                <a:latin typeface="Calibri" pitchFamily="34" charset="0"/>
                <a:ea typeface="Calibri" pitchFamily="34" charset="-122"/>
                <a:cs typeface="Calibri" pitchFamily="34" charset="-120"/>
              </a:rPr>
              <a:t>Members</a:t>
            </a:r>
            <a:endParaRPr lang="en-US" sz="1000" dirty="0"/>
          </a:p>
        </p:txBody>
      </p:sp>
      <p:sp>
        <p:nvSpPr>
          <p:cNvPr id="7" name="Members"/>
          <p:cNvSpPr/>
          <p:nvPr/>
        </p:nvSpPr>
        <p:spPr>
          <a:xfrm>
            <a:off x="2240280" y="822960"/>
            <a:ext cx="4389120" cy="237744"/>
          </a:xfrm>
          <a:prstGeom prst="rect">
            <a:avLst/>
          </a:prstGeom>
          <a:solidFill>
            <a:srgbClr val="FFFFFF"/>
          </a:solidFill>
          <a:ln w="9525">
            <a:solidFill>
              <a:srgbClr val="B9B4AD"/>
            </a:solidFill>
            <a:prstDash val="dash"/>
          </a:ln>
        </p:spPr>
        <p:txBody>
          <a:bodyPr wrap="square" lIns="38100" tIns="38100" rIns="38100" bIns="38100" rtlCol="0" anchor="ctr"/>
          <a:lstStyle/>
          <a:p>
            <a:pPr indent="0" marL="0">
              <a:buNone/>
            </a:pPr>
            <a:r>
              <a:rPr lang="en-US" sz="1000" i="1" dirty="0">
                <a:solidFill>
                  <a:srgbClr val="8A8680"/>
                </a:solidFill>
                <a:latin typeface="Calibri" pitchFamily="34" charset="0"/>
                <a:ea typeface="Calibri" pitchFamily="34" charset="-122"/>
                <a:cs typeface="Calibri" pitchFamily="34" charset="-120"/>
              </a:rPr>
              <a:t>Full names of all members</a:t>
            </a:r>
            <a:endParaRPr lang="en-US" sz="1000" dirty="0"/>
          </a:p>
        </p:txBody>
      </p:sp>
      <p:sp>
        <p:nvSpPr>
          <p:cNvPr id="8" name="Text 6"/>
          <p:cNvSpPr txBox="1"/>
          <p:nvPr/>
        </p:nvSpPr>
        <p:spPr>
          <a:xfrm>
            <a:off x="411480" y="1161288"/>
            <a:ext cx="5486400" cy="182880"/>
          </a:xfrm>
          <a:prstGeom prst="rect">
            <a:avLst/>
          </a:prstGeom>
          <a:noFill/>
          <a:ln/>
        </p:spPr>
        <p:txBody>
          <a:bodyPr wrap="square" lIns="0" tIns="0" rIns="0" bIns="0" rtlCol="0" anchor="ctr"/>
          <a:lstStyle/>
          <a:p>
            <a:pPr indent="0" marL="0">
              <a:buNone/>
            </a:pPr>
            <a:r>
              <a:rPr lang="en-US" sz="900" b="1" spc="100" kern="0" dirty="0">
                <a:solidFill>
                  <a:srgbClr val="C8691A"/>
                </a:solidFill>
                <a:latin typeface="Calibri" pitchFamily="34" charset="0"/>
                <a:ea typeface="Calibri" pitchFamily="34" charset="-122"/>
                <a:cs typeface="Calibri" pitchFamily="34" charset="-120"/>
              </a:rPr>
              <a:t>A · CLEANING LOG  — one row per decision</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74320"/>
                <a:gridCol w="1463040"/>
                <a:gridCol w="1371600"/>
                <a:gridCol w="2377440"/>
                <a:gridCol w="283464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C8691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Issue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C8691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Rows (order_id)</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C8691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Action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C8691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Why</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C8691A"/>
                    </a:solidFill>
                  </a:tcPr>
                </a:tc>
              </a:tr>
              <a:tr h="237744">
                <a:tc>
                  <a:txBody>
                    <a:bodyPr/>
                    <a:lstStyle/>
                    <a:p>
                      <a:pPr indent="0" marL="0">
                        <a:buNone/>
                      </a:pPr>
                      <a:r>
                        <a:rPr lang="en-US" sz="900" b="1" dirty="0">
                          <a:solidFill>
                            <a:srgbClr val="7A3E0C"/>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EFDF"/>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exact duplicate row</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delete / fix / fill / flag / quarantine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37744">
                <a:tc>
                  <a:txBody>
                    <a:bodyPr/>
                    <a:lstStyle/>
                    <a:p>
                      <a:pPr indent="0" marL="0">
                        <a:buNone/>
                      </a:pPr>
                      <a:r>
                        <a:rPr lang="en-US" sz="900" b="1" dirty="0">
                          <a:solidFill>
                            <a:srgbClr val="7A3E0C"/>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EFDF"/>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dates in 3 formats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delete / fix / fill / flag / quarantine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37744">
                <a:tc>
                  <a:txBody>
                    <a:bodyPr/>
                    <a:lstStyle/>
                    <a:p>
                      <a:pPr indent="0" marL="0">
                        <a:buNone/>
                      </a:pPr>
                      <a:r>
                        <a:rPr lang="en-US" sz="900" b="1" dirty="0">
                          <a:solidFill>
                            <a:srgbClr val="7A3E0C"/>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EFDF"/>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city spelling / spaces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delete / fix / fill / flag / quarantine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37744">
                <a:tc>
                  <a:txBody>
                    <a:bodyPr/>
                    <a:lstStyle/>
                    <a:p>
                      <a:pPr indent="0" marL="0">
                        <a:buNone/>
                      </a:pPr>
                      <a:r>
                        <a:rPr lang="en-US" sz="900" b="1" dirty="0">
                          <a:solidFill>
                            <a:srgbClr val="7A3E0C"/>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EFDF"/>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missing values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delete / fix / fill / flag / quarantine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37744">
                <a:tc>
                  <a:txBody>
                    <a:bodyPr/>
                    <a:lstStyle/>
                    <a:p>
                      <a:pPr indent="0" marL="0">
                        <a:buNone/>
                      </a:pPr>
                      <a:r>
                        <a:rPr lang="en-US" sz="900" b="1" dirty="0">
                          <a:solidFill>
                            <a:srgbClr val="7A3E0C"/>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EFDF"/>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invalid values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delete / fix / fill / flag / quarantine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37744">
                <a:tc>
                  <a:txBody>
                    <a:bodyPr/>
                    <a:lstStyle/>
                    <a:p>
                      <a:pPr indent="0" marL="0">
                        <a:buNone/>
                      </a:pPr>
                      <a:r>
                        <a:rPr lang="en-US" sz="900" b="1" dirty="0">
                          <a:solidFill>
                            <a:srgbClr val="7A3E0C"/>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EFDF"/>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outlier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delete / fix / fill / flag / quarantine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37744">
                <a:tc>
                  <a:txBody>
                    <a:bodyPr/>
                    <a:lstStyle/>
                    <a:p>
                      <a:pPr indent="0" marL="0">
                        <a:buNone/>
                      </a:pPr>
                      <a:r>
                        <a:rPr lang="en-US" sz="900" b="1" dirty="0">
                          <a:solidFill>
                            <a:srgbClr val="7A3E0C"/>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EFDF"/>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your own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bl>
          </a:graphicData>
        </a:graphic>
      </p:graphicFrame>
      <p:sp>
        <p:nvSpPr>
          <p:cNvPr id="10" name="Text 7"/>
          <p:cNvSpPr txBox="1"/>
          <p:nvPr/>
        </p:nvSpPr>
        <p:spPr>
          <a:xfrm>
            <a:off x="411480" y="3401568"/>
            <a:ext cx="2743200" cy="182880"/>
          </a:xfrm>
          <a:prstGeom prst="rect">
            <a:avLst/>
          </a:prstGeom>
          <a:noFill/>
          <a:ln/>
        </p:spPr>
        <p:txBody>
          <a:bodyPr wrap="square" lIns="0" tIns="0" rIns="0" bIns="0" rtlCol="0" anchor="ctr"/>
          <a:lstStyle/>
          <a:p>
            <a:pPr indent="0" marL="0">
              <a:buNone/>
            </a:pPr>
            <a:r>
              <a:rPr lang="en-US" sz="900" b="1" spc="100" kern="0" dirty="0">
                <a:solidFill>
                  <a:srgbClr val="C8691A"/>
                </a:solidFill>
                <a:latin typeface="Calibri" pitchFamily="34" charset="0"/>
                <a:ea typeface="Calibri" pitchFamily="34" charset="-122"/>
                <a:cs typeface="Calibri" pitchFamily="34" charset="-120"/>
              </a:rPr>
              <a:t>B · ROW COUNTS</a:t>
            </a:r>
            <a:endParaRPr lang="en-US" sz="9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11480" y="3602736"/>
          <a:ext cx="3657600" cy="914400"/>
        </p:xfrm>
        <a:graphic>
          <a:graphicData uri="http://schemas.openxmlformats.org/drawingml/2006/table">
            <a:tbl>
              <a:tblPr/>
              <a:tblGrid>
                <a:gridCol w="914400"/>
                <a:gridCol w="914400"/>
                <a:gridCol w="914400"/>
                <a:gridCol w="91440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Raw</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C8691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Clean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C8691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Quarantine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C8691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Deleted</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C8691A"/>
                    </a:solidFill>
                  </a:tcPr>
                </a:tc>
              </a:tr>
              <a:tr h="237744">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bl>
          </a:graphicData>
        </a:graphic>
      </p:graphicFrame>
      <p:sp>
        <p:nvSpPr>
          <p:cNvPr id="12" name="Text 8"/>
          <p:cNvSpPr txBox="1"/>
          <p:nvPr/>
        </p:nvSpPr>
        <p:spPr>
          <a:xfrm>
            <a:off x="411480" y="4114800"/>
            <a:ext cx="3657600" cy="182880"/>
          </a:xfrm>
          <a:prstGeom prst="rect">
            <a:avLst/>
          </a:prstGeom>
          <a:noFill/>
          <a:ln/>
        </p:spPr>
        <p:txBody>
          <a:bodyPr wrap="square" lIns="0" tIns="0" rIns="0" bIns="0" rtlCol="0" anchor="ctr"/>
          <a:lstStyle/>
          <a:p>
            <a:pPr indent="0" marL="0">
              <a:buNone/>
            </a:pPr>
            <a:r>
              <a:rPr lang="en-US" sz="850" i="1" dirty="0">
                <a:solidFill>
                  <a:srgbClr val="6B6762"/>
                </a:solidFill>
                <a:latin typeface="Calibri" pitchFamily="34" charset="0"/>
                <a:ea typeface="Calibri" pitchFamily="34" charset="-122"/>
                <a:cs typeface="Calibri" pitchFamily="34" charset="-120"/>
              </a:rPr>
              <a:t>Raw = clean + quarantine + deleted?</a:t>
            </a:r>
            <a:endParaRPr lang="en-US" sz="850" dirty="0"/>
          </a:p>
        </p:txBody>
      </p:sp>
      <p:sp>
        <p:nvSpPr>
          <p:cNvPr id="13" name="Text 9"/>
          <p:cNvSpPr txBox="1"/>
          <p:nvPr/>
        </p:nvSpPr>
        <p:spPr>
          <a:xfrm>
            <a:off x="4343400" y="3401568"/>
            <a:ext cx="3657600" cy="182880"/>
          </a:xfrm>
          <a:prstGeom prst="rect">
            <a:avLst/>
          </a:prstGeom>
          <a:noFill/>
          <a:ln/>
        </p:spPr>
        <p:txBody>
          <a:bodyPr wrap="square" lIns="0" tIns="0" rIns="0" bIns="0" rtlCol="0" anchor="ctr"/>
          <a:lstStyle/>
          <a:p>
            <a:pPr indent="0" marL="0">
              <a:buNone/>
            </a:pPr>
            <a:r>
              <a:rPr lang="en-US" sz="900" b="1" spc="100" kern="0" dirty="0">
                <a:solidFill>
                  <a:srgbClr val="C8691A"/>
                </a:solidFill>
                <a:latin typeface="Calibri" pitchFamily="34" charset="0"/>
                <a:ea typeface="Calibri" pitchFamily="34" charset="-122"/>
                <a:cs typeface="Calibri" pitchFamily="34" charset="-120"/>
              </a:rPr>
              <a:t>C · KPIs BEFORE → AFTER</a:t>
            </a:r>
            <a:endParaRPr lang="en-US" sz="90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4343400" y="3602736"/>
          <a:ext cx="4389120" cy="914400"/>
        </p:xfrm>
        <a:graphic>
          <a:graphicData uri="http://schemas.openxmlformats.org/drawingml/2006/table">
            <a:tbl>
              <a:tblPr/>
              <a:tblGrid>
                <a:gridCol w="1463040"/>
                <a:gridCol w="1463040"/>
                <a:gridCol w="1463040"/>
              </a:tblGrid>
              <a:tr h="21945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KPI</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C8691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Before (L2.1)</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C8691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After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C8691A"/>
                    </a:solidFill>
                  </a:tcPr>
                </a:tc>
              </a:tr>
              <a:tr h="219456">
                <a:tc>
                  <a:txBody>
                    <a:bodyPr/>
                    <a:lstStyle/>
                    <a:p>
                      <a:pPr indent="0" marL="0">
                        <a:buNone/>
                      </a:pPr>
                      <a:r>
                        <a:rPr lang="en-US" sz="900" b="1" dirty="0">
                          <a:solidFill>
                            <a:srgbClr val="7A3E0C"/>
                          </a:solidFill>
                          <a:latin typeface="Calibri" pitchFamily="34" charset="0"/>
                          <a:ea typeface="Calibri" pitchFamily="34" charset="-122"/>
                          <a:cs typeface="Calibri" pitchFamily="34" charset="-120"/>
                        </a:rPr>
                        <a:t>Completeness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EFDF"/>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19456">
                <a:tc>
                  <a:txBody>
                    <a:bodyPr/>
                    <a:lstStyle/>
                    <a:p>
                      <a:pPr indent="0" marL="0">
                        <a:buNone/>
                      </a:pPr>
                      <a:r>
                        <a:rPr lang="en-US" sz="900" b="1" dirty="0">
                          <a:solidFill>
                            <a:srgbClr val="7A3E0C"/>
                          </a:solidFill>
                          <a:latin typeface="Calibri" pitchFamily="34" charset="0"/>
                          <a:ea typeface="Calibri" pitchFamily="34" charset="-122"/>
                          <a:cs typeface="Calibri" pitchFamily="34" charset="-120"/>
                        </a:rPr>
                        <a:t>Duplication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EFDF"/>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19456">
                <a:tc>
                  <a:txBody>
                    <a:bodyPr/>
                    <a:lstStyle/>
                    <a:p>
                      <a:pPr indent="0" marL="0">
                        <a:buNone/>
                      </a:pPr>
                      <a:r>
                        <a:rPr lang="en-US" sz="900" b="1" dirty="0">
                          <a:solidFill>
                            <a:srgbClr val="7A3E0C"/>
                          </a:solidFill>
                          <a:latin typeface="Calibri" pitchFamily="34" charset="0"/>
                          <a:ea typeface="Calibri" pitchFamily="34" charset="-122"/>
                          <a:cs typeface="Calibri" pitchFamily="34" charset="-120"/>
                        </a:rPr>
                        <a:t>Validity</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EFDF"/>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bl>
          </a:graphicData>
        </a:graphic>
      </p:graphicFrame>
      <p:sp>
        <p:nvSpPr>
          <p:cNvPr id="15" name="Text 10"/>
          <p:cNvSpPr txBox="1"/>
          <p:nvPr/>
        </p:nvSpPr>
        <p:spPr>
          <a:xfrm>
            <a:off x="411480" y="4572000"/>
            <a:ext cx="8321040" cy="201168"/>
          </a:xfrm>
          <a:prstGeom prst="rect">
            <a:avLst/>
          </a:prstGeom>
          <a:noFill/>
          <a:ln/>
        </p:spPr>
        <p:txBody>
          <a:bodyPr wrap="square" lIns="0" tIns="0" rIns="0" bIns="0" rtlCol="0" anchor="ctr"/>
          <a:lstStyle/>
          <a:p>
            <a:pPr indent="0" marL="0">
              <a:buNone/>
            </a:pPr>
            <a:r>
              <a:rPr lang="en-US" sz="900" b="1" dirty="0">
                <a:solidFill>
                  <a:srgbClr val="D9480F"/>
                </a:solidFill>
                <a:latin typeface="Calibri" pitchFamily="34" charset="0"/>
                <a:ea typeface="Calibri" pitchFamily="34" charset="-122"/>
                <a:cs typeface="Calibri" pitchFamily="34" charset="-120"/>
              </a:rPr>
              <a:t>Before you submit:  </a:t>
            </a:r>
            <a:pPr indent="0" marL="0">
              <a:buNone/>
            </a:pPr>
            <a:r>
              <a:rPr lang="en-US" sz="900" dirty="0">
                <a:solidFill>
                  <a:srgbClr val="3D3D3D"/>
                </a:solidFill>
                <a:latin typeface="Calibri" pitchFamily="34" charset="0"/>
                <a:ea typeface="Calibri" pitchFamily="34" charset="-122"/>
                <a:cs typeface="Calibri" pitchFamily="34" charset="-120"/>
              </a:rPr>
              <a:t>☐ raw file untouched    ☐ every decision logged    ☐ counts add up    ☐ clean + quarantine CSV in ZIP</a:t>
            </a:r>
            <a:endParaRPr lang="en-US" sz="900" dirty="0"/>
          </a:p>
        </p:txBody>
      </p:sp>
      <p:sp>
        <p:nvSpPr>
          <p:cNvPr id="16" name="Text 11"/>
          <p:cNvSpPr txBox="1"/>
          <p:nvPr/>
        </p:nvSpPr>
        <p:spPr>
          <a:xfrm>
            <a:off x="411480" y="4791456"/>
            <a:ext cx="8321040" cy="182880"/>
          </a:xfrm>
          <a:prstGeom prst="rect">
            <a:avLst/>
          </a:prstGeom>
          <a:noFill/>
          <a:ln/>
        </p:spPr>
        <p:txBody>
          <a:bodyPr wrap="square" lIns="0" tIns="0" rIns="0" bIns="0" rtlCol="0" anchor="ctr"/>
          <a:lstStyle/>
          <a:p>
            <a:pPr indent="0" marL="0">
              <a:buNone/>
            </a:pPr>
            <a:r>
              <a:rPr lang="en-US" sz="850" i="1" dirty="0">
                <a:solidFill>
                  <a:srgbClr val="6B6762"/>
                </a:solidFill>
                <a:latin typeface="Calibri" pitchFamily="34" charset="0"/>
                <a:ea typeface="Calibri" pitchFamily="34" charset="-122"/>
                <a:cs typeface="Calibri" pitchFamily="34" charset="-120"/>
              </a:rPr>
              <a:t>Group representative uploads Lab2.3_Group&lt;Nr&gt;.zip on Moodle · Deadline: before the next session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11480" y="256032"/>
            <a:ext cx="7863840" cy="457200"/>
          </a:xfrm>
          <a:prstGeom prst="rect">
            <a:avLst/>
          </a:prstGeom>
          <a:noFill/>
          <a:ln/>
        </p:spPr>
        <p:txBody>
          <a:bodyPr wrap="square" lIns="0" tIns="0" rIns="0" bIns="0" rtlCol="0" anchor="ctr"/>
          <a:lstStyle/>
          <a:p>
            <a:pPr indent="0" marL="0">
              <a:buNone/>
            </a:pPr>
            <a:r>
              <a:rPr lang="en-US" sz="2200" b="1" dirty="0">
                <a:solidFill>
                  <a:srgbClr val="D9480F"/>
                </a:solidFill>
                <a:latin typeface="Calibri" pitchFamily="34" charset="0"/>
                <a:ea typeface="Calibri" pitchFamily="34" charset="-122"/>
                <a:cs typeface="Calibri" pitchFamily="34" charset="-120"/>
              </a:rPr>
              <a:t>Lab 2.4: Transformation &amp; Integration</a:t>
            </a:r>
            <a:endParaRPr lang="en-US" sz="2200" dirty="0"/>
          </a:p>
        </p:txBody>
      </p:sp>
      <p:sp>
        <p:nvSpPr>
          <p:cNvPr id="3" name="Text 1"/>
          <p:cNvSpPr txBox="1"/>
          <p:nvPr/>
        </p:nvSpPr>
        <p:spPr>
          <a:xfrm>
            <a:off x="411480" y="749808"/>
            <a:ext cx="8321040" cy="274320"/>
          </a:xfrm>
          <a:prstGeom prst="rect">
            <a:avLst/>
          </a:prstGeom>
          <a:noFill/>
          <a:ln/>
        </p:spPr>
        <p:txBody>
          <a:bodyPr wrap="square" lIns="0" tIns="0" rIns="0" bIns="0" rtlCol="0" anchor="ctr"/>
          <a:lstStyle/>
          <a:p>
            <a:pPr indent="0" marL="0">
              <a:buNone/>
            </a:pPr>
            <a:r>
              <a:rPr lang="en-US" sz="1200" b="1" dirty="0">
                <a:solidFill>
                  <a:srgbClr val="0B5A43"/>
                </a:solidFill>
                <a:latin typeface="Calibri" pitchFamily="34" charset="0"/>
                <a:ea typeface="Calibri" pitchFamily="34" charset="-122"/>
                <a:cs typeface="Calibri" pitchFamily="34" charset="-120"/>
              </a:rPr>
              <a:t>Goal: </a:t>
            </a:r>
            <a:pPr indent="0" marL="0">
              <a:buNone/>
            </a:pPr>
            <a:r>
              <a:rPr lang="en-US" sz="1200" dirty="0">
                <a:solidFill>
                  <a:srgbClr val="3D3D3D"/>
                </a:solidFill>
                <a:latin typeface="Calibri" pitchFamily="34" charset="0"/>
                <a:ea typeface="Calibri" pitchFamily="34" charset="-122"/>
                <a:cs typeface="Calibri" pitchFamily="34" charset="-120"/>
              </a:rPr>
              <a:t>Make the data analysis-ready: one currency, new features, both months, and the customer segment.</a:t>
            </a:r>
            <a:endParaRPr lang="en-US" sz="1200" dirty="0"/>
          </a:p>
        </p:txBody>
      </p:sp>
      <p:sp>
        <p:nvSpPr>
          <p:cNvPr id="4" name="Text 2"/>
          <p:cNvSpPr txBox="1"/>
          <p:nvPr/>
        </p:nvSpPr>
        <p:spPr>
          <a:xfrm>
            <a:off x="411480" y="1005840"/>
            <a:ext cx="8321040" cy="274320"/>
          </a:xfrm>
          <a:prstGeom prst="rect">
            <a:avLst/>
          </a:prstGeom>
          <a:noFill/>
          <a:ln/>
        </p:spPr>
        <p:txBody>
          <a:bodyPr wrap="square" lIns="0" tIns="0" rIns="0" bIns="0" rtlCol="0" anchor="ctr"/>
          <a:lstStyle/>
          <a:p>
            <a:pPr indent="0" marL="0">
              <a:buNone/>
            </a:pPr>
            <a:r>
              <a:rPr lang="en-US" sz="1200" b="1" dirty="0">
                <a:solidFill>
                  <a:srgbClr val="0B5A43"/>
                </a:solidFill>
                <a:latin typeface="Calibri" pitchFamily="34" charset="0"/>
                <a:ea typeface="Calibri" pitchFamily="34" charset="-122"/>
                <a:cs typeface="Calibri" pitchFamily="34" charset="-120"/>
              </a:rPr>
              <a:t>Scenario: </a:t>
            </a:r>
            <a:pPr indent="0" marL="0">
              <a:buNone/>
            </a:pPr>
            <a:r>
              <a:rPr lang="en-US" sz="1200" dirty="0">
                <a:solidFill>
                  <a:srgbClr val="3D3D3D"/>
                </a:solidFill>
                <a:latin typeface="Calibri" pitchFamily="34" charset="0"/>
                <a:ea typeface="Calibri" pitchFamily="34" charset="-122"/>
                <a:cs typeface="Calibri" pitchFamily="34" charset="-120"/>
              </a:rPr>
              <a:t>The manager asks: revenue in EUR by city and by customer segment, for March and April.</a:t>
            </a:r>
            <a:endParaRPr lang="en-US" sz="1200" dirty="0"/>
          </a:p>
        </p:txBody>
      </p:sp>
      <p:sp>
        <p:nvSpPr>
          <p:cNvPr id="5" name="Text 3"/>
          <p:cNvSpPr txBox="1"/>
          <p:nvPr/>
        </p:nvSpPr>
        <p:spPr>
          <a:xfrm>
            <a:off x="411480" y="1371600"/>
            <a:ext cx="2743200" cy="201168"/>
          </a:xfrm>
          <a:prstGeom prst="rect">
            <a:avLst/>
          </a:prstGeom>
          <a:noFill/>
          <a:ln/>
        </p:spPr>
        <p:txBody>
          <a:bodyPr wrap="square" lIns="0" tIns="0" rIns="0" bIns="0" rtlCol="0" anchor="ctr"/>
          <a:lstStyle/>
          <a:p>
            <a:pPr indent="0" marL="0">
              <a:buNone/>
            </a:pPr>
            <a:r>
              <a:rPr lang="en-US" sz="1000" b="1" spc="150" kern="0" dirty="0">
                <a:solidFill>
                  <a:srgbClr val="2E8B6A"/>
                </a:solidFill>
                <a:latin typeface="Calibri" pitchFamily="34" charset="0"/>
                <a:ea typeface="Calibri" pitchFamily="34" charset="-122"/>
                <a:cs typeface="Calibri" pitchFamily="34" charset="-120"/>
              </a:rPr>
              <a:t>YOUR TASKS</a:t>
            </a:r>
            <a:endParaRPr lang="en-US" sz="1000" dirty="0"/>
          </a:p>
        </p:txBody>
      </p:sp>
      <p:sp>
        <p:nvSpPr>
          <p:cNvPr id="6" name="Step 1"/>
          <p:cNvSpPr/>
          <p:nvPr/>
        </p:nvSpPr>
        <p:spPr>
          <a:xfrm>
            <a:off x="411480" y="1609344"/>
            <a:ext cx="5120640" cy="457200"/>
          </a:xfrm>
          <a:prstGeom prst="roundRect">
            <a:avLst>
              <a:gd name="adj" fmla="val 16000"/>
            </a:avLst>
          </a:prstGeom>
          <a:solidFill>
            <a:srgbClr val="E3F4EC"/>
          </a:solidFill>
          <a:ln w="12700">
            <a:solidFill>
              <a:srgbClr val="E3F4EC"/>
            </a:solidFill>
            <a:prstDash val="solid"/>
          </a:ln>
        </p:spPr>
      </p:sp>
      <p:sp>
        <p:nvSpPr>
          <p:cNvPr id="7" name="Shape 5"/>
          <p:cNvSpPr/>
          <p:nvPr/>
        </p:nvSpPr>
        <p:spPr>
          <a:xfrm>
            <a:off x="512064" y="1682496"/>
            <a:ext cx="310896" cy="310896"/>
          </a:xfrm>
          <a:prstGeom prst="ellipse">
            <a:avLst/>
          </a:prstGeom>
          <a:solidFill>
            <a:srgbClr val="2E8B6A"/>
          </a:solidFill>
          <a:ln w="12700">
            <a:solidFill>
              <a:srgbClr val="2E8B6A"/>
            </a:solidFill>
            <a:prstDash val="solid"/>
          </a:ln>
        </p:spPr>
      </p:sp>
      <p:sp>
        <p:nvSpPr>
          <p:cNvPr id="8" name="Text 6"/>
          <p:cNvSpPr txBox="1"/>
          <p:nvPr/>
        </p:nvSpPr>
        <p:spPr>
          <a:xfrm>
            <a:off x="512064" y="168249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txBox="1"/>
          <p:nvPr/>
        </p:nvSpPr>
        <p:spPr>
          <a:xfrm>
            <a:off x="941832" y="1627632"/>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Convert currency</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map() the given rates: 1 CHF = 1.04 EUR, 1 USD = 0.92 EUR</a:t>
            </a:r>
            <a:endParaRPr lang="en-US" sz="1100" dirty="0"/>
          </a:p>
        </p:txBody>
      </p:sp>
      <p:sp>
        <p:nvSpPr>
          <p:cNvPr id="10" name="Shape 8"/>
          <p:cNvSpPr/>
          <p:nvPr/>
        </p:nvSpPr>
        <p:spPr>
          <a:xfrm>
            <a:off x="4828032" y="1700784"/>
            <a:ext cx="621792" cy="274320"/>
          </a:xfrm>
          <a:prstGeom prst="roundRect">
            <a:avLst>
              <a:gd name="adj" fmla="val 26667"/>
            </a:avLst>
          </a:prstGeom>
          <a:solidFill>
            <a:srgbClr val="FFFFFF"/>
          </a:solidFill>
          <a:ln w="12700">
            <a:solidFill>
              <a:srgbClr val="2E8B6A"/>
            </a:solidFill>
            <a:prstDash val="solid"/>
          </a:ln>
        </p:spPr>
      </p:sp>
      <p:sp>
        <p:nvSpPr>
          <p:cNvPr id="11" name="Text 9"/>
          <p:cNvSpPr txBox="1"/>
          <p:nvPr/>
        </p:nvSpPr>
        <p:spPr>
          <a:xfrm>
            <a:off x="4828032" y="1700784"/>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5 min</a:t>
            </a:r>
            <a:endParaRPr lang="en-US" sz="950" dirty="0"/>
          </a:p>
        </p:txBody>
      </p:sp>
      <p:sp>
        <p:nvSpPr>
          <p:cNvPr id="12" name="Step 2"/>
          <p:cNvSpPr/>
          <p:nvPr/>
        </p:nvSpPr>
        <p:spPr>
          <a:xfrm>
            <a:off x="411480" y="2125980"/>
            <a:ext cx="5120640" cy="457200"/>
          </a:xfrm>
          <a:prstGeom prst="roundRect">
            <a:avLst>
              <a:gd name="adj" fmla="val 16000"/>
            </a:avLst>
          </a:prstGeom>
          <a:solidFill>
            <a:srgbClr val="E3F4EC"/>
          </a:solidFill>
          <a:ln w="12700">
            <a:solidFill>
              <a:srgbClr val="E3F4EC"/>
            </a:solidFill>
            <a:prstDash val="solid"/>
          </a:ln>
        </p:spPr>
      </p:sp>
      <p:sp>
        <p:nvSpPr>
          <p:cNvPr id="13" name="Shape 11"/>
          <p:cNvSpPr/>
          <p:nvPr/>
        </p:nvSpPr>
        <p:spPr>
          <a:xfrm>
            <a:off x="512064" y="2199132"/>
            <a:ext cx="310896" cy="310896"/>
          </a:xfrm>
          <a:prstGeom prst="ellipse">
            <a:avLst/>
          </a:prstGeom>
          <a:solidFill>
            <a:srgbClr val="2E8B6A"/>
          </a:solidFill>
          <a:ln w="12700">
            <a:solidFill>
              <a:srgbClr val="2E8B6A"/>
            </a:solidFill>
            <a:prstDash val="solid"/>
          </a:ln>
        </p:spPr>
      </p:sp>
      <p:sp>
        <p:nvSpPr>
          <p:cNvPr id="14" name="Text 12"/>
          <p:cNvSpPr txBox="1"/>
          <p:nvPr/>
        </p:nvSpPr>
        <p:spPr>
          <a:xfrm>
            <a:off x="512064" y="2199132"/>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3"/>
          <p:cNvSpPr txBox="1"/>
          <p:nvPr/>
        </p:nvSpPr>
        <p:spPr>
          <a:xfrm>
            <a:off x="941832" y="2144268"/>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Create features</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line_total_eur = quantity × unit_price_eur · pd.cut → order_size</a:t>
            </a:r>
            <a:endParaRPr lang="en-US" sz="1100" dirty="0"/>
          </a:p>
        </p:txBody>
      </p:sp>
      <p:sp>
        <p:nvSpPr>
          <p:cNvPr id="16" name="Shape 14"/>
          <p:cNvSpPr/>
          <p:nvPr/>
        </p:nvSpPr>
        <p:spPr>
          <a:xfrm>
            <a:off x="4828032" y="2217420"/>
            <a:ext cx="621792" cy="274320"/>
          </a:xfrm>
          <a:prstGeom prst="roundRect">
            <a:avLst>
              <a:gd name="adj" fmla="val 26667"/>
            </a:avLst>
          </a:prstGeom>
          <a:solidFill>
            <a:srgbClr val="FFFFFF"/>
          </a:solidFill>
          <a:ln w="12700">
            <a:solidFill>
              <a:srgbClr val="2E8B6A"/>
            </a:solidFill>
            <a:prstDash val="solid"/>
          </a:ln>
        </p:spPr>
      </p:sp>
      <p:sp>
        <p:nvSpPr>
          <p:cNvPr id="17" name="Text 15"/>
          <p:cNvSpPr txBox="1"/>
          <p:nvPr/>
        </p:nvSpPr>
        <p:spPr>
          <a:xfrm>
            <a:off x="4828032" y="2217420"/>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6 min</a:t>
            </a:r>
            <a:endParaRPr lang="en-US" sz="950" dirty="0"/>
          </a:p>
        </p:txBody>
      </p:sp>
      <p:sp>
        <p:nvSpPr>
          <p:cNvPr id="18" name="Step 3"/>
          <p:cNvSpPr/>
          <p:nvPr/>
        </p:nvSpPr>
        <p:spPr>
          <a:xfrm>
            <a:off x="411480" y="2642616"/>
            <a:ext cx="5120640" cy="457200"/>
          </a:xfrm>
          <a:prstGeom prst="roundRect">
            <a:avLst>
              <a:gd name="adj" fmla="val 16000"/>
            </a:avLst>
          </a:prstGeom>
          <a:solidFill>
            <a:srgbClr val="E3F4EC"/>
          </a:solidFill>
          <a:ln w="12700">
            <a:solidFill>
              <a:srgbClr val="E3F4EC"/>
            </a:solidFill>
            <a:prstDash val="solid"/>
          </a:ln>
        </p:spPr>
      </p:sp>
      <p:sp>
        <p:nvSpPr>
          <p:cNvPr id="19" name="Shape 17"/>
          <p:cNvSpPr/>
          <p:nvPr/>
        </p:nvSpPr>
        <p:spPr>
          <a:xfrm>
            <a:off x="512064" y="2715768"/>
            <a:ext cx="310896" cy="310896"/>
          </a:xfrm>
          <a:prstGeom prst="ellipse">
            <a:avLst/>
          </a:prstGeom>
          <a:solidFill>
            <a:srgbClr val="2E8B6A"/>
          </a:solidFill>
          <a:ln w="12700">
            <a:solidFill>
              <a:srgbClr val="2E8B6A"/>
            </a:solidFill>
            <a:prstDash val="solid"/>
          </a:ln>
        </p:spPr>
      </p:sp>
      <p:sp>
        <p:nvSpPr>
          <p:cNvPr id="20" name="Text 18"/>
          <p:cNvSpPr txBox="1"/>
          <p:nvPr/>
        </p:nvSpPr>
        <p:spPr>
          <a:xfrm>
            <a:off x="512064" y="271576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1" name="Text 19"/>
          <p:cNvSpPr txBox="1"/>
          <p:nvPr/>
        </p:nvSpPr>
        <p:spPr>
          <a:xfrm>
            <a:off x="941832" y="2660904"/>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Union April</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compare columns first! rename(price → unit_price) · pd.concat</a:t>
            </a:r>
            <a:endParaRPr lang="en-US" sz="1100" dirty="0"/>
          </a:p>
        </p:txBody>
      </p:sp>
      <p:sp>
        <p:nvSpPr>
          <p:cNvPr id="22" name="Shape 20"/>
          <p:cNvSpPr/>
          <p:nvPr/>
        </p:nvSpPr>
        <p:spPr>
          <a:xfrm>
            <a:off x="4828032" y="2734056"/>
            <a:ext cx="621792" cy="274320"/>
          </a:xfrm>
          <a:prstGeom prst="roundRect">
            <a:avLst>
              <a:gd name="adj" fmla="val 26667"/>
            </a:avLst>
          </a:prstGeom>
          <a:solidFill>
            <a:srgbClr val="FFFFFF"/>
          </a:solidFill>
          <a:ln w="12700">
            <a:solidFill>
              <a:srgbClr val="2E8B6A"/>
            </a:solidFill>
            <a:prstDash val="solid"/>
          </a:ln>
        </p:spPr>
      </p:sp>
      <p:sp>
        <p:nvSpPr>
          <p:cNvPr id="23" name="Text 21"/>
          <p:cNvSpPr txBox="1"/>
          <p:nvPr/>
        </p:nvSpPr>
        <p:spPr>
          <a:xfrm>
            <a:off x="4828032" y="2734056"/>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7 min</a:t>
            </a:r>
            <a:endParaRPr lang="en-US" sz="950" dirty="0"/>
          </a:p>
        </p:txBody>
      </p:sp>
      <p:sp>
        <p:nvSpPr>
          <p:cNvPr id="24" name="Step 4"/>
          <p:cNvSpPr/>
          <p:nvPr/>
        </p:nvSpPr>
        <p:spPr>
          <a:xfrm>
            <a:off x="411480" y="3159252"/>
            <a:ext cx="5120640" cy="457200"/>
          </a:xfrm>
          <a:prstGeom prst="roundRect">
            <a:avLst>
              <a:gd name="adj" fmla="val 16000"/>
            </a:avLst>
          </a:prstGeom>
          <a:solidFill>
            <a:srgbClr val="E3F4EC"/>
          </a:solidFill>
          <a:ln w="12700">
            <a:solidFill>
              <a:srgbClr val="E3F4EC"/>
            </a:solidFill>
            <a:prstDash val="solid"/>
          </a:ln>
        </p:spPr>
      </p:sp>
      <p:sp>
        <p:nvSpPr>
          <p:cNvPr id="25" name="Shape 23"/>
          <p:cNvSpPr/>
          <p:nvPr/>
        </p:nvSpPr>
        <p:spPr>
          <a:xfrm>
            <a:off x="512064" y="3232404"/>
            <a:ext cx="310896" cy="310896"/>
          </a:xfrm>
          <a:prstGeom prst="ellipse">
            <a:avLst/>
          </a:prstGeom>
          <a:solidFill>
            <a:srgbClr val="2E8B6A"/>
          </a:solidFill>
          <a:ln w="12700">
            <a:solidFill>
              <a:srgbClr val="2E8B6A"/>
            </a:solidFill>
            <a:prstDash val="solid"/>
          </a:ln>
        </p:spPr>
      </p:sp>
      <p:sp>
        <p:nvSpPr>
          <p:cNvPr id="26" name="Text 24"/>
          <p:cNvSpPr txBox="1"/>
          <p:nvPr/>
        </p:nvSpPr>
        <p:spPr>
          <a:xfrm>
            <a:off x="512064" y="3232404"/>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7" name="Text 25"/>
          <p:cNvSpPr txBox="1"/>
          <p:nvPr/>
        </p:nvSpPr>
        <p:spPr>
          <a:xfrm>
            <a:off x="941832" y="3177540"/>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Join customers</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merge(how="left") · print len() before and after — explain!</a:t>
            </a:r>
            <a:endParaRPr lang="en-US" sz="1100" dirty="0"/>
          </a:p>
        </p:txBody>
      </p:sp>
      <p:sp>
        <p:nvSpPr>
          <p:cNvPr id="28" name="Shape 26"/>
          <p:cNvSpPr/>
          <p:nvPr/>
        </p:nvSpPr>
        <p:spPr>
          <a:xfrm>
            <a:off x="4828032" y="3250692"/>
            <a:ext cx="621792" cy="274320"/>
          </a:xfrm>
          <a:prstGeom prst="roundRect">
            <a:avLst>
              <a:gd name="adj" fmla="val 26667"/>
            </a:avLst>
          </a:prstGeom>
          <a:solidFill>
            <a:srgbClr val="FFFFFF"/>
          </a:solidFill>
          <a:ln w="12700">
            <a:solidFill>
              <a:srgbClr val="2E8B6A"/>
            </a:solidFill>
            <a:prstDash val="solid"/>
          </a:ln>
        </p:spPr>
      </p:sp>
      <p:sp>
        <p:nvSpPr>
          <p:cNvPr id="29" name="Text 27"/>
          <p:cNvSpPr txBox="1"/>
          <p:nvPr/>
        </p:nvSpPr>
        <p:spPr>
          <a:xfrm>
            <a:off x="4828032" y="3250692"/>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8 min</a:t>
            </a:r>
            <a:endParaRPr lang="en-US" sz="950" dirty="0"/>
          </a:p>
        </p:txBody>
      </p:sp>
      <p:sp>
        <p:nvSpPr>
          <p:cNvPr id="30" name="Step 5"/>
          <p:cNvSpPr/>
          <p:nvPr/>
        </p:nvSpPr>
        <p:spPr>
          <a:xfrm>
            <a:off x="411480" y="3675888"/>
            <a:ext cx="5120640" cy="457200"/>
          </a:xfrm>
          <a:prstGeom prst="roundRect">
            <a:avLst>
              <a:gd name="adj" fmla="val 16000"/>
            </a:avLst>
          </a:prstGeom>
          <a:solidFill>
            <a:srgbClr val="E3F4EC"/>
          </a:solidFill>
          <a:ln w="12700">
            <a:solidFill>
              <a:srgbClr val="E3F4EC"/>
            </a:solidFill>
            <a:prstDash val="solid"/>
          </a:ln>
        </p:spPr>
      </p:sp>
      <p:sp>
        <p:nvSpPr>
          <p:cNvPr id="31" name="Shape 29"/>
          <p:cNvSpPr/>
          <p:nvPr/>
        </p:nvSpPr>
        <p:spPr>
          <a:xfrm>
            <a:off x="512064" y="3749040"/>
            <a:ext cx="310896" cy="310896"/>
          </a:xfrm>
          <a:prstGeom prst="ellipse">
            <a:avLst/>
          </a:prstGeom>
          <a:solidFill>
            <a:srgbClr val="2E8B6A"/>
          </a:solidFill>
          <a:ln w="12700">
            <a:solidFill>
              <a:srgbClr val="2E8B6A"/>
            </a:solidFill>
            <a:prstDash val="solid"/>
          </a:ln>
        </p:spPr>
      </p:sp>
      <p:sp>
        <p:nvSpPr>
          <p:cNvPr id="32" name="Text 30"/>
          <p:cNvSpPr txBox="1"/>
          <p:nvPr/>
        </p:nvSpPr>
        <p:spPr>
          <a:xfrm>
            <a:off x="512064" y="374904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33" name="Text 31"/>
          <p:cNvSpPr txBox="1"/>
          <p:nvPr/>
        </p:nvSpPr>
        <p:spPr>
          <a:xfrm>
            <a:off x="941832" y="3694176"/>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Encode and scale</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pd.get_dummies(category) · min-max scale line_total_eur</a:t>
            </a:r>
            <a:endParaRPr lang="en-US" sz="1100" dirty="0"/>
          </a:p>
        </p:txBody>
      </p:sp>
      <p:sp>
        <p:nvSpPr>
          <p:cNvPr id="34" name="Shape 32"/>
          <p:cNvSpPr/>
          <p:nvPr/>
        </p:nvSpPr>
        <p:spPr>
          <a:xfrm>
            <a:off x="4828032" y="3767328"/>
            <a:ext cx="621792" cy="274320"/>
          </a:xfrm>
          <a:prstGeom prst="roundRect">
            <a:avLst>
              <a:gd name="adj" fmla="val 26667"/>
            </a:avLst>
          </a:prstGeom>
          <a:solidFill>
            <a:srgbClr val="FFFFFF"/>
          </a:solidFill>
          <a:ln w="12700">
            <a:solidFill>
              <a:srgbClr val="2E8B6A"/>
            </a:solidFill>
            <a:prstDash val="solid"/>
          </a:ln>
        </p:spPr>
      </p:sp>
      <p:sp>
        <p:nvSpPr>
          <p:cNvPr id="35" name="Text 33"/>
          <p:cNvSpPr txBox="1"/>
          <p:nvPr/>
        </p:nvSpPr>
        <p:spPr>
          <a:xfrm>
            <a:off x="4828032" y="3767328"/>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6 min</a:t>
            </a:r>
            <a:endParaRPr lang="en-US" sz="950" dirty="0"/>
          </a:p>
        </p:txBody>
      </p:sp>
      <p:sp>
        <p:nvSpPr>
          <p:cNvPr id="36" name="Step 6"/>
          <p:cNvSpPr/>
          <p:nvPr/>
        </p:nvSpPr>
        <p:spPr>
          <a:xfrm>
            <a:off x="411480" y="4192524"/>
            <a:ext cx="5120640" cy="457200"/>
          </a:xfrm>
          <a:prstGeom prst="roundRect">
            <a:avLst>
              <a:gd name="adj" fmla="val 16000"/>
            </a:avLst>
          </a:prstGeom>
          <a:solidFill>
            <a:srgbClr val="E3F4EC"/>
          </a:solidFill>
          <a:ln w="12700">
            <a:solidFill>
              <a:srgbClr val="E3F4EC"/>
            </a:solidFill>
            <a:prstDash val="solid"/>
          </a:ln>
        </p:spPr>
      </p:sp>
      <p:sp>
        <p:nvSpPr>
          <p:cNvPr id="37" name="Shape 35"/>
          <p:cNvSpPr/>
          <p:nvPr/>
        </p:nvSpPr>
        <p:spPr>
          <a:xfrm>
            <a:off x="512064" y="4265676"/>
            <a:ext cx="310896" cy="310896"/>
          </a:xfrm>
          <a:prstGeom prst="ellipse">
            <a:avLst/>
          </a:prstGeom>
          <a:solidFill>
            <a:srgbClr val="2E8B6A"/>
          </a:solidFill>
          <a:ln w="12700">
            <a:solidFill>
              <a:srgbClr val="2E8B6A"/>
            </a:solidFill>
            <a:prstDash val="solid"/>
          </a:ln>
        </p:spPr>
      </p:sp>
      <p:sp>
        <p:nvSpPr>
          <p:cNvPr id="38" name="Text 36"/>
          <p:cNvSpPr txBox="1"/>
          <p:nvPr/>
        </p:nvSpPr>
        <p:spPr>
          <a:xfrm>
            <a:off x="512064" y="426567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9" name="Text 37"/>
          <p:cNvSpPr txBox="1"/>
          <p:nvPr/>
        </p:nvSpPr>
        <p:spPr>
          <a:xfrm>
            <a:off x="941832" y="4210812"/>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Aggregate</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groupby city / segment · sum · top 3 cities</a:t>
            </a:r>
            <a:endParaRPr lang="en-US" sz="1100" dirty="0"/>
          </a:p>
        </p:txBody>
      </p:sp>
      <p:sp>
        <p:nvSpPr>
          <p:cNvPr id="40" name="Shape 38"/>
          <p:cNvSpPr/>
          <p:nvPr/>
        </p:nvSpPr>
        <p:spPr>
          <a:xfrm>
            <a:off x="4828032" y="4283964"/>
            <a:ext cx="621792" cy="274320"/>
          </a:xfrm>
          <a:prstGeom prst="roundRect">
            <a:avLst>
              <a:gd name="adj" fmla="val 26667"/>
            </a:avLst>
          </a:prstGeom>
          <a:solidFill>
            <a:srgbClr val="FFFFFF"/>
          </a:solidFill>
          <a:ln w="12700">
            <a:solidFill>
              <a:srgbClr val="2E8B6A"/>
            </a:solidFill>
            <a:prstDash val="solid"/>
          </a:ln>
        </p:spPr>
      </p:sp>
      <p:sp>
        <p:nvSpPr>
          <p:cNvPr id="41" name="Text 39"/>
          <p:cNvSpPr txBox="1"/>
          <p:nvPr/>
        </p:nvSpPr>
        <p:spPr>
          <a:xfrm>
            <a:off x="4828032" y="4283964"/>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6 min</a:t>
            </a:r>
            <a:endParaRPr lang="en-US" sz="950" dirty="0"/>
          </a:p>
        </p:txBody>
      </p:sp>
      <p:sp>
        <p:nvSpPr>
          <p:cNvPr id="42" name="Files on Moodle"/>
          <p:cNvSpPr/>
          <p:nvPr/>
        </p:nvSpPr>
        <p:spPr>
          <a:xfrm>
            <a:off x="5760720" y="1371600"/>
            <a:ext cx="2971800" cy="1353312"/>
          </a:xfrm>
          <a:prstGeom prst="roundRect">
            <a:avLst>
              <a:gd name="adj" fmla="val 5405"/>
            </a:avLst>
          </a:prstGeom>
          <a:solidFill>
            <a:srgbClr val="EAF2FB"/>
          </a:solidFill>
          <a:ln w="12700">
            <a:solidFill>
              <a:srgbClr val="1F5FA8"/>
            </a:solidFill>
            <a:prstDash val="solid"/>
          </a:ln>
        </p:spPr>
      </p:sp>
      <p:sp>
        <p:nvSpPr>
          <p:cNvPr id="43" name="Text 41"/>
          <p:cNvSpPr txBox="1"/>
          <p:nvPr/>
        </p:nvSpPr>
        <p:spPr>
          <a:xfrm>
            <a:off x="5897880" y="1435608"/>
            <a:ext cx="2697480" cy="182880"/>
          </a:xfrm>
          <a:prstGeom prst="rect">
            <a:avLst/>
          </a:prstGeom>
          <a:noFill/>
          <a:ln/>
        </p:spPr>
        <p:txBody>
          <a:bodyPr wrap="square" lIns="0" tIns="0" rIns="0" bIns="0" rtlCol="0" anchor="ctr"/>
          <a:lstStyle/>
          <a:p>
            <a:pPr indent="0" marL="0">
              <a:buNone/>
            </a:pPr>
            <a:r>
              <a:rPr lang="en-US" sz="950" b="1" spc="120" kern="0" dirty="0">
                <a:solidFill>
                  <a:srgbClr val="1F5FA8"/>
                </a:solidFill>
                <a:latin typeface="Calibri" pitchFamily="34" charset="0"/>
                <a:ea typeface="Calibri" pitchFamily="34" charset="-122"/>
                <a:cs typeface="Calibri" pitchFamily="34" charset="-120"/>
              </a:rPr>
              <a:t>FILES ON MOODLE · USE THESE</a:t>
            </a:r>
            <a:endParaRPr lang="en-US" sz="950" dirty="0"/>
          </a:p>
        </p:txBody>
      </p:sp>
      <p:sp>
        <p:nvSpPr>
          <p:cNvPr id="44" name="Text 42"/>
          <p:cNvSpPr txBox="1"/>
          <p:nvPr/>
        </p:nvSpPr>
        <p:spPr>
          <a:xfrm>
            <a:off x="5897880" y="1664208"/>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Lab2_Starter.ipynb</a:t>
            </a:r>
            <a:pPr indent="0" marL="0">
              <a:buNone/>
            </a:pPr>
            <a:r>
              <a:rPr lang="en-US" sz="850" dirty="0">
                <a:solidFill>
                  <a:srgbClr val="3D3D3D"/>
                </a:solidFill>
                <a:latin typeface="Calibri" pitchFamily="34" charset="0"/>
                <a:ea typeface="Calibri" pitchFamily="34" charset="-122"/>
                <a:cs typeface="Calibri" pitchFamily="34" charset="-120"/>
              </a:rPr>
              <a:t>  notebook · section Lab 2.4</a:t>
            </a:r>
            <a:endParaRPr lang="en-US" sz="900" dirty="0"/>
          </a:p>
        </p:txBody>
      </p:sp>
      <p:sp>
        <p:nvSpPr>
          <p:cNvPr id="45" name="Text 43"/>
          <p:cNvSpPr txBox="1"/>
          <p:nvPr/>
        </p:nvSpPr>
        <p:spPr>
          <a:xfrm>
            <a:off x="5897880" y="1911096"/>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orders_2024_04.csv</a:t>
            </a:r>
            <a:pPr indent="0" marL="0">
              <a:buNone/>
            </a:pPr>
            <a:r>
              <a:rPr lang="en-US" sz="850" dirty="0">
                <a:solidFill>
                  <a:srgbClr val="3D3D3D"/>
                </a:solidFill>
                <a:latin typeface="Calibri" pitchFamily="34" charset="0"/>
                <a:ea typeface="Calibri" pitchFamily="34" charset="-122"/>
                <a:cs typeface="Calibri" pitchFamily="34" charset="-120"/>
              </a:rPr>
              <a:t>  6 April orders</a:t>
            </a:r>
            <a:endParaRPr lang="en-US" sz="900" dirty="0"/>
          </a:p>
        </p:txBody>
      </p:sp>
      <p:sp>
        <p:nvSpPr>
          <p:cNvPr id="46" name="Text 44"/>
          <p:cNvSpPr txBox="1"/>
          <p:nvPr/>
        </p:nvSpPr>
        <p:spPr>
          <a:xfrm>
            <a:off x="5897880" y="2157984"/>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customers.csv</a:t>
            </a:r>
            <a:pPr indent="0" marL="0">
              <a:buNone/>
            </a:pPr>
            <a:r>
              <a:rPr lang="en-US" sz="850" dirty="0">
                <a:solidFill>
                  <a:srgbClr val="3D3D3D"/>
                </a:solidFill>
                <a:latin typeface="Calibri" pitchFamily="34" charset="0"/>
                <a:ea typeface="Calibri" pitchFamily="34" charset="-122"/>
                <a:cs typeface="Calibri" pitchFamily="34" charset="-120"/>
              </a:rPr>
              <a:t>  segment per customer</a:t>
            </a:r>
            <a:endParaRPr lang="en-US" sz="900" dirty="0"/>
          </a:p>
        </p:txBody>
      </p:sp>
      <p:sp>
        <p:nvSpPr>
          <p:cNvPr id="47" name="Text 45"/>
          <p:cNvSpPr txBox="1"/>
          <p:nvPr/>
        </p:nvSpPr>
        <p:spPr>
          <a:xfrm>
            <a:off x="5897880" y="2404872"/>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Lab2.4_TransformationLog.pptx</a:t>
            </a:r>
            <a:pPr indent="0" marL="0">
              <a:buNone/>
            </a:pPr>
            <a:r>
              <a:rPr lang="en-US" sz="850" dirty="0">
                <a:solidFill>
                  <a:srgbClr val="3D3D3D"/>
                </a:solidFill>
                <a:latin typeface="Calibri" pitchFamily="34" charset="0"/>
                <a:ea typeface="Calibri" pitchFamily="34" charset="-122"/>
                <a:cs typeface="Calibri" pitchFamily="34" charset="-120"/>
              </a:rPr>
              <a:t>  your log</a:t>
            </a:r>
            <a:endParaRPr lang="en-US" sz="900" dirty="0"/>
          </a:p>
        </p:txBody>
      </p:sp>
      <p:sp>
        <p:nvSpPr>
          <p:cNvPr id="48" name="Submit"/>
          <p:cNvSpPr/>
          <p:nvPr/>
        </p:nvSpPr>
        <p:spPr>
          <a:xfrm>
            <a:off x="5760720" y="2834640"/>
            <a:ext cx="2971800" cy="1024128"/>
          </a:xfrm>
          <a:prstGeom prst="roundRect">
            <a:avLst>
              <a:gd name="adj" fmla="val 7143"/>
            </a:avLst>
          </a:prstGeom>
          <a:solidFill>
            <a:srgbClr val="FFF4EC"/>
          </a:solidFill>
          <a:ln w="12700">
            <a:solidFill>
              <a:srgbClr val="D9480F"/>
            </a:solidFill>
            <a:prstDash val="solid"/>
          </a:ln>
        </p:spPr>
      </p:sp>
      <p:sp>
        <p:nvSpPr>
          <p:cNvPr id="49" name="Text 47"/>
          <p:cNvSpPr txBox="1"/>
          <p:nvPr/>
        </p:nvSpPr>
        <p:spPr>
          <a:xfrm>
            <a:off x="5897880" y="2898648"/>
            <a:ext cx="2697480" cy="182880"/>
          </a:xfrm>
          <a:prstGeom prst="rect">
            <a:avLst/>
          </a:prstGeom>
          <a:noFill/>
          <a:ln/>
        </p:spPr>
        <p:txBody>
          <a:bodyPr wrap="square" lIns="0" tIns="0" rIns="0" bIns="0" rtlCol="0" anchor="ctr"/>
          <a:lstStyle/>
          <a:p>
            <a:pPr indent="0" marL="0">
              <a:buNone/>
            </a:pPr>
            <a:r>
              <a:rPr lang="en-US" sz="950" b="1" spc="120" kern="0" dirty="0">
                <a:solidFill>
                  <a:srgbClr val="D9480F"/>
                </a:solidFill>
                <a:latin typeface="Calibri" pitchFamily="34" charset="0"/>
                <a:ea typeface="Calibri" pitchFamily="34" charset="-122"/>
                <a:cs typeface="Calibri" pitchFamily="34" charset="-120"/>
              </a:rPr>
              <a:t>YOU SUBMIT ON MOODLE</a:t>
            </a:r>
            <a:endParaRPr lang="en-US" sz="950" dirty="0"/>
          </a:p>
        </p:txBody>
      </p:sp>
      <p:sp>
        <p:nvSpPr>
          <p:cNvPr id="50" name="Text 48"/>
          <p:cNvSpPr txBox="1"/>
          <p:nvPr/>
        </p:nvSpPr>
        <p:spPr>
          <a:xfrm>
            <a:off x="5897880" y="3090672"/>
            <a:ext cx="2743200" cy="731520"/>
          </a:xfrm>
          <a:prstGeom prst="rect">
            <a:avLst/>
          </a:prstGeom>
          <a:noFill/>
          <a:ln/>
        </p:spPr>
        <p:txBody>
          <a:bodyPr wrap="square" lIns="0" tIns="0" rIns="0" bIns="0" rtlCol="0" anchor="t"/>
          <a:lstStyle/>
          <a:p>
            <a:pPr indent="0" marL="0">
              <a:spcAft>
                <a:spcPts val="200"/>
              </a:spcAft>
              <a:buNone/>
            </a:pPr>
            <a:r>
              <a:rPr lang="en-US" sz="950" dirty="0">
                <a:solidFill>
                  <a:srgbClr val="3D3D3D"/>
                </a:solidFill>
                <a:latin typeface="Calibri" pitchFamily="34" charset="0"/>
                <a:ea typeface="Calibri" pitchFamily="34" charset="-122"/>
                <a:cs typeface="Calibri" pitchFamily="34" charset="-120"/>
              </a:rPr>
              <a:t>ZIP: notebook + final CSV + transformation log PDF</a:t>
            </a:r>
            <a:endParaRPr lang="en-US" sz="950" dirty="0"/>
          </a:p>
          <a:p>
            <a:pPr indent="0" marL="0">
              <a:spcAft>
                <a:spcPts val="200"/>
              </a:spcAft>
              <a:buNone/>
            </a:pPr>
            <a:r>
              <a:rPr lang="en-US" sz="950" b="1" dirty="0">
                <a:solidFill>
                  <a:srgbClr val="3D3D3D"/>
                </a:solidFill>
                <a:latin typeface="Calibri" pitchFamily="34" charset="0"/>
                <a:ea typeface="Calibri" pitchFamily="34" charset="-122"/>
                <a:cs typeface="Calibri" pitchFamily="34" charset="-120"/>
              </a:rPr>
              <a:t>Group representative</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 · one file per group</a:t>
            </a:r>
            <a:endParaRPr lang="en-US" sz="950" dirty="0"/>
          </a:p>
          <a:p>
            <a:pPr indent="0" marL="0">
              <a:spcAft>
                <a:spcPts val="200"/>
              </a:spcAft>
              <a:buNone/>
            </a:pPr>
            <a:r>
              <a:rPr lang="en-US" sz="950" b="1" dirty="0">
                <a:solidFill>
                  <a:srgbClr val="3D3D3D"/>
                </a:solidFill>
                <a:latin typeface="Calibri" pitchFamily="34" charset="0"/>
                <a:ea typeface="Calibri" pitchFamily="34" charset="-122"/>
                <a:cs typeface="Calibri" pitchFamily="34" charset="-120"/>
              </a:rPr>
              <a:t>File: </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Lab2.4_Group&lt;Nr&gt;.zip</a:t>
            </a:r>
            <a:endParaRPr lang="en-US" sz="950" dirty="0"/>
          </a:p>
          <a:p>
            <a:pPr indent="0" marL="0">
              <a:spcAft>
                <a:spcPts val="200"/>
              </a:spcAft>
              <a:buNone/>
            </a:pPr>
            <a:r>
              <a:rPr lang="en-US" sz="950" b="1" dirty="0">
                <a:solidFill>
                  <a:srgbClr val="D9480F"/>
                </a:solidFill>
                <a:latin typeface="Calibri" pitchFamily="34" charset="0"/>
                <a:ea typeface="Calibri" pitchFamily="34" charset="-122"/>
                <a:cs typeface="Calibri" pitchFamily="34" charset="-120"/>
              </a:rPr>
              <a:t>Deadline: </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before the next session</a:t>
            </a:r>
            <a:endParaRPr lang="en-US" sz="950" dirty="0"/>
          </a:p>
        </p:txBody>
      </p:sp>
      <p:sp>
        <p:nvSpPr>
          <p:cNvPr id="51" name="Progress check"/>
          <p:cNvSpPr/>
          <p:nvPr/>
        </p:nvSpPr>
        <p:spPr>
          <a:xfrm>
            <a:off x="5760720" y="3968496"/>
            <a:ext cx="2971800" cy="877824"/>
          </a:xfrm>
          <a:prstGeom prst="roundRect">
            <a:avLst>
              <a:gd name="adj" fmla="val 8333"/>
            </a:avLst>
          </a:prstGeom>
          <a:solidFill>
            <a:srgbClr val="0B5A43"/>
          </a:solidFill>
          <a:ln w="12700">
            <a:solidFill>
              <a:srgbClr val="0B5A43"/>
            </a:solidFill>
            <a:prstDash val="solid"/>
          </a:ln>
        </p:spPr>
      </p:sp>
      <p:sp>
        <p:nvSpPr>
          <p:cNvPr id="52" name="Text 50"/>
          <p:cNvSpPr txBox="1"/>
          <p:nvPr/>
        </p:nvSpPr>
        <p:spPr>
          <a:xfrm>
            <a:off x="5897880" y="4041648"/>
            <a:ext cx="2697480" cy="182880"/>
          </a:xfrm>
          <a:prstGeom prst="rect">
            <a:avLst/>
          </a:prstGeom>
          <a:noFill/>
          <a:ln/>
        </p:spPr>
        <p:txBody>
          <a:bodyPr wrap="square" lIns="0" tIns="0" rIns="0" bIns="0" rtlCol="0" anchor="ctr"/>
          <a:lstStyle/>
          <a:p>
            <a:pPr indent="0" marL="0">
              <a:buNone/>
            </a:pPr>
            <a:r>
              <a:rPr lang="en-US" sz="950" b="1" spc="120" kern="0" dirty="0">
                <a:solidFill>
                  <a:srgbClr val="9CD3B5"/>
                </a:solidFill>
                <a:latin typeface="Calibri" pitchFamily="34" charset="0"/>
                <a:ea typeface="Calibri" pitchFamily="34" charset="-122"/>
                <a:cs typeface="Calibri" pitchFamily="34" charset="-120"/>
              </a:rPr>
              <a:t>PROGRESS CHECK · END OF SESSION</a:t>
            </a:r>
            <a:endParaRPr lang="en-US" sz="950" dirty="0"/>
          </a:p>
        </p:txBody>
      </p:sp>
      <p:sp>
        <p:nvSpPr>
          <p:cNvPr id="53" name="Text 51"/>
          <p:cNvSpPr txBox="1"/>
          <p:nvPr/>
        </p:nvSpPr>
        <p:spPr>
          <a:xfrm>
            <a:off x="5897880" y="4242816"/>
            <a:ext cx="2743200" cy="566928"/>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Show your row counts after the union and the join — and explain the difference.</a:t>
            </a:r>
            <a:endParaRPr lang="en-US" sz="950" dirty="0"/>
          </a:p>
        </p:txBody>
      </p:sp>
      <p:sp>
        <p:nvSpPr>
          <p:cNvPr id="54" name="Text 52"/>
          <p:cNvSpPr txBox="1"/>
          <p:nvPr/>
        </p:nvSpPr>
        <p:spPr>
          <a:xfrm>
            <a:off x="411480" y="4773168"/>
            <a:ext cx="5120640" cy="228600"/>
          </a:xfrm>
          <a:prstGeom prst="rect">
            <a:avLst/>
          </a:prstGeom>
          <a:noFill/>
          <a:ln/>
        </p:spPr>
        <p:txBody>
          <a:bodyPr wrap="square" lIns="0" tIns="0" rIns="0" bIns="0" rtlCol="0" anchor="ctr"/>
          <a:lstStyle/>
          <a:p>
            <a:pPr indent="0" marL="0">
              <a:buNone/>
            </a:pPr>
            <a:r>
              <a:rPr lang="en-US" sz="1000" i="1" dirty="0">
                <a:solidFill>
                  <a:srgbClr val="6B6762"/>
                </a:solidFill>
                <a:latin typeface="Calibri" pitchFamily="34" charset="0"/>
                <a:ea typeface="Calibri" pitchFamily="34" charset="-122"/>
                <a:cs typeface="Calibri" pitchFamily="34" charset="-120"/>
              </a:rPr>
              <a:t>Groups of 3–5 · Jupyter notebook (pandas) · start in class (~40 min), finish before the next session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11480" y="201168"/>
            <a:ext cx="8321040" cy="384048"/>
          </a:xfrm>
          <a:prstGeom prst="rect">
            <a:avLst/>
          </a:prstGeom>
          <a:noFill/>
          <a:ln/>
        </p:spPr>
        <p:txBody>
          <a:bodyPr wrap="square" lIns="0" tIns="0" rIns="0" bIns="0" rtlCol="0" anchor="ctr"/>
          <a:lstStyle/>
          <a:p>
            <a:pPr indent="0" marL="0">
              <a:buNone/>
            </a:pPr>
            <a:r>
              <a:rPr lang="en-US" sz="1900" b="1" dirty="0">
                <a:solidFill>
                  <a:srgbClr val="D9480F"/>
                </a:solidFill>
                <a:latin typeface="Calibri" pitchFamily="34" charset="0"/>
                <a:ea typeface="Calibri" pitchFamily="34" charset="-122"/>
                <a:cs typeface="Calibri" pitchFamily="34" charset="-120"/>
              </a:rPr>
              <a:t>Lab 2.4 Worksheet: Transformation Log</a:t>
            </a:r>
            <a:endParaRPr lang="en-US" sz="1900" dirty="0"/>
          </a:p>
        </p:txBody>
      </p:sp>
      <p:sp>
        <p:nvSpPr>
          <p:cNvPr id="3" name="Text 1"/>
          <p:cNvSpPr txBox="1"/>
          <p:nvPr/>
        </p:nvSpPr>
        <p:spPr>
          <a:xfrm>
            <a:off x="411480" y="566928"/>
            <a:ext cx="8321040" cy="182880"/>
          </a:xfrm>
          <a:prstGeom prst="rect">
            <a:avLst/>
          </a:prstGeom>
          <a:noFill/>
          <a:ln/>
        </p:spPr>
        <p:txBody>
          <a:bodyPr wrap="square" lIns="0" tIns="0" rIns="0" bIns="0" rtlCol="0" anchor="ctr"/>
          <a:lstStyle/>
          <a:p>
            <a:pPr indent="0" marL="0">
              <a:buNone/>
            </a:pPr>
            <a:r>
              <a:rPr lang="en-US" sz="900" i="1" dirty="0">
                <a:solidFill>
                  <a:srgbClr val="6B6762"/>
                </a:solidFill>
                <a:latin typeface="Calibri" pitchFamily="34" charset="0"/>
                <a:ea typeface="Calibri" pitchFamily="34" charset="-122"/>
                <a:cs typeface="Calibri" pitchFamily="34" charset="-120"/>
              </a:rPr>
              <a:t>Preview only — fill in the editable worksheet from Moodle.</a:t>
            </a:r>
            <a:endParaRPr lang="en-US" sz="900" dirty="0"/>
          </a:p>
        </p:txBody>
      </p:sp>
      <p:sp>
        <p:nvSpPr>
          <p:cNvPr id="4" name="Text 2"/>
          <p:cNvSpPr txBox="1"/>
          <p:nvPr/>
        </p:nvSpPr>
        <p:spPr>
          <a:xfrm>
            <a:off x="411480" y="822960"/>
            <a:ext cx="640080" cy="237744"/>
          </a:xfrm>
          <a:prstGeom prst="rect">
            <a:avLst/>
          </a:prstGeom>
          <a:noFill/>
          <a:ln/>
        </p:spPr>
        <p:txBody>
          <a:bodyPr wrap="square" lIns="0" tIns="0" rIns="0" bIns="0" rtlCol="0" anchor="ctr"/>
          <a:lstStyle/>
          <a:p>
            <a:pPr indent="0" marL="0">
              <a:buNone/>
            </a:pPr>
            <a:r>
              <a:rPr lang="en-US" sz="1000" b="1" dirty="0">
                <a:solidFill>
                  <a:srgbClr val="0B5A43"/>
                </a:solidFill>
                <a:latin typeface="Calibri" pitchFamily="34" charset="0"/>
                <a:ea typeface="Calibri" pitchFamily="34" charset="-122"/>
                <a:cs typeface="Calibri" pitchFamily="34" charset="-120"/>
              </a:rPr>
              <a:t>Group Nr</a:t>
            </a:r>
            <a:endParaRPr lang="en-US" sz="1000" dirty="0"/>
          </a:p>
        </p:txBody>
      </p:sp>
      <p:sp>
        <p:nvSpPr>
          <p:cNvPr id="5" name="Group Nr"/>
          <p:cNvSpPr/>
          <p:nvPr/>
        </p:nvSpPr>
        <p:spPr>
          <a:xfrm>
            <a:off x="1024128" y="822960"/>
            <a:ext cx="411480" cy="237744"/>
          </a:xfrm>
          <a:prstGeom prst="rect">
            <a:avLst/>
          </a:prstGeom>
          <a:solidFill>
            <a:srgbClr val="FFFFFF"/>
          </a:solidFill>
          <a:ln w="9525">
            <a:solidFill>
              <a:srgbClr val="B9B4AD"/>
            </a:solidFill>
            <a:prstDash val="dash"/>
          </a:ln>
        </p:spPr>
        <p:txBody>
          <a:bodyPr wrap="square" lIns="38100" tIns="38100" rIns="38100" bIns="38100" rtlCol="0" anchor="ctr"/>
          <a:lstStyle/>
          <a:p>
            <a:pPr indent="0" marL="0">
              <a:buNone/>
            </a:pPr>
            <a:r>
              <a:rPr lang="en-US" sz="1000" i="1" dirty="0">
                <a:solidFill>
                  <a:srgbClr val="8A8680"/>
                </a:solidFill>
                <a:latin typeface="Calibri" pitchFamily="34" charset="0"/>
                <a:ea typeface="Calibri" pitchFamily="34" charset="-122"/>
                <a:cs typeface="Calibri" pitchFamily="34" charset="-120"/>
              </a:rPr>
              <a:t>__</a:t>
            </a:r>
            <a:endParaRPr lang="en-US" sz="1000" dirty="0"/>
          </a:p>
        </p:txBody>
      </p:sp>
      <p:sp>
        <p:nvSpPr>
          <p:cNvPr id="6" name="Text 4"/>
          <p:cNvSpPr txBox="1"/>
          <p:nvPr/>
        </p:nvSpPr>
        <p:spPr>
          <a:xfrm>
            <a:off x="1600200" y="822960"/>
            <a:ext cx="640080" cy="237744"/>
          </a:xfrm>
          <a:prstGeom prst="rect">
            <a:avLst/>
          </a:prstGeom>
          <a:noFill/>
          <a:ln/>
        </p:spPr>
        <p:txBody>
          <a:bodyPr wrap="square" lIns="0" tIns="0" rIns="0" bIns="0" rtlCol="0" anchor="ctr"/>
          <a:lstStyle/>
          <a:p>
            <a:pPr indent="0" marL="0">
              <a:buNone/>
            </a:pPr>
            <a:r>
              <a:rPr lang="en-US" sz="1000" b="1" dirty="0">
                <a:solidFill>
                  <a:srgbClr val="0B5A43"/>
                </a:solidFill>
                <a:latin typeface="Calibri" pitchFamily="34" charset="0"/>
                <a:ea typeface="Calibri" pitchFamily="34" charset="-122"/>
                <a:cs typeface="Calibri" pitchFamily="34" charset="-120"/>
              </a:rPr>
              <a:t>Members</a:t>
            </a:r>
            <a:endParaRPr lang="en-US" sz="1000" dirty="0"/>
          </a:p>
        </p:txBody>
      </p:sp>
      <p:sp>
        <p:nvSpPr>
          <p:cNvPr id="7" name="Members"/>
          <p:cNvSpPr/>
          <p:nvPr/>
        </p:nvSpPr>
        <p:spPr>
          <a:xfrm>
            <a:off x="2240280" y="822960"/>
            <a:ext cx="4389120" cy="237744"/>
          </a:xfrm>
          <a:prstGeom prst="rect">
            <a:avLst/>
          </a:prstGeom>
          <a:solidFill>
            <a:srgbClr val="FFFFFF"/>
          </a:solidFill>
          <a:ln w="9525">
            <a:solidFill>
              <a:srgbClr val="B9B4AD"/>
            </a:solidFill>
            <a:prstDash val="dash"/>
          </a:ln>
        </p:spPr>
        <p:txBody>
          <a:bodyPr wrap="square" lIns="38100" tIns="38100" rIns="38100" bIns="38100" rtlCol="0" anchor="ctr"/>
          <a:lstStyle/>
          <a:p>
            <a:pPr indent="0" marL="0">
              <a:buNone/>
            </a:pPr>
            <a:r>
              <a:rPr lang="en-US" sz="1000" i="1" dirty="0">
                <a:solidFill>
                  <a:srgbClr val="8A8680"/>
                </a:solidFill>
                <a:latin typeface="Calibri" pitchFamily="34" charset="0"/>
                <a:ea typeface="Calibri" pitchFamily="34" charset="-122"/>
                <a:cs typeface="Calibri" pitchFamily="34" charset="-120"/>
              </a:rPr>
              <a:t>Full names of all members</a:t>
            </a:r>
            <a:endParaRPr lang="en-US" sz="1000" dirty="0"/>
          </a:p>
        </p:txBody>
      </p:sp>
      <p:sp>
        <p:nvSpPr>
          <p:cNvPr id="8" name="Text 6"/>
          <p:cNvSpPr txBox="1"/>
          <p:nvPr/>
        </p:nvSpPr>
        <p:spPr>
          <a:xfrm>
            <a:off x="411480" y="1161288"/>
            <a:ext cx="5486400" cy="182880"/>
          </a:xfrm>
          <a:prstGeom prst="rect">
            <a:avLst/>
          </a:prstGeom>
          <a:noFill/>
          <a:ln/>
        </p:spPr>
        <p:txBody>
          <a:bodyPr wrap="square" lIns="0" tIns="0" rIns="0" bIns="0" rtlCol="0" anchor="ctr"/>
          <a:lstStyle/>
          <a:p>
            <a:pPr indent="0" marL="0">
              <a:buNone/>
            </a:pPr>
            <a:r>
              <a:rPr lang="en-US" sz="900" b="1" spc="100" kern="0" dirty="0">
                <a:solidFill>
                  <a:srgbClr val="2E8B6A"/>
                </a:solidFill>
                <a:latin typeface="Calibri" pitchFamily="34" charset="0"/>
                <a:ea typeface="Calibri" pitchFamily="34" charset="-122"/>
                <a:cs typeface="Calibri" pitchFamily="34" charset="-120"/>
              </a:rPr>
              <a:t>A · TRANSFORMATION LOG</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1234440"/>
                <a:gridCol w="1783080"/>
                <a:gridCol w="3840480"/>
                <a:gridCol w="731520"/>
                <a:gridCol w="731520"/>
              </a:tblGrid>
              <a:tr h="22402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Step</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2E8B6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Output column(s)</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2E8B6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exactly did you do?</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2E8B6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Rows in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2E8B6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Rows out</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2E8B6A"/>
                    </a:solidFill>
                  </a:tcPr>
                </a:tc>
              </a:tr>
              <a:tr h="224028">
                <a:tc>
                  <a:txBody>
                    <a:bodyPr/>
                    <a:lstStyle/>
                    <a:p>
                      <a:pPr indent="0" marL="0">
                        <a:buNone/>
                      </a:pPr>
                      <a:r>
                        <a:rPr lang="en-US" sz="900" b="1" dirty="0">
                          <a:solidFill>
                            <a:srgbClr val="0B5A43"/>
                          </a:solidFill>
                          <a:latin typeface="Calibri" pitchFamily="34" charset="0"/>
                          <a:ea typeface="Calibri" pitchFamily="34" charset="-122"/>
                          <a:cs typeface="Calibri" pitchFamily="34" charset="-120"/>
                        </a:rPr>
                        <a:t>Currency → EUR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3F4EC"/>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unit_price_eur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24028">
                <a:tc>
                  <a:txBody>
                    <a:bodyPr/>
                    <a:lstStyle/>
                    <a:p>
                      <a:pPr indent="0" marL="0">
                        <a:buNone/>
                      </a:pPr>
                      <a:r>
                        <a:rPr lang="en-US" sz="900" b="1" dirty="0">
                          <a:solidFill>
                            <a:srgbClr val="0B5A43"/>
                          </a:solidFill>
                          <a:latin typeface="Calibri" pitchFamily="34" charset="0"/>
                          <a:ea typeface="Calibri" pitchFamily="34" charset="-122"/>
                          <a:cs typeface="Calibri" pitchFamily="34" charset="-120"/>
                        </a:rPr>
                        <a:t>New feature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3F4EC"/>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line_total_eur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24028">
                <a:tc>
                  <a:txBody>
                    <a:bodyPr/>
                    <a:lstStyle/>
                    <a:p>
                      <a:pPr indent="0" marL="0">
                        <a:buNone/>
                      </a:pPr>
                      <a:r>
                        <a:rPr lang="en-US" sz="900" b="1" dirty="0">
                          <a:solidFill>
                            <a:srgbClr val="0B5A43"/>
                          </a:solidFill>
                          <a:latin typeface="Calibri" pitchFamily="34" charset="0"/>
                          <a:ea typeface="Calibri" pitchFamily="34" charset="-122"/>
                          <a:cs typeface="Calibri" pitchFamily="34" charset="-120"/>
                        </a:rPr>
                        <a:t>Binning</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3F4EC"/>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order_size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24028">
                <a:tc>
                  <a:txBody>
                    <a:bodyPr/>
                    <a:lstStyle/>
                    <a:p>
                      <a:pPr indent="0" marL="0">
                        <a:buNone/>
                      </a:pPr>
                      <a:r>
                        <a:rPr lang="en-US" sz="900" b="1" dirty="0">
                          <a:solidFill>
                            <a:srgbClr val="0B5A43"/>
                          </a:solidFill>
                          <a:latin typeface="Calibri" pitchFamily="34" charset="0"/>
                          <a:ea typeface="Calibri" pitchFamily="34" charset="-122"/>
                          <a:cs typeface="Calibri" pitchFamily="34" charset="-120"/>
                        </a:rPr>
                        <a:t>Union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3F4EC"/>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 orders_2024_04.csv</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24028">
                <a:tc>
                  <a:txBody>
                    <a:bodyPr/>
                    <a:lstStyle/>
                    <a:p>
                      <a:pPr indent="0" marL="0">
                        <a:buNone/>
                      </a:pPr>
                      <a:r>
                        <a:rPr lang="en-US" sz="900" b="1" dirty="0">
                          <a:solidFill>
                            <a:srgbClr val="0B5A43"/>
                          </a:solidFill>
                          <a:latin typeface="Calibri" pitchFamily="34" charset="0"/>
                          <a:ea typeface="Calibri" pitchFamily="34" charset="-122"/>
                          <a:cs typeface="Calibri" pitchFamily="34" charset="-120"/>
                        </a:rPr>
                        <a:t>Join (left)</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3F4EC"/>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 segment from customers.csv</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24028">
                <a:tc>
                  <a:txBody>
                    <a:bodyPr/>
                    <a:lstStyle/>
                    <a:p>
                      <a:pPr indent="0" marL="0">
                        <a:buNone/>
                      </a:pPr>
                      <a:r>
                        <a:rPr lang="en-US" sz="900" b="1" dirty="0">
                          <a:solidFill>
                            <a:srgbClr val="0B5A43"/>
                          </a:solidFill>
                          <a:latin typeface="Calibri" pitchFamily="34" charset="0"/>
                          <a:ea typeface="Calibri" pitchFamily="34" charset="-122"/>
                          <a:cs typeface="Calibri" pitchFamily="34" charset="-120"/>
                        </a:rPr>
                        <a:t>Encoding</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3F4EC"/>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one-hot category</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24028">
                <a:tc>
                  <a:txBody>
                    <a:bodyPr/>
                    <a:lstStyle/>
                    <a:p>
                      <a:pPr indent="0" marL="0">
                        <a:buNone/>
                      </a:pPr>
                      <a:r>
                        <a:rPr lang="en-US" sz="900" b="1" dirty="0">
                          <a:solidFill>
                            <a:srgbClr val="0B5A43"/>
                          </a:solidFill>
                          <a:latin typeface="Calibri" pitchFamily="34" charset="0"/>
                          <a:ea typeface="Calibri" pitchFamily="34" charset="-122"/>
                          <a:cs typeface="Calibri" pitchFamily="34" charset="-120"/>
                        </a:rPr>
                        <a:t>Scaling</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3F4EC"/>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min-max line_total_eur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24028">
                <a:tc>
                  <a:txBody>
                    <a:bodyPr/>
                    <a:lstStyle/>
                    <a:p>
                      <a:pPr indent="0" marL="0">
                        <a:buNone/>
                      </a:pPr>
                      <a:r>
                        <a:rPr lang="en-US" sz="900" b="1" dirty="0">
                          <a:solidFill>
                            <a:srgbClr val="0B5A43"/>
                          </a:solidFill>
                          <a:latin typeface="Calibri" pitchFamily="34" charset="0"/>
                          <a:ea typeface="Calibri" pitchFamily="34" charset="-122"/>
                          <a:cs typeface="Calibri" pitchFamily="34" charset="-120"/>
                        </a:rPr>
                        <a:t>Aggregate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E3F4EC"/>
                    </a:solidFill>
                  </a:tcPr>
                </a:tc>
                <a:tc>
                  <a:txBody>
                    <a:bodyPr/>
                    <a:lstStyle/>
                    <a:p>
                      <a:pPr indent="0" marL="0">
                        <a:buNone/>
                      </a:pPr>
                      <a:r>
                        <a:rPr lang="en-US" sz="900" dirty="0">
                          <a:solidFill>
                            <a:srgbClr val="3D3D3D"/>
                          </a:solidFill>
                          <a:latin typeface="Calibri" pitchFamily="34" charset="0"/>
                          <a:ea typeface="Calibri" pitchFamily="34" charset="-122"/>
                          <a:cs typeface="Calibri" pitchFamily="34" charset="-120"/>
                        </a:rPr>
                        <a:t>revenue by city / segment</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bl>
          </a:graphicData>
        </a:graphic>
      </p:graphicFrame>
      <p:sp>
        <p:nvSpPr>
          <p:cNvPr id="10" name="Text 7"/>
          <p:cNvSpPr txBox="1"/>
          <p:nvPr/>
        </p:nvSpPr>
        <p:spPr>
          <a:xfrm>
            <a:off x="411480" y="3502152"/>
            <a:ext cx="2743200" cy="182880"/>
          </a:xfrm>
          <a:prstGeom prst="rect">
            <a:avLst/>
          </a:prstGeom>
          <a:noFill/>
          <a:ln/>
        </p:spPr>
        <p:txBody>
          <a:bodyPr wrap="square" lIns="0" tIns="0" rIns="0" bIns="0" rtlCol="0" anchor="ctr"/>
          <a:lstStyle/>
          <a:p>
            <a:pPr indent="0" marL="0">
              <a:buNone/>
            </a:pPr>
            <a:r>
              <a:rPr lang="en-US" sz="900" b="1" spc="100" kern="0" dirty="0">
                <a:solidFill>
                  <a:srgbClr val="2E8B6A"/>
                </a:solidFill>
                <a:latin typeface="Calibri" pitchFamily="34" charset="0"/>
                <a:ea typeface="Calibri" pitchFamily="34" charset="-122"/>
                <a:cs typeface="Calibri" pitchFamily="34" charset="-120"/>
              </a:rPr>
              <a:t>B · RESULTS</a:t>
            </a:r>
            <a:endParaRPr lang="en-US" sz="9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11480" y="3703320"/>
          <a:ext cx="4937760" cy="914400"/>
        </p:xfrm>
        <a:graphic>
          <a:graphicData uri="http://schemas.openxmlformats.org/drawingml/2006/table">
            <a:tbl>
              <a:tblPr/>
              <a:tblGrid>
                <a:gridCol w="1737360"/>
                <a:gridCol w="1920240"/>
                <a:gridCol w="1280160"/>
              </a:tblGrid>
              <a:tr h="21945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Top 3 cities (EUR)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2E8B6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Revenue by segment (EUR)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2E8B6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Total revenue (EUR)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2E8B6A"/>
                    </a:solidFill>
                  </a:tcPr>
                </a:tc>
              </a:tr>
              <a:tr h="548640">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1. </a:t>
                      </a:r>
                      <a:endParaRPr lang="en-US" sz="900" dirty="0">
                        <a:latin typeface="Calibri" charset="0"/>
                        <a:ea typeface="Calibri" charset="0"/>
                        <a:cs typeface="Calibri" charset="0"/>
                      </a:endParaRPr>
                    </a:p>
                    <a:p>
                      <a:pPr indent="0" marL="0">
                        <a:buNone/>
                      </a:pPr>
                      <a:r>
                        <a:rPr lang="en-US" sz="900" i="1" dirty="0">
                          <a:solidFill>
                            <a:srgbClr val="8A8680"/>
                          </a:solidFill>
                          <a:latin typeface="Calibri" pitchFamily="34" charset="0"/>
                          <a:ea typeface="Calibri" pitchFamily="34" charset="-122"/>
                          <a:cs typeface="Calibri" pitchFamily="34" charset="-120"/>
                        </a:rPr>
                        <a:t>2. </a:t>
                      </a:r>
                      <a:endParaRPr lang="en-US" sz="900" dirty="0">
                        <a:latin typeface="Calibri" charset="0"/>
                        <a:ea typeface="Calibri" charset="0"/>
                        <a:cs typeface="Calibri" charset="0"/>
                      </a:endParaRPr>
                    </a:p>
                    <a:p>
                      <a:pPr indent="0" marL="0">
                        <a:buNone/>
                      </a:pPr>
                      <a:r>
                        <a:rPr lang="en-US" sz="900" i="1" dirty="0">
                          <a:solidFill>
                            <a:srgbClr val="8A8680"/>
                          </a:solidFill>
                          <a:latin typeface="Calibri" pitchFamily="34" charset="0"/>
                          <a:ea typeface="Calibri" pitchFamily="34" charset="-122"/>
                          <a:cs typeface="Calibri" pitchFamily="34" charset="-120"/>
                        </a:rPr>
                        <a:t>3.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Private: </a:t>
                      </a:r>
                      <a:endParaRPr lang="en-US" sz="900" dirty="0">
                        <a:latin typeface="Calibri" charset="0"/>
                        <a:ea typeface="Calibri" charset="0"/>
                        <a:cs typeface="Calibri" charset="0"/>
                      </a:endParaRPr>
                    </a:p>
                    <a:p>
                      <a:pPr indent="0" marL="0">
                        <a:buNone/>
                      </a:pPr>
                      <a:r>
                        <a:rPr lang="en-US" sz="900" i="1" dirty="0">
                          <a:solidFill>
                            <a:srgbClr val="8A8680"/>
                          </a:solidFill>
                          <a:latin typeface="Calibri" pitchFamily="34" charset="0"/>
                          <a:ea typeface="Calibri" pitchFamily="34" charset="-122"/>
                          <a:cs typeface="Calibri" pitchFamily="34" charset="-120"/>
                        </a:rPr>
                        <a:t>Business: </a:t>
                      </a:r>
                      <a:endParaRPr lang="en-US" sz="900" dirty="0">
                        <a:latin typeface="Calibri" charset="0"/>
                        <a:ea typeface="Calibri" charset="0"/>
                        <a:cs typeface="Calibri" charset="0"/>
                      </a:endParaRPr>
                    </a:p>
                    <a:p>
                      <a:pPr indent="0" marL="0">
                        <a:buNone/>
                      </a:pPr>
                      <a:r>
                        <a:rPr lang="en-US" sz="900" i="1" dirty="0">
                          <a:solidFill>
                            <a:srgbClr val="8A8680"/>
                          </a:solidFill>
                          <a:latin typeface="Calibri" pitchFamily="34" charset="0"/>
                          <a:ea typeface="Calibri" pitchFamily="34" charset="-122"/>
                          <a:cs typeface="Calibri" pitchFamily="34" charset="-120"/>
                        </a:rPr>
                        <a:t>unknown: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bl>
          </a:graphicData>
        </a:graphic>
      </p:graphicFrame>
      <p:sp>
        <p:nvSpPr>
          <p:cNvPr id="12" name="Join explanation"/>
          <p:cNvSpPr/>
          <p:nvPr/>
        </p:nvSpPr>
        <p:spPr>
          <a:xfrm>
            <a:off x="5532120" y="3502152"/>
            <a:ext cx="3200400" cy="786384"/>
          </a:xfrm>
          <a:prstGeom prst="rect">
            <a:avLst/>
          </a:prstGeom>
          <a:solidFill>
            <a:srgbClr val="FFFFFF"/>
          </a:solidFill>
          <a:ln w="9525">
            <a:solidFill>
              <a:srgbClr val="B9B4AD"/>
            </a:solidFill>
            <a:prstDash val="dash"/>
          </a:ln>
        </p:spPr>
        <p:txBody>
          <a:bodyPr wrap="square" lIns="50800" tIns="50800" rIns="50800" bIns="50800" rtlCol="0" anchor="t"/>
          <a:lstStyle/>
          <a:p>
            <a:pPr indent="0" marL="0">
              <a:buNone/>
            </a:pPr>
            <a:r>
              <a:rPr lang="en-US" sz="950" i="1" dirty="0">
                <a:solidFill>
                  <a:srgbClr val="8A8680"/>
                </a:solidFill>
                <a:latin typeface="Calibri" pitchFamily="34" charset="0"/>
                <a:ea typeface="Calibri" pitchFamily="34" charset="-122"/>
                <a:cs typeface="Calibri" pitchFamily="34" charset="-120"/>
              </a:rPr>
              <a:t>Rows before vs. after the join — explain any difference:</a:t>
            </a:r>
            <a:endParaRPr lang="en-US" sz="950" dirty="0"/>
          </a:p>
        </p:txBody>
      </p:sp>
      <p:sp>
        <p:nvSpPr>
          <p:cNvPr id="13" name="Text 9"/>
          <p:cNvSpPr txBox="1"/>
          <p:nvPr/>
        </p:nvSpPr>
        <p:spPr>
          <a:xfrm>
            <a:off x="411480" y="4553712"/>
            <a:ext cx="8321040" cy="201168"/>
          </a:xfrm>
          <a:prstGeom prst="rect">
            <a:avLst/>
          </a:prstGeom>
          <a:noFill/>
          <a:ln/>
        </p:spPr>
        <p:txBody>
          <a:bodyPr wrap="square" lIns="0" tIns="0" rIns="0" bIns="0" rtlCol="0" anchor="ctr"/>
          <a:lstStyle/>
          <a:p>
            <a:pPr indent="0" marL="0">
              <a:buNone/>
            </a:pPr>
            <a:r>
              <a:rPr lang="en-US" sz="900" b="1" dirty="0">
                <a:solidFill>
                  <a:srgbClr val="D9480F"/>
                </a:solidFill>
                <a:latin typeface="Calibri" pitchFamily="34" charset="0"/>
                <a:ea typeface="Calibri" pitchFamily="34" charset="-122"/>
                <a:cs typeface="Calibri" pitchFamily="34" charset="-120"/>
              </a:rPr>
              <a:t>Before you submit:  </a:t>
            </a:r>
            <a:pPr indent="0" marL="0">
              <a:buNone/>
            </a:pPr>
            <a:r>
              <a:rPr lang="en-US" sz="900" dirty="0">
                <a:solidFill>
                  <a:srgbClr val="3D3D3D"/>
                </a:solidFill>
                <a:latin typeface="Calibri" pitchFamily="34" charset="0"/>
                <a:ea typeface="Calibri" pitchFamily="34" charset="-122"/>
                <a:cs typeface="Calibri" pitchFamily="34" charset="-120"/>
              </a:rPr>
              <a:t>☐ rates used as given    ☐ row counts per step    ☐ join difference explained    ☐ final CSV in ZIP</a:t>
            </a:r>
            <a:endParaRPr lang="en-US" sz="900" dirty="0"/>
          </a:p>
        </p:txBody>
      </p:sp>
      <p:sp>
        <p:nvSpPr>
          <p:cNvPr id="14" name="Text 10"/>
          <p:cNvSpPr txBox="1"/>
          <p:nvPr/>
        </p:nvSpPr>
        <p:spPr>
          <a:xfrm>
            <a:off x="411480" y="4773168"/>
            <a:ext cx="8321040" cy="182880"/>
          </a:xfrm>
          <a:prstGeom prst="rect">
            <a:avLst/>
          </a:prstGeom>
          <a:noFill/>
          <a:ln/>
        </p:spPr>
        <p:txBody>
          <a:bodyPr wrap="square" lIns="0" tIns="0" rIns="0" bIns="0" rtlCol="0" anchor="ctr"/>
          <a:lstStyle/>
          <a:p>
            <a:pPr indent="0" marL="0">
              <a:buNone/>
            </a:pPr>
            <a:r>
              <a:rPr lang="en-US" sz="850" i="1" dirty="0">
                <a:solidFill>
                  <a:srgbClr val="6B6762"/>
                </a:solidFill>
                <a:latin typeface="Calibri" pitchFamily="34" charset="0"/>
                <a:ea typeface="Calibri" pitchFamily="34" charset="-122"/>
                <a:cs typeface="Calibri" pitchFamily="34" charset="-120"/>
              </a:rPr>
              <a:t>Group representative uploads Lab2.4_Group&lt;Nr&gt;.zip on Moodle · Deadline: before the next session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11480" y="256032"/>
            <a:ext cx="7863840" cy="457200"/>
          </a:xfrm>
          <a:prstGeom prst="rect">
            <a:avLst/>
          </a:prstGeom>
          <a:noFill/>
          <a:ln/>
        </p:spPr>
        <p:txBody>
          <a:bodyPr wrap="square" lIns="0" tIns="0" rIns="0" bIns="0" rtlCol="0" anchor="ctr"/>
          <a:lstStyle/>
          <a:p>
            <a:pPr indent="0" marL="0">
              <a:buNone/>
            </a:pPr>
            <a:r>
              <a:rPr lang="en-US" sz="2200" b="1" dirty="0">
                <a:solidFill>
                  <a:srgbClr val="D9480F"/>
                </a:solidFill>
                <a:latin typeface="Calibri" pitchFamily="34" charset="0"/>
                <a:ea typeface="Calibri" pitchFamily="34" charset="-122"/>
                <a:cs typeface="Calibri" pitchFamily="34" charset="-120"/>
              </a:rPr>
              <a:t>Lab 2.5: All Labs Again — in Tableau Prep</a:t>
            </a:r>
            <a:endParaRPr lang="en-US" sz="2200" dirty="0"/>
          </a:p>
        </p:txBody>
      </p:sp>
      <p:sp>
        <p:nvSpPr>
          <p:cNvPr id="3" name="Text 1"/>
          <p:cNvSpPr txBox="1"/>
          <p:nvPr/>
        </p:nvSpPr>
        <p:spPr>
          <a:xfrm>
            <a:off x="411480" y="749808"/>
            <a:ext cx="8321040" cy="274320"/>
          </a:xfrm>
          <a:prstGeom prst="rect">
            <a:avLst/>
          </a:prstGeom>
          <a:noFill/>
          <a:ln/>
        </p:spPr>
        <p:txBody>
          <a:bodyPr wrap="square" lIns="0" tIns="0" rIns="0" bIns="0" rtlCol="0" anchor="ctr"/>
          <a:lstStyle/>
          <a:p>
            <a:pPr indent="0" marL="0">
              <a:buNone/>
            </a:pPr>
            <a:r>
              <a:rPr lang="en-US" sz="1200" b="1" dirty="0">
                <a:solidFill>
                  <a:srgbClr val="0B5A43"/>
                </a:solidFill>
                <a:latin typeface="Calibri" pitchFamily="34" charset="0"/>
                <a:ea typeface="Calibri" pitchFamily="34" charset="-122"/>
                <a:cs typeface="Calibri" pitchFamily="34" charset="-120"/>
              </a:rPr>
              <a:t>Goal: </a:t>
            </a:r>
            <a:pPr indent="0" marL="0">
              <a:buNone/>
            </a:pPr>
            <a:r>
              <a:rPr lang="en-US" sz="1200" dirty="0">
                <a:solidFill>
                  <a:srgbClr val="3D3D3D"/>
                </a:solidFill>
                <a:latin typeface="Calibri" pitchFamily="34" charset="0"/>
                <a:ea typeface="Calibri" pitchFamily="34" charset="-122"/>
                <a:cs typeface="Calibri" pitchFamily="34" charset="-120"/>
              </a:rPr>
              <a:t>Rebuild Labs 2.1–2.4 as one visual, repeatable Tableau Prep flow — and compare it with your Python result.</a:t>
            </a:r>
            <a:endParaRPr lang="en-US" sz="1200" dirty="0"/>
          </a:p>
        </p:txBody>
      </p:sp>
      <p:sp>
        <p:nvSpPr>
          <p:cNvPr id="4" name="Text 2"/>
          <p:cNvSpPr txBox="1"/>
          <p:nvPr/>
        </p:nvSpPr>
        <p:spPr>
          <a:xfrm>
            <a:off x="411480" y="1005840"/>
            <a:ext cx="8321040" cy="274320"/>
          </a:xfrm>
          <a:prstGeom prst="rect">
            <a:avLst/>
          </a:prstGeom>
          <a:noFill/>
          <a:ln/>
        </p:spPr>
        <p:txBody>
          <a:bodyPr wrap="square" lIns="0" tIns="0" rIns="0" bIns="0" rtlCol="0" anchor="ctr"/>
          <a:lstStyle/>
          <a:p>
            <a:pPr indent="0" marL="0">
              <a:buNone/>
            </a:pPr>
            <a:r>
              <a:rPr lang="en-US" sz="1200" b="1" dirty="0">
                <a:solidFill>
                  <a:srgbClr val="0B5A43"/>
                </a:solidFill>
                <a:latin typeface="Calibri" pitchFamily="34" charset="0"/>
                <a:ea typeface="Calibri" pitchFamily="34" charset="-122"/>
                <a:cs typeface="Calibri" pitchFamily="34" charset="-120"/>
              </a:rPr>
              <a:t>Scenario: </a:t>
            </a:r>
            <a:pPr indent="0" marL="0">
              <a:buNone/>
            </a:pPr>
            <a:r>
              <a:rPr lang="en-US" sz="1200" dirty="0">
                <a:solidFill>
                  <a:srgbClr val="3D3D3D"/>
                </a:solidFill>
                <a:latin typeface="Calibri" pitchFamily="34" charset="0"/>
                <a:ea typeface="Calibri" pitchFamily="34" charset="-122"/>
                <a:cs typeface="Calibri" pitchFamily="34" charset="-120"/>
              </a:rPr>
              <a:t>Same three files. If next month's data arrives, your flow should do everything again with one click.</a:t>
            </a:r>
            <a:endParaRPr lang="en-US" sz="1200" dirty="0"/>
          </a:p>
        </p:txBody>
      </p:sp>
      <p:sp>
        <p:nvSpPr>
          <p:cNvPr id="5" name="Text 3"/>
          <p:cNvSpPr txBox="1"/>
          <p:nvPr/>
        </p:nvSpPr>
        <p:spPr>
          <a:xfrm>
            <a:off x="411480" y="1371600"/>
            <a:ext cx="2743200" cy="201168"/>
          </a:xfrm>
          <a:prstGeom prst="rect">
            <a:avLst/>
          </a:prstGeom>
          <a:noFill/>
          <a:ln/>
        </p:spPr>
        <p:txBody>
          <a:bodyPr wrap="square" lIns="0" tIns="0" rIns="0" bIns="0" rtlCol="0" anchor="ctr"/>
          <a:lstStyle/>
          <a:p>
            <a:pPr indent="0" marL="0">
              <a:buNone/>
            </a:pPr>
            <a:r>
              <a:rPr lang="en-US" sz="1000" b="1" spc="150" kern="0" dirty="0">
                <a:solidFill>
                  <a:srgbClr val="2E8B6A"/>
                </a:solidFill>
                <a:latin typeface="Calibri" pitchFamily="34" charset="0"/>
                <a:ea typeface="Calibri" pitchFamily="34" charset="-122"/>
                <a:cs typeface="Calibri" pitchFamily="34" charset="-120"/>
              </a:rPr>
              <a:t>YOUR TASKS</a:t>
            </a:r>
            <a:endParaRPr lang="en-US" sz="1000" dirty="0"/>
          </a:p>
        </p:txBody>
      </p:sp>
      <p:sp>
        <p:nvSpPr>
          <p:cNvPr id="6" name="Step 1"/>
          <p:cNvSpPr/>
          <p:nvPr/>
        </p:nvSpPr>
        <p:spPr>
          <a:xfrm>
            <a:off x="411480" y="1609344"/>
            <a:ext cx="5120640" cy="457200"/>
          </a:xfrm>
          <a:prstGeom prst="roundRect">
            <a:avLst>
              <a:gd name="adj" fmla="val 16000"/>
            </a:avLst>
          </a:prstGeom>
          <a:solidFill>
            <a:srgbClr val="E3F4EC"/>
          </a:solidFill>
          <a:ln w="12700">
            <a:solidFill>
              <a:srgbClr val="E3F4EC"/>
            </a:solidFill>
            <a:prstDash val="solid"/>
          </a:ln>
        </p:spPr>
      </p:sp>
      <p:sp>
        <p:nvSpPr>
          <p:cNvPr id="7" name="Shape 5"/>
          <p:cNvSpPr/>
          <p:nvPr/>
        </p:nvSpPr>
        <p:spPr>
          <a:xfrm>
            <a:off x="512064" y="1682496"/>
            <a:ext cx="310896" cy="310896"/>
          </a:xfrm>
          <a:prstGeom prst="ellipse">
            <a:avLst/>
          </a:prstGeom>
          <a:solidFill>
            <a:srgbClr val="2E8B6A"/>
          </a:solidFill>
          <a:ln w="12700">
            <a:solidFill>
              <a:srgbClr val="2E8B6A"/>
            </a:solidFill>
            <a:prstDash val="solid"/>
          </a:ln>
        </p:spPr>
      </p:sp>
      <p:sp>
        <p:nvSpPr>
          <p:cNvPr id="8" name="Text 6"/>
          <p:cNvSpPr txBox="1"/>
          <p:nvPr/>
        </p:nvSpPr>
        <p:spPr>
          <a:xfrm>
            <a:off x="512064" y="168249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9" name="Text 7"/>
          <p:cNvSpPr txBox="1"/>
          <p:nvPr/>
        </p:nvSpPr>
        <p:spPr>
          <a:xfrm>
            <a:off x="941832" y="1627632"/>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Input and profile</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Connect orders_2024_03.csv · Clean step: find 3 issues from Lab 2.2 in the profile pane</a:t>
            </a:r>
            <a:endParaRPr lang="en-US" sz="1100" dirty="0"/>
          </a:p>
        </p:txBody>
      </p:sp>
      <p:sp>
        <p:nvSpPr>
          <p:cNvPr id="10" name="Shape 8"/>
          <p:cNvSpPr/>
          <p:nvPr/>
        </p:nvSpPr>
        <p:spPr>
          <a:xfrm>
            <a:off x="4828032" y="1700784"/>
            <a:ext cx="621792" cy="274320"/>
          </a:xfrm>
          <a:prstGeom prst="roundRect">
            <a:avLst>
              <a:gd name="adj" fmla="val 26667"/>
            </a:avLst>
          </a:prstGeom>
          <a:solidFill>
            <a:srgbClr val="FFFFFF"/>
          </a:solidFill>
          <a:ln w="12700">
            <a:solidFill>
              <a:srgbClr val="2E8B6A"/>
            </a:solidFill>
            <a:prstDash val="solid"/>
          </a:ln>
        </p:spPr>
      </p:sp>
      <p:sp>
        <p:nvSpPr>
          <p:cNvPr id="11" name="Text 9"/>
          <p:cNvSpPr txBox="1"/>
          <p:nvPr/>
        </p:nvSpPr>
        <p:spPr>
          <a:xfrm>
            <a:off x="4828032" y="1700784"/>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8 min</a:t>
            </a:r>
            <a:endParaRPr lang="en-US" sz="950" dirty="0"/>
          </a:p>
        </p:txBody>
      </p:sp>
      <p:sp>
        <p:nvSpPr>
          <p:cNvPr id="12" name="Step 2"/>
          <p:cNvSpPr/>
          <p:nvPr/>
        </p:nvSpPr>
        <p:spPr>
          <a:xfrm>
            <a:off x="411480" y="2125980"/>
            <a:ext cx="5120640" cy="457200"/>
          </a:xfrm>
          <a:prstGeom prst="roundRect">
            <a:avLst>
              <a:gd name="adj" fmla="val 16000"/>
            </a:avLst>
          </a:prstGeom>
          <a:solidFill>
            <a:srgbClr val="E3F4EC"/>
          </a:solidFill>
          <a:ln w="12700">
            <a:solidFill>
              <a:srgbClr val="E3F4EC"/>
            </a:solidFill>
            <a:prstDash val="solid"/>
          </a:ln>
        </p:spPr>
      </p:sp>
      <p:sp>
        <p:nvSpPr>
          <p:cNvPr id="13" name="Shape 11"/>
          <p:cNvSpPr/>
          <p:nvPr/>
        </p:nvSpPr>
        <p:spPr>
          <a:xfrm>
            <a:off x="512064" y="2199132"/>
            <a:ext cx="310896" cy="310896"/>
          </a:xfrm>
          <a:prstGeom prst="ellipse">
            <a:avLst/>
          </a:prstGeom>
          <a:solidFill>
            <a:srgbClr val="2E8B6A"/>
          </a:solidFill>
          <a:ln w="12700">
            <a:solidFill>
              <a:srgbClr val="2E8B6A"/>
            </a:solidFill>
            <a:prstDash val="solid"/>
          </a:ln>
        </p:spPr>
      </p:sp>
      <p:sp>
        <p:nvSpPr>
          <p:cNvPr id="14" name="Text 12"/>
          <p:cNvSpPr txBox="1"/>
          <p:nvPr/>
        </p:nvSpPr>
        <p:spPr>
          <a:xfrm>
            <a:off x="512064" y="2199132"/>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3"/>
          <p:cNvSpPr txBox="1"/>
          <p:nvPr/>
        </p:nvSpPr>
        <p:spPr>
          <a:xfrm>
            <a:off x="941832" y="2144268"/>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Clean</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Remove duplicates · fix types and dates · group city variants · filter quarantine rows</a:t>
            </a:r>
            <a:endParaRPr lang="en-US" sz="1100" dirty="0"/>
          </a:p>
        </p:txBody>
      </p:sp>
      <p:sp>
        <p:nvSpPr>
          <p:cNvPr id="16" name="Shape 14"/>
          <p:cNvSpPr/>
          <p:nvPr/>
        </p:nvSpPr>
        <p:spPr>
          <a:xfrm>
            <a:off x="4828032" y="2217420"/>
            <a:ext cx="621792" cy="274320"/>
          </a:xfrm>
          <a:prstGeom prst="roundRect">
            <a:avLst>
              <a:gd name="adj" fmla="val 26667"/>
            </a:avLst>
          </a:prstGeom>
          <a:solidFill>
            <a:srgbClr val="FFFFFF"/>
          </a:solidFill>
          <a:ln w="12700">
            <a:solidFill>
              <a:srgbClr val="2E8B6A"/>
            </a:solidFill>
            <a:prstDash val="solid"/>
          </a:ln>
        </p:spPr>
      </p:sp>
      <p:sp>
        <p:nvSpPr>
          <p:cNvPr id="17" name="Text 15"/>
          <p:cNvSpPr txBox="1"/>
          <p:nvPr/>
        </p:nvSpPr>
        <p:spPr>
          <a:xfrm>
            <a:off x="4828032" y="2217420"/>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12 min</a:t>
            </a:r>
            <a:endParaRPr lang="en-US" sz="950" dirty="0"/>
          </a:p>
        </p:txBody>
      </p:sp>
      <p:sp>
        <p:nvSpPr>
          <p:cNvPr id="18" name="Step 3"/>
          <p:cNvSpPr/>
          <p:nvPr/>
        </p:nvSpPr>
        <p:spPr>
          <a:xfrm>
            <a:off x="411480" y="2642616"/>
            <a:ext cx="5120640" cy="457200"/>
          </a:xfrm>
          <a:prstGeom prst="roundRect">
            <a:avLst>
              <a:gd name="adj" fmla="val 16000"/>
            </a:avLst>
          </a:prstGeom>
          <a:solidFill>
            <a:srgbClr val="E3F4EC"/>
          </a:solidFill>
          <a:ln w="12700">
            <a:solidFill>
              <a:srgbClr val="E3F4EC"/>
            </a:solidFill>
            <a:prstDash val="solid"/>
          </a:ln>
        </p:spPr>
      </p:sp>
      <p:sp>
        <p:nvSpPr>
          <p:cNvPr id="19" name="Shape 17"/>
          <p:cNvSpPr/>
          <p:nvPr/>
        </p:nvSpPr>
        <p:spPr>
          <a:xfrm>
            <a:off x="512064" y="2715768"/>
            <a:ext cx="310896" cy="310896"/>
          </a:xfrm>
          <a:prstGeom prst="ellipse">
            <a:avLst/>
          </a:prstGeom>
          <a:solidFill>
            <a:srgbClr val="2E8B6A"/>
          </a:solidFill>
          <a:ln w="12700">
            <a:solidFill>
              <a:srgbClr val="2E8B6A"/>
            </a:solidFill>
            <a:prstDash val="solid"/>
          </a:ln>
        </p:spPr>
      </p:sp>
      <p:sp>
        <p:nvSpPr>
          <p:cNvPr id="20" name="Text 18"/>
          <p:cNvSpPr txBox="1"/>
          <p:nvPr/>
        </p:nvSpPr>
        <p:spPr>
          <a:xfrm>
            <a:off x="512064" y="271576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1" name="Text 19"/>
          <p:cNvSpPr txBox="1"/>
          <p:nvPr/>
        </p:nvSpPr>
        <p:spPr>
          <a:xfrm>
            <a:off x="941832" y="2660904"/>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Transform</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Calculated fields: unit_price_eur, line_total_eur, order_size</a:t>
            </a:r>
            <a:endParaRPr lang="en-US" sz="1100" dirty="0"/>
          </a:p>
        </p:txBody>
      </p:sp>
      <p:sp>
        <p:nvSpPr>
          <p:cNvPr id="22" name="Shape 20"/>
          <p:cNvSpPr/>
          <p:nvPr/>
        </p:nvSpPr>
        <p:spPr>
          <a:xfrm>
            <a:off x="4828032" y="2734056"/>
            <a:ext cx="621792" cy="274320"/>
          </a:xfrm>
          <a:prstGeom prst="roundRect">
            <a:avLst>
              <a:gd name="adj" fmla="val 26667"/>
            </a:avLst>
          </a:prstGeom>
          <a:solidFill>
            <a:srgbClr val="FFFFFF"/>
          </a:solidFill>
          <a:ln w="12700">
            <a:solidFill>
              <a:srgbClr val="2E8B6A"/>
            </a:solidFill>
            <a:prstDash val="solid"/>
          </a:ln>
        </p:spPr>
      </p:sp>
      <p:sp>
        <p:nvSpPr>
          <p:cNvPr id="23" name="Text 21"/>
          <p:cNvSpPr txBox="1"/>
          <p:nvPr/>
        </p:nvSpPr>
        <p:spPr>
          <a:xfrm>
            <a:off x="4828032" y="2734056"/>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6 min</a:t>
            </a:r>
            <a:endParaRPr lang="en-US" sz="950" dirty="0"/>
          </a:p>
        </p:txBody>
      </p:sp>
      <p:sp>
        <p:nvSpPr>
          <p:cNvPr id="24" name="Step 4"/>
          <p:cNvSpPr/>
          <p:nvPr/>
        </p:nvSpPr>
        <p:spPr>
          <a:xfrm>
            <a:off x="411480" y="3159252"/>
            <a:ext cx="5120640" cy="457200"/>
          </a:xfrm>
          <a:prstGeom prst="roundRect">
            <a:avLst>
              <a:gd name="adj" fmla="val 16000"/>
            </a:avLst>
          </a:prstGeom>
          <a:solidFill>
            <a:srgbClr val="E3F4EC"/>
          </a:solidFill>
          <a:ln w="12700">
            <a:solidFill>
              <a:srgbClr val="E3F4EC"/>
            </a:solidFill>
            <a:prstDash val="solid"/>
          </a:ln>
        </p:spPr>
      </p:sp>
      <p:sp>
        <p:nvSpPr>
          <p:cNvPr id="25" name="Shape 23"/>
          <p:cNvSpPr/>
          <p:nvPr/>
        </p:nvSpPr>
        <p:spPr>
          <a:xfrm>
            <a:off x="512064" y="3232404"/>
            <a:ext cx="310896" cy="310896"/>
          </a:xfrm>
          <a:prstGeom prst="ellipse">
            <a:avLst/>
          </a:prstGeom>
          <a:solidFill>
            <a:srgbClr val="2E8B6A"/>
          </a:solidFill>
          <a:ln w="12700">
            <a:solidFill>
              <a:srgbClr val="2E8B6A"/>
            </a:solidFill>
            <a:prstDash val="solid"/>
          </a:ln>
        </p:spPr>
      </p:sp>
      <p:sp>
        <p:nvSpPr>
          <p:cNvPr id="26" name="Text 24"/>
          <p:cNvSpPr txBox="1"/>
          <p:nvPr/>
        </p:nvSpPr>
        <p:spPr>
          <a:xfrm>
            <a:off x="512064" y="3232404"/>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7" name="Text 25"/>
          <p:cNvSpPr txBox="1"/>
          <p:nvPr/>
        </p:nvSpPr>
        <p:spPr>
          <a:xfrm>
            <a:off x="941832" y="3177540"/>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Union and join</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Union April (rename price) · deduplicate customers · left join</a:t>
            </a:r>
            <a:endParaRPr lang="en-US" sz="1100" dirty="0"/>
          </a:p>
        </p:txBody>
      </p:sp>
      <p:sp>
        <p:nvSpPr>
          <p:cNvPr id="28" name="Shape 26"/>
          <p:cNvSpPr/>
          <p:nvPr/>
        </p:nvSpPr>
        <p:spPr>
          <a:xfrm>
            <a:off x="4828032" y="3250692"/>
            <a:ext cx="621792" cy="274320"/>
          </a:xfrm>
          <a:prstGeom prst="roundRect">
            <a:avLst>
              <a:gd name="adj" fmla="val 26667"/>
            </a:avLst>
          </a:prstGeom>
          <a:solidFill>
            <a:srgbClr val="FFFFFF"/>
          </a:solidFill>
          <a:ln w="12700">
            <a:solidFill>
              <a:srgbClr val="2E8B6A"/>
            </a:solidFill>
            <a:prstDash val="solid"/>
          </a:ln>
        </p:spPr>
      </p:sp>
      <p:sp>
        <p:nvSpPr>
          <p:cNvPr id="29" name="Text 27"/>
          <p:cNvSpPr txBox="1"/>
          <p:nvPr/>
        </p:nvSpPr>
        <p:spPr>
          <a:xfrm>
            <a:off x="4828032" y="3250692"/>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10 min</a:t>
            </a:r>
            <a:endParaRPr lang="en-US" sz="950" dirty="0"/>
          </a:p>
        </p:txBody>
      </p:sp>
      <p:sp>
        <p:nvSpPr>
          <p:cNvPr id="30" name="Step 5"/>
          <p:cNvSpPr/>
          <p:nvPr/>
        </p:nvSpPr>
        <p:spPr>
          <a:xfrm>
            <a:off x="411480" y="3675888"/>
            <a:ext cx="5120640" cy="457200"/>
          </a:xfrm>
          <a:prstGeom prst="roundRect">
            <a:avLst>
              <a:gd name="adj" fmla="val 16000"/>
            </a:avLst>
          </a:prstGeom>
          <a:solidFill>
            <a:srgbClr val="E3F4EC"/>
          </a:solidFill>
          <a:ln w="12700">
            <a:solidFill>
              <a:srgbClr val="E3F4EC"/>
            </a:solidFill>
            <a:prstDash val="solid"/>
          </a:ln>
        </p:spPr>
      </p:sp>
      <p:sp>
        <p:nvSpPr>
          <p:cNvPr id="31" name="Shape 29"/>
          <p:cNvSpPr/>
          <p:nvPr/>
        </p:nvSpPr>
        <p:spPr>
          <a:xfrm>
            <a:off x="512064" y="3749040"/>
            <a:ext cx="310896" cy="310896"/>
          </a:xfrm>
          <a:prstGeom prst="ellipse">
            <a:avLst/>
          </a:prstGeom>
          <a:solidFill>
            <a:srgbClr val="2E8B6A"/>
          </a:solidFill>
          <a:ln w="12700">
            <a:solidFill>
              <a:srgbClr val="2E8B6A"/>
            </a:solidFill>
            <a:prstDash val="solid"/>
          </a:ln>
        </p:spPr>
      </p:sp>
      <p:sp>
        <p:nvSpPr>
          <p:cNvPr id="32" name="Text 30"/>
          <p:cNvSpPr txBox="1"/>
          <p:nvPr/>
        </p:nvSpPr>
        <p:spPr>
          <a:xfrm>
            <a:off x="512064" y="3749040"/>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p>
        </p:txBody>
      </p:sp>
      <p:sp>
        <p:nvSpPr>
          <p:cNvPr id="33" name="Text 31"/>
          <p:cNvSpPr txBox="1"/>
          <p:nvPr/>
        </p:nvSpPr>
        <p:spPr>
          <a:xfrm>
            <a:off x="941832" y="3694176"/>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Aggregate and output</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Aggregate step: revenue by city · Output: CSV</a:t>
            </a:r>
            <a:endParaRPr lang="en-US" sz="1100" dirty="0"/>
          </a:p>
        </p:txBody>
      </p:sp>
      <p:sp>
        <p:nvSpPr>
          <p:cNvPr id="34" name="Shape 32"/>
          <p:cNvSpPr/>
          <p:nvPr/>
        </p:nvSpPr>
        <p:spPr>
          <a:xfrm>
            <a:off x="4828032" y="3767328"/>
            <a:ext cx="621792" cy="274320"/>
          </a:xfrm>
          <a:prstGeom prst="roundRect">
            <a:avLst>
              <a:gd name="adj" fmla="val 26667"/>
            </a:avLst>
          </a:prstGeom>
          <a:solidFill>
            <a:srgbClr val="FFFFFF"/>
          </a:solidFill>
          <a:ln w="12700">
            <a:solidFill>
              <a:srgbClr val="2E8B6A"/>
            </a:solidFill>
            <a:prstDash val="solid"/>
          </a:ln>
        </p:spPr>
      </p:sp>
      <p:sp>
        <p:nvSpPr>
          <p:cNvPr id="35" name="Text 33"/>
          <p:cNvSpPr txBox="1"/>
          <p:nvPr/>
        </p:nvSpPr>
        <p:spPr>
          <a:xfrm>
            <a:off x="4828032" y="3767328"/>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5 min</a:t>
            </a:r>
            <a:endParaRPr lang="en-US" sz="950" dirty="0"/>
          </a:p>
        </p:txBody>
      </p:sp>
      <p:sp>
        <p:nvSpPr>
          <p:cNvPr id="36" name="Step 6"/>
          <p:cNvSpPr/>
          <p:nvPr/>
        </p:nvSpPr>
        <p:spPr>
          <a:xfrm>
            <a:off x="411480" y="4192524"/>
            <a:ext cx="5120640" cy="457200"/>
          </a:xfrm>
          <a:prstGeom prst="roundRect">
            <a:avLst>
              <a:gd name="adj" fmla="val 16000"/>
            </a:avLst>
          </a:prstGeom>
          <a:solidFill>
            <a:srgbClr val="E3F4EC"/>
          </a:solidFill>
          <a:ln w="12700">
            <a:solidFill>
              <a:srgbClr val="E3F4EC"/>
            </a:solidFill>
            <a:prstDash val="solid"/>
          </a:ln>
        </p:spPr>
      </p:sp>
      <p:sp>
        <p:nvSpPr>
          <p:cNvPr id="37" name="Shape 35"/>
          <p:cNvSpPr/>
          <p:nvPr/>
        </p:nvSpPr>
        <p:spPr>
          <a:xfrm>
            <a:off x="512064" y="4265676"/>
            <a:ext cx="310896" cy="310896"/>
          </a:xfrm>
          <a:prstGeom prst="ellipse">
            <a:avLst/>
          </a:prstGeom>
          <a:solidFill>
            <a:srgbClr val="2E8B6A"/>
          </a:solidFill>
          <a:ln w="12700">
            <a:solidFill>
              <a:srgbClr val="2E8B6A"/>
            </a:solidFill>
            <a:prstDash val="solid"/>
          </a:ln>
        </p:spPr>
      </p:sp>
      <p:sp>
        <p:nvSpPr>
          <p:cNvPr id="38" name="Text 36"/>
          <p:cNvSpPr txBox="1"/>
          <p:nvPr/>
        </p:nvSpPr>
        <p:spPr>
          <a:xfrm>
            <a:off x="512064" y="426567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39" name="Text 37"/>
          <p:cNvSpPr txBox="1"/>
          <p:nvPr/>
        </p:nvSpPr>
        <p:spPr>
          <a:xfrm>
            <a:off x="941832" y="4210812"/>
            <a:ext cx="3840480" cy="420624"/>
          </a:xfrm>
          <a:prstGeom prst="rect">
            <a:avLst/>
          </a:prstGeom>
          <a:noFill/>
          <a:ln/>
        </p:spPr>
        <p:txBody>
          <a:bodyPr wrap="square" lIns="0" tIns="0" rIns="0" bIns="0" rtlCol="0" anchor="ctr"/>
          <a:lstStyle/>
          <a:p>
            <a:pPr indent="0" marL="0">
              <a:buNone/>
            </a:pPr>
            <a:r>
              <a:rPr lang="en-US" sz="1100" b="1" dirty="0">
                <a:solidFill>
                  <a:srgbClr val="0B5A43"/>
                </a:solidFill>
                <a:latin typeface="Calibri" pitchFamily="34" charset="0"/>
                <a:ea typeface="Calibri" pitchFamily="34" charset="-122"/>
                <a:cs typeface="Calibri" pitchFamily="34" charset="-120"/>
              </a:rPr>
              <a:t>Compare</a:t>
            </a:r>
            <a:endParaRPr lang="en-US" sz="1100" dirty="0"/>
          </a:p>
          <a:p>
            <a:pPr indent="0" marL="0">
              <a:buNone/>
            </a:pPr>
            <a:r>
              <a:rPr lang="en-US" sz="950" dirty="0">
                <a:solidFill>
                  <a:srgbClr val="3D3D3D"/>
                </a:solidFill>
                <a:latin typeface="Calibri" pitchFamily="34" charset="0"/>
                <a:ea typeface="Calibri" pitchFamily="34" charset="-122"/>
                <a:cs typeface="Calibri" pitchFamily="34" charset="-120"/>
              </a:rPr>
              <a:t>Row counts and revenue: same as your Python result? If not — why?</a:t>
            </a:r>
            <a:endParaRPr lang="en-US" sz="1100" dirty="0"/>
          </a:p>
        </p:txBody>
      </p:sp>
      <p:sp>
        <p:nvSpPr>
          <p:cNvPr id="40" name="Shape 38"/>
          <p:cNvSpPr/>
          <p:nvPr/>
        </p:nvSpPr>
        <p:spPr>
          <a:xfrm>
            <a:off x="4828032" y="4283964"/>
            <a:ext cx="621792" cy="274320"/>
          </a:xfrm>
          <a:prstGeom prst="roundRect">
            <a:avLst>
              <a:gd name="adj" fmla="val 26667"/>
            </a:avLst>
          </a:prstGeom>
          <a:solidFill>
            <a:srgbClr val="FFFFFF"/>
          </a:solidFill>
          <a:ln w="12700">
            <a:solidFill>
              <a:srgbClr val="2E8B6A"/>
            </a:solidFill>
            <a:prstDash val="solid"/>
          </a:ln>
        </p:spPr>
      </p:sp>
      <p:sp>
        <p:nvSpPr>
          <p:cNvPr id="41" name="Text 39"/>
          <p:cNvSpPr txBox="1"/>
          <p:nvPr/>
        </p:nvSpPr>
        <p:spPr>
          <a:xfrm>
            <a:off x="4828032" y="4283964"/>
            <a:ext cx="621792" cy="274320"/>
          </a:xfrm>
          <a:prstGeom prst="rect">
            <a:avLst/>
          </a:prstGeom>
          <a:noFill/>
          <a:ln/>
        </p:spPr>
        <p:txBody>
          <a:bodyPr wrap="square" lIns="0" tIns="0" rIns="0" bIns="0" rtlCol="0" anchor="ctr"/>
          <a:lstStyle/>
          <a:p>
            <a:pPr algn="ctr" indent="0" marL="0">
              <a:buNone/>
            </a:pPr>
            <a:r>
              <a:rPr lang="en-US" sz="950" b="1" dirty="0">
                <a:solidFill>
                  <a:srgbClr val="2E8B6A"/>
                </a:solidFill>
                <a:latin typeface="Calibri" pitchFamily="34" charset="0"/>
                <a:ea typeface="Calibri" pitchFamily="34" charset="-122"/>
                <a:cs typeface="Calibri" pitchFamily="34" charset="-120"/>
              </a:rPr>
              <a:t>5 min</a:t>
            </a:r>
            <a:endParaRPr lang="en-US" sz="950" dirty="0"/>
          </a:p>
        </p:txBody>
      </p:sp>
      <p:sp>
        <p:nvSpPr>
          <p:cNvPr id="42" name="Files on Moodle"/>
          <p:cNvSpPr/>
          <p:nvPr/>
        </p:nvSpPr>
        <p:spPr>
          <a:xfrm>
            <a:off x="5760720" y="1371600"/>
            <a:ext cx="2971800" cy="1106424"/>
          </a:xfrm>
          <a:prstGeom prst="roundRect">
            <a:avLst>
              <a:gd name="adj" fmla="val 6612"/>
            </a:avLst>
          </a:prstGeom>
          <a:solidFill>
            <a:srgbClr val="EAF2FB"/>
          </a:solidFill>
          <a:ln w="12700">
            <a:solidFill>
              <a:srgbClr val="1F5FA8"/>
            </a:solidFill>
            <a:prstDash val="solid"/>
          </a:ln>
        </p:spPr>
      </p:sp>
      <p:sp>
        <p:nvSpPr>
          <p:cNvPr id="43" name="Text 41"/>
          <p:cNvSpPr txBox="1"/>
          <p:nvPr/>
        </p:nvSpPr>
        <p:spPr>
          <a:xfrm>
            <a:off x="5897880" y="1435608"/>
            <a:ext cx="2697480" cy="182880"/>
          </a:xfrm>
          <a:prstGeom prst="rect">
            <a:avLst/>
          </a:prstGeom>
          <a:noFill/>
          <a:ln/>
        </p:spPr>
        <p:txBody>
          <a:bodyPr wrap="square" lIns="0" tIns="0" rIns="0" bIns="0" rtlCol="0" anchor="ctr"/>
          <a:lstStyle/>
          <a:p>
            <a:pPr indent="0" marL="0">
              <a:buNone/>
            </a:pPr>
            <a:r>
              <a:rPr lang="en-US" sz="950" b="1" spc="120" kern="0" dirty="0">
                <a:solidFill>
                  <a:srgbClr val="1F5FA8"/>
                </a:solidFill>
                <a:latin typeface="Calibri" pitchFamily="34" charset="0"/>
                <a:ea typeface="Calibri" pitchFamily="34" charset="-122"/>
                <a:cs typeface="Calibri" pitchFamily="34" charset="-120"/>
              </a:rPr>
              <a:t>FILES ON MOODLE · USE THESE</a:t>
            </a:r>
            <a:endParaRPr lang="en-US" sz="950" dirty="0"/>
          </a:p>
        </p:txBody>
      </p:sp>
      <p:sp>
        <p:nvSpPr>
          <p:cNvPr id="44" name="Text 42"/>
          <p:cNvSpPr txBox="1"/>
          <p:nvPr/>
        </p:nvSpPr>
        <p:spPr>
          <a:xfrm>
            <a:off x="5897880" y="1664208"/>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orders_2024_03.csv</a:t>
            </a:r>
            <a:pPr indent="0" marL="0">
              <a:buNone/>
            </a:pPr>
            <a:r>
              <a:rPr lang="en-US" sz="850" dirty="0">
                <a:solidFill>
                  <a:srgbClr val="3D3D3D"/>
                </a:solidFill>
                <a:latin typeface="Calibri" pitchFamily="34" charset="0"/>
                <a:ea typeface="Calibri" pitchFamily="34" charset="-122"/>
                <a:cs typeface="Calibri" pitchFamily="34" charset="-120"/>
              </a:rPr>
              <a:t>  + orders_2024_04.csv</a:t>
            </a:r>
            <a:endParaRPr lang="en-US" sz="900" dirty="0"/>
          </a:p>
        </p:txBody>
      </p:sp>
      <p:sp>
        <p:nvSpPr>
          <p:cNvPr id="45" name="Text 43"/>
          <p:cNvSpPr txBox="1"/>
          <p:nvPr/>
        </p:nvSpPr>
        <p:spPr>
          <a:xfrm>
            <a:off x="5897880" y="1911096"/>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customers.csv</a:t>
            </a:r>
            <a:pPr indent="0" marL="0">
              <a:buNone/>
            </a:pPr>
            <a:r>
              <a:rPr lang="en-US" sz="850" dirty="0">
                <a:solidFill>
                  <a:srgbClr val="3D3D3D"/>
                </a:solidFill>
                <a:latin typeface="Calibri" pitchFamily="34" charset="0"/>
                <a:ea typeface="Calibri" pitchFamily="34" charset="-122"/>
                <a:cs typeface="Calibri" pitchFamily="34" charset="-120"/>
              </a:rPr>
              <a:t>  segment</a:t>
            </a:r>
            <a:endParaRPr lang="en-US" sz="900" dirty="0"/>
          </a:p>
        </p:txBody>
      </p:sp>
      <p:sp>
        <p:nvSpPr>
          <p:cNvPr id="46" name="Text 44"/>
          <p:cNvSpPr txBox="1"/>
          <p:nvPr/>
        </p:nvSpPr>
        <p:spPr>
          <a:xfrm>
            <a:off x="5897880" y="2157984"/>
            <a:ext cx="2788920" cy="228600"/>
          </a:xfrm>
          <a:prstGeom prst="rect">
            <a:avLst/>
          </a:prstGeom>
          <a:noFill/>
          <a:ln/>
        </p:spPr>
        <p:txBody>
          <a:bodyPr wrap="square" lIns="0" tIns="0" rIns="0" bIns="0" rtlCol="0" anchor="ctr"/>
          <a:lstStyle/>
          <a:p>
            <a:pPr indent="0" marL="0">
              <a:buNone/>
            </a:pPr>
            <a:r>
              <a:rPr lang="en-US" sz="900" b="1" dirty="0">
                <a:solidFill>
                  <a:srgbClr val="1F3F6B"/>
                </a:solidFill>
                <a:latin typeface="Calibri" pitchFamily="34" charset="0"/>
                <a:ea typeface="Calibri" pitchFamily="34" charset="-122"/>
                <a:cs typeface="Calibri" pitchFamily="34" charset="-120"/>
              </a:rPr>
              <a:t>Lab2.5_FlowReport.pptx</a:t>
            </a:r>
            <a:pPr indent="0" marL="0">
              <a:buNone/>
            </a:pPr>
            <a:r>
              <a:rPr lang="en-US" sz="850" dirty="0">
                <a:solidFill>
                  <a:srgbClr val="3D3D3D"/>
                </a:solidFill>
                <a:latin typeface="Calibri" pitchFamily="34" charset="0"/>
                <a:ea typeface="Calibri" pitchFamily="34" charset="-122"/>
                <a:cs typeface="Calibri" pitchFamily="34" charset="-120"/>
              </a:rPr>
              <a:t>  your flow report</a:t>
            </a:r>
            <a:endParaRPr lang="en-US" sz="900" dirty="0"/>
          </a:p>
        </p:txBody>
      </p:sp>
      <p:sp>
        <p:nvSpPr>
          <p:cNvPr id="47" name="Submit"/>
          <p:cNvSpPr/>
          <p:nvPr/>
        </p:nvSpPr>
        <p:spPr>
          <a:xfrm>
            <a:off x="5760720" y="2587752"/>
            <a:ext cx="2971800" cy="1024128"/>
          </a:xfrm>
          <a:prstGeom prst="roundRect">
            <a:avLst>
              <a:gd name="adj" fmla="val 7143"/>
            </a:avLst>
          </a:prstGeom>
          <a:solidFill>
            <a:srgbClr val="FFF4EC"/>
          </a:solidFill>
          <a:ln w="12700">
            <a:solidFill>
              <a:srgbClr val="D9480F"/>
            </a:solidFill>
            <a:prstDash val="solid"/>
          </a:ln>
        </p:spPr>
      </p:sp>
      <p:sp>
        <p:nvSpPr>
          <p:cNvPr id="48" name="Text 46"/>
          <p:cNvSpPr txBox="1"/>
          <p:nvPr/>
        </p:nvSpPr>
        <p:spPr>
          <a:xfrm>
            <a:off x="5897880" y="2651760"/>
            <a:ext cx="2697480" cy="182880"/>
          </a:xfrm>
          <a:prstGeom prst="rect">
            <a:avLst/>
          </a:prstGeom>
          <a:noFill/>
          <a:ln/>
        </p:spPr>
        <p:txBody>
          <a:bodyPr wrap="square" lIns="0" tIns="0" rIns="0" bIns="0" rtlCol="0" anchor="ctr"/>
          <a:lstStyle/>
          <a:p>
            <a:pPr indent="0" marL="0">
              <a:buNone/>
            </a:pPr>
            <a:r>
              <a:rPr lang="en-US" sz="950" b="1" spc="120" kern="0" dirty="0">
                <a:solidFill>
                  <a:srgbClr val="D9480F"/>
                </a:solidFill>
                <a:latin typeface="Calibri" pitchFamily="34" charset="0"/>
                <a:ea typeface="Calibri" pitchFamily="34" charset="-122"/>
                <a:cs typeface="Calibri" pitchFamily="34" charset="-120"/>
              </a:rPr>
              <a:t>YOU SUBMIT ON MOODLE</a:t>
            </a:r>
            <a:endParaRPr lang="en-US" sz="950" dirty="0"/>
          </a:p>
        </p:txBody>
      </p:sp>
      <p:sp>
        <p:nvSpPr>
          <p:cNvPr id="49" name="Text 47"/>
          <p:cNvSpPr txBox="1"/>
          <p:nvPr/>
        </p:nvSpPr>
        <p:spPr>
          <a:xfrm>
            <a:off x="5897880" y="2843784"/>
            <a:ext cx="2743200" cy="731520"/>
          </a:xfrm>
          <a:prstGeom prst="rect">
            <a:avLst/>
          </a:prstGeom>
          <a:noFill/>
          <a:ln/>
        </p:spPr>
        <p:txBody>
          <a:bodyPr wrap="square" lIns="0" tIns="0" rIns="0" bIns="0" rtlCol="0" anchor="t"/>
          <a:lstStyle/>
          <a:p>
            <a:pPr indent="0" marL="0">
              <a:spcAft>
                <a:spcPts val="200"/>
              </a:spcAft>
              <a:buNone/>
            </a:pPr>
            <a:r>
              <a:rPr lang="en-US" sz="950" dirty="0">
                <a:solidFill>
                  <a:srgbClr val="3D3D3D"/>
                </a:solidFill>
                <a:latin typeface="Calibri" pitchFamily="34" charset="0"/>
                <a:ea typeface="Calibri" pitchFamily="34" charset="-122"/>
                <a:cs typeface="Calibri" pitchFamily="34" charset="-120"/>
              </a:rPr>
              <a:t>ZIP: packaged flow (.tflx) + output CSV + report PDF</a:t>
            </a:r>
            <a:endParaRPr lang="en-US" sz="950" dirty="0"/>
          </a:p>
          <a:p>
            <a:pPr indent="0" marL="0">
              <a:spcAft>
                <a:spcPts val="200"/>
              </a:spcAft>
              <a:buNone/>
            </a:pPr>
            <a:r>
              <a:rPr lang="en-US" sz="950" b="1" dirty="0">
                <a:solidFill>
                  <a:srgbClr val="3D3D3D"/>
                </a:solidFill>
                <a:latin typeface="Calibri" pitchFamily="34" charset="0"/>
                <a:ea typeface="Calibri" pitchFamily="34" charset="-122"/>
                <a:cs typeface="Calibri" pitchFamily="34" charset="-120"/>
              </a:rPr>
              <a:t>Group representative</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 · one file per group</a:t>
            </a:r>
            <a:endParaRPr lang="en-US" sz="950" dirty="0"/>
          </a:p>
          <a:p>
            <a:pPr indent="0" marL="0">
              <a:spcAft>
                <a:spcPts val="200"/>
              </a:spcAft>
              <a:buNone/>
            </a:pPr>
            <a:r>
              <a:rPr lang="en-US" sz="950" b="1" dirty="0">
                <a:solidFill>
                  <a:srgbClr val="3D3D3D"/>
                </a:solidFill>
                <a:latin typeface="Calibri" pitchFamily="34" charset="0"/>
                <a:ea typeface="Calibri" pitchFamily="34" charset="-122"/>
                <a:cs typeface="Calibri" pitchFamily="34" charset="-120"/>
              </a:rPr>
              <a:t>File: </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Lab2.5_Group&lt;Nr&gt;.zip</a:t>
            </a:r>
            <a:endParaRPr lang="en-US" sz="950" dirty="0"/>
          </a:p>
          <a:p>
            <a:pPr indent="0" marL="0">
              <a:spcAft>
                <a:spcPts val="200"/>
              </a:spcAft>
              <a:buNone/>
            </a:pPr>
            <a:r>
              <a:rPr lang="en-US" sz="950" b="1" dirty="0">
                <a:solidFill>
                  <a:srgbClr val="D9480F"/>
                </a:solidFill>
                <a:latin typeface="Calibri" pitchFamily="34" charset="0"/>
                <a:ea typeface="Calibri" pitchFamily="34" charset="-122"/>
                <a:cs typeface="Calibri" pitchFamily="34" charset="-120"/>
              </a:rPr>
              <a:t>Deadline: </a:t>
            </a:r>
            <a:pPr indent="0" marL="0">
              <a:spcAft>
                <a:spcPts val="200"/>
              </a:spcAft>
              <a:buNone/>
            </a:pPr>
            <a:r>
              <a:rPr lang="en-US" sz="950" dirty="0">
                <a:solidFill>
                  <a:srgbClr val="3D3D3D"/>
                </a:solidFill>
                <a:latin typeface="Calibri" pitchFamily="34" charset="0"/>
                <a:ea typeface="Calibri" pitchFamily="34" charset="-122"/>
                <a:cs typeface="Calibri" pitchFamily="34" charset="-120"/>
              </a:rPr>
              <a:t>before the next session</a:t>
            </a:r>
            <a:endParaRPr lang="en-US" sz="950" dirty="0"/>
          </a:p>
        </p:txBody>
      </p:sp>
      <p:sp>
        <p:nvSpPr>
          <p:cNvPr id="50" name="Progress check"/>
          <p:cNvSpPr/>
          <p:nvPr/>
        </p:nvSpPr>
        <p:spPr>
          <a:xfrm>
            <a:off x="5760720" y="3721608"/>
            <a:ext cx="2971800" cy="914400"/>
          </a:xfrm>
          <a:prstGeom prst="roundRect">
            <a:avLst>
              <a:gd name="adj" fmla="val 8000"/>
            </a:avLst>
          </a:prstGeom>
          <a:solidFill>
            <a:srgbClr val="0B5A43"/>
          </a:solidFill>
          <a:ln w="12700">
            <a:solidFill>
              <a:srgbClr val="0B5A43"/>
            </a:solidFill>
            <a:prstDash val="solid"/>
          </a:ln>
        </p:spPr>
      </p:sp>
      <p:sp>
        <p:nvSpPr>
          <p:cNvPr id="51" name="Text 49"/>
          <p:cNvSpPr txBox="1"/>
          <p:nvPr/>
        </p:nvSpPr>
        <p:spPr>
          <a:xfrm>
            <a:off x="5897880" y="3794760"/>
            <a:ext cx="2697480" cy="182880"/>
          </a:xfrm>
          <a:prstGeom prst="rect">
            <a:avLst/>
          </a:prstGeom>
          <a:noFill/>
          <a:ln/>
        </p:spPr>
        <p:txBody>
          <a:bodyPr wrap="square" lIns="0" tIns="0" rIns="0" bIns="0" rtlCol="0" anchor="ctr"/>
          <a:lstStyle/>
          <a:p>
            <a:pPr indent="0" marL="0">
              <a:buNone/>
            </a:pPr>
            <a:r>
              <a:rPr lang="en-US" sz="950" b="1" spc="120" kern="0" dirty="0">
                <a:solidFill>
                  <a:srgbClr val="9CD3B5"/>
                </a:solidFill>
                <a:latin typeface="Calibri" pitchFamily="34" charset="0"/>
                <a:ea typeface="Calibri" pitchFamily="34" charset="-122"/>
                <a:cs typeface="Calibri" pitchFamily="34" charset="-120"/>
              </a:rPr>
              <a:t>PROGRESS CHECK · END OF SESSION</a:t>
            </a:r>
            <a:endParaRPr lang="en-US" sz="950" dirty="0"/>
          </a:p>
        </p:txBody>
      </p:sp>
      <p:sp>
        <p:nvSpPr>
          <p:cNvPr id="52" name="Text 50"/>
          <p:cNvSpPr txBox="1"/>
          <p:nvPr/>
        </p:nvSpPr>
        <p:spPr>
          <a:xfrm>
            <a:off x="5897880" y="3995928"/>
            <a:ext cx="2743200" cy="603504"/>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Run your flow live: show the Changes pane and the final row count.</a:t>
            </a:r>
            <a:endParaRPr lang="en-US" sz="950" dirty="0"/>
          </a:p>
        </p:txBody>
      </p:sp>
      <p:sp>
        <p:nvSpPr>
          <p:cNvPr id="53" name="Text 51"/>
          <p:cNvSpPr txBox="1"/>
          <p:nvPr/>
        </p:nvSpPr>
        <p:spPr>
          <a:xfrm>
            <a:off x="411480" y="4773168"/>
            <a:ext cx="5120640" cy="228600"/>
          </a:xfrm>
          <a:prstGeom prst="rect">
            <a:avLst/>
          </a:prstGeom>
          <a:noFill/>
          <a:ln/>
        </p:spPr>
        <p:txBody>
          <a:bodyPr wrap="square" lIns="0" tIns="0" rIns="0" bIns="0" rtlCol="0" anchor="ctr"/>
          <a:lstStyle/>
          <a:p>
            <a:pPr indent="0" marL="0">
              <a:buNone/>
            </a:pPr>
            <a:r>
              <a:rPr lang="en-US" sz="1000" i="1" dirty="0">
                <a:solidFill>
                  <a:srgbClr val="6B6762"/>
                </a:solidFill>
                <a:latin typeface="Calibri" pitchFamily="34" charset="0"/>
                <a:ea typeface="Calibri" pitchFamily="34" charset="-122"/>
                <a:cs typeface="Calibri" pitchFamily="34" charset="-120"/>
              </a:rPr>
              <a:t>Groups of 3–5 · Tableau Prep Builder (course licence) · start in class (~45 min)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11480" y="201168"/>
            <a:ext cx="8321040" cy="384048"/>
          </a:xfrm>
          <a:prstGeom prst="rect">
            <a:avLst/>
          </a:prstGeom>
          <a:noFill/>
          <a:ln/>
        </p:spPr>
        <p:txBody>
          <a:bodyPr wrap="square" lIns="0" tIns="0" rIns="0" bIns="0" rtlCol="0" anchor="ctr"/>
          <a:lstStyle/>
          <a:p>
            <a:pPr indent="0" marL="0">
              <a:buNone/>
            </a:pPr>
            <a:r>
              <a:rPr lang="en-US" sz="1900" b="1" dirty="0">
                <a:solidFill>
                  <a:srgbClr val="D9480F"/>
                </a:solidFill>
                <a:latin typeface="Calibri" pitchFamily="34" charset="0"/>
                <a:ea typeface="Calibri" pitchFamily="34" charset="-122"/>
                <a:cs typeface="Calibri" pitchFamily="34" charset="-120"/>
              </a:rPr>
              <a:t>Lab 2.5 Worksheet: Tableau Prep Flow Report</a:t>
            </a:r>
            <a:endParaRPr lang="en-US" sz="1900" dirty="0"/>
          </a:p>
        </p:txBody>
      </p:sp>
      <p:sp>
        <p:nvSpPr>
          <p:cNvPr id="3" name="Text 1"/>
          <p:cNvSpPr txBox="1"/>
          <p:nvPr/>
        </p:nvSpPr>
        <p:spPr>
          <a:xfrm>
            <a:off x="411480" y="566928"/>
            <a:ext cx="8321040" cy="182880"/>
          </a:xfrm>
          <a:prstGeom prst="rect">
            <a:avLst/>
          </a:prstGeom>
          <a:noFill/>
          <a:ln/>
        </p:spPr>
        <p:txBody>
          <a:bodyPr wrap="square" lIns="0" tIns="0" rIns="0" bIns="0" rtlCol="0" anchor="ctr"/>
          <a:lstStyle/>
          <a:p>
            <a:pPr indent="0" marL="0">
              <a:buNone/>
            </a:pPr>
            <a:r>
              <a:rPr lang="en-US" sz="900" i="1" dirty="0">
                <a:solidFill>
                  <a:srgbClr val="6B6762"/>
                </a:solidFill>
                <a:latin typeface="Calibri" pitchFamily="34" charset="0"/>
                <a:ea typeface="Calibri" pitchFamily="34" charset="-122"/>
                <a:cs typeface="Calibri" pitchFamily="34" charset="-120"/>
              </a:rPr>
              <a:t>Preview only — fill in the editable worksheet from Moodle.</a:t>
            </a:r>
            <a:endParaRPr lang="en-US" sz="900" dirty="0"/>
          </a:p>
        </p:txBody>
      </p:sp>
      <p:sp>
        <p:nvSpPr>
          <p:cNvPr id="4" name="Text 2"/>
          <p:cNvSpPr txBox="1"/>
          <p:nvPr/>
        </p:nvSpPr>
        <p:spPr>
          <a:xfrm>
            <a:off x="411480" y="822960"/>
            <a:ext cx="640080" cy="237744"/>
          </a:xfrm>
          <a:prstGeom prst="rect">
            <a:avLst/>
          </a:prstGeom>
          <a:noFill/>
          <a:ln/>
        </p:spPr>
        <p:txBody>
          <a:bodyPr wrap="square" lIns="0" tIns="0" rIns="0" bIns="0" rtlCol="0" anchor="ctr"/>
          <a:lstStyle/>
          <a:p>
            <a:pPr indent="0" marL="0">
              <a:buNone/>
            </a:pPr>
            <a:r>
              <a:rPr lang="en-US" sz="1000" b="1" dirty="0">
                <a:solidFill>
                  <a:srgbClr val="0B5A43"/>
                </a:solidFill>
                <a:latin typeface="Calibri" pitchFamily="34" charset="0"/>
                <a:ea typeface="Calibri" pitchFamily="34" charset="-122"/>
                <a:cs typeface="Calibri" pitchFamily="34" charset="-120"/>
              </a:rPr>
              <a:t>Group Nr</a:t>
            </a:r>
            <a:endParaRPr lang="en-US" sz="1000" dirty="0"/>
          </a:p>
        </p:txBody>
      </p:sp>
      <p:sp>
        <p:nvSpPr>
          <p:cNvPr id="5" name="Group Nr"/>
          <p:cNvSpPr/>
          <p:nvPr/>
        </p:nvSpPr>
        <p:spPr>
          <a:xfrm>
            <a:off x="1024128" y="822960"/>
            <a:ext cx="411480" cy="237744"/>
          </a:xfrm>
          <a:prstGeom prst="rect">
            <a:avLst/>
          </a:prstGeom>
          <a:solidFill>
            <a:srgbClr val="FFFFFF"/>
          </a:solidFill>
          <a:ln w="9525">
            <a:solidFill>
              <a:srgbClr val="B9B4AD"/>
            </a:solidFill>
            <a:prstDash val="dash"/>
          </a:ln>
        </p:spPr>
        <p:txBody>
          <a:bodyPr wrap="square" lIns="38100" tIns="38100" rIns="38100" bIns="38100" rtlCol="0" anchor="ctr"/>
          <a:lstStyle/>
          <a:p>
            <a:pPr indent="0" marL="0">
              <a:buNone/>
            </a:pPr>
            <a:r>
              <a:rPr lang="en-US" sz="1000" i="1" dirty="0">
                <a:solidFill>
                  <a:srgbClr val="8A8680"/>
                </a:solidFill>
                <a:latin typeface="Calibri" pitchFamily="34" charset="0"/>
                <a:ea typeface="Calibri" pitchFamily="34" charset="-122"/>
                <a:cs typeface="Calibri" pitchFamily="34" charset="-120"/>
              </a:rPr>
              <a:t>__</a:t>
            </a:r>
            <a:endParaRPr lang="en-US" sz="1000" dirty="0"/>
          </a:p>
        </p:txBody>
      </p:sp>
      <p:sp>
        <p:nvSpPr>
          <p:cNvPr id="6" name="Text 4"/>
          <p:cNvSpPr txBox="1"/>
          <p:nvPr/>
        </p:nvSpPr>
        <p:spPr>
          <a:xfrm>
            <a:off x="1600200" y="822960"/>
            <a:ext cx="640080" cy="237744"/>
          </a:xfrm>
          <a:prstGeom prst="rect">
            <a:avLst/>
          </a:prstGeom>
          <a:noFill/>
          <a:ln/>
        </p:spPr>
        <p:txBody>
          <a:bodyPr wrap="square" lIns="0" tIns="0" rIns="0" bIns="0" rtlCol="0" anchor="ctr"/>
          <a:lstStyle/>
          <a:p>
            <a:pPr indent="0" marL="0">
              <a:buNone/>
            </a:pPr>
            <a:r>
              <a:rPr lang="en-US" sz="1000" b="1" dirty="0">
                <a:solidFill>
                  <a:srgbClr val="0B5A43"/>
                </a:solidFill>
                <a:latin typeface="Calibri" pitchFamily="34" charset="0"/>
                <a:ea typeface="Calibri" pitchFamily="34" charset="-122"/>
                <a:cs typeface="Calibri" pitchFamily="34" charset="-120"/>
              </a:rPr>
              <a:t>Members</a:t>
            </a:r>
            <a:endParaRPr lang="en-US" sz="1000" dirty="0"/>
          </a:p>
        </p:txBody>
      </p:sp>
      <p:sp>
        <p:nvSpPr>
          <p:cNvPr id="7" name="Members"/>
          <p:cNvSpPr/>
          <p:nvPr/>
        </p:nvSpPr>
        <p:spPr>
          <a:xfrm>
            <a:off x="2240280" y="822960"/>
            <a:ext cx="4389120" cy="237744"/>
          </a:xfrm>
          <a:prstGeom prst="rect">
            <a:avLst/>
          </a:prstGeom>
          <a:solidFill>
            <a:srgbClr val="FFFFFF"/>
          </a:solidFill>
          <a:ln w="9525">
            <a:solidFill>
              <a:srgbClr val="B9B4AD"/>
            </a:solidFill>
            <a:prstDash val="dash"/>
          </a:ln>
        </p:spPr>
        <p:txBody>
          <a:bodyPr wrap="square" lIns="38100" tIns="38100" rIns="38100" bIns="38100" rtlCol="0" anchor="ctr"/>
          <a:lstStyle/>
          <a:p>
            <a:pPr indent="0" marL="0">
              <a:buNone/>
            </a:pPr>
            <a:r>
              <a:rPr lang="en-US" sz="1000" i="1" dirty="0">
                <a:solidFill>
                  <a:srgbClr val="8A8680"/>
                </a:solidFill>
                <a:latin typeface="Calibri" pitchFamily="34" charset="0"/>
                <a:ea typeface="Calibri" pitchFamily="34" charset="-122"/>
                <a:cs typeface="Calibri" pitchFamily="34" charset="-120"/>
              </a:rPr>
              <a:t>Full names of all members</a:t>
            </a:r>
            <a:endParaRPr lang="en-US" sz="1000" dirty="0"/>
          </a:p>
        </p:txBody>
      </p:sp>
      <p:sp>
        <p:nvSpPr>
          <p:cNvPr id="8" name="Flow screenshot"/>
          <p:cNvSpPr/>
          <p:nvPr/>
        </p:nvSpPr>
        <p:spPr>
          <a:xfrm>
            <a:off x="411480" y="1188720"/>
            <a:ext cx="3931920" cy="2057400"/>
          </a:xfrm>
          <a:prstGeom prst="rect">
            <a:avLst/>
          </a:prstGeom>
          <a:solidFill>
            <a:srgbClr val="FFFFFF"/>
          </a:solidFill>
          <a:ln w="9525">
            <a:solidFill>
              <a:srgbClr val="B9B4AD"/>
            </a:solidFill>
            <a:prstDash val="dash"/>
          </a:ln>
        </p:spPr>
        <p:txBody>
          <a:bodyPr wrap="square" lIns="76200" tIns="76200" rIns="76200" bIns="76200" rtlCol="0" anchor="ctr"/>
          <a:lstStyle/>
          <a:p>
            <a:pPr algn="ctr" indent="0" marL="0">
              <a:buNone/>
            </a:pPr>
            <a:r>
              <a:rPr lang="en-US" sz="1000" i="1" dirty="0">
                <a:solidFill>
                  <a:srgbClr val="8A8680"/>
                </a:solidFill>
                <a:latin typeface="Calibri" pitchFamily="34" charset="0"/>
                <a:ea typeface="Calibri" pitchFamily="34" charset="-122"/>
                <a:cs typeface="Calibri" pitchFamily="34" charset="-120"/>
              </a:rPr>
              <a:t>Paste a screenshot of your complete flow here (Input → Clean → … → Output).</a:t>
            </a:r>
            <a:endParaRPr lang="en-US" sz="1000" dirty="0"/>
          </a:p>
        </p:txBody>
      </p:sp>
      <p:sp>
        <p:nvSpPr>
          <p:cNvPr id="9" name="Text 7"/>
          <p:cNvSpPr txBox="1"/>
          <p:nvPr/>
        </p:nvSpPr>
        <p:spPr>
          <a:xfrm>
            <a:off x="4526280" y="1161288"/>
            <a:ext cx="4206240" cy="182880"/>
          </a:xfrm>
          <a:prstGeom prst="rect">
            <a:avLst/>
          </a:prstGeom>
          <a:noFill/>
          <a:ln/>
        </p:spPr>
        <p:txBody>
          <a:bodyPr wrap="square" lIns="0" tIns="0" rIns="0" bIns="0" rtlCol="0" anchor="ctr"/>
          <a:lstStyle/>
          <a:p>
            <a:pPr indent="0" marL="0">
              <a:buNone/>
            </a:pPr>
            <a:r>
              <a:rPr lang="en-US" sz="900" b="1" spc="100" kern="0" dirty="0">
                <a:solidFill>
                  <a:srgbClr val="B38600"/>
                </a:solidFill>
                <a:latin typeface="Calibri" pitchFamily="34" charset="0"/>
                <a:ea typeface="Calibri" pitchFamily="34" charset="-122"/>
                <a:cs typeface="Calibri" pitchFamily="34" charset="-120"/>
              </a:rPr>
              <a:t>A · PYTHON (L2.1–2.4) vs. TABLEAU PREP</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26280" y="1371600"/>
          <a:ext cx="4206240" cy="914400"/>
        </p:xfrm>
        <a:graphic>
          <a:graphicData uri="http://schemas.openxmlformats.org/drawingml/2006/table">
            <a:tbl>
              <a:tblPr/>
              <a:tblGrid>
                <a:gridCol w="1371600"/>
                <a:gridCol w="914400"/>
                <a:gridCol w="1005840"/>
                <a:gridCol w="91440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Check</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B3860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Python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B3860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Tableau Prep</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B3860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Same?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B38600"/>
                    </a:solidFill>
                  </a:tcPr>
                </a:tc>
              </a:tr>
              <a:tr h="237744">
                <a:tc>
                  <a:txBody>
                    <a:bodyPr/>
                    <a:lstStyle/>
                    <a:p>
                      <a:pPr indent="0" marL="0">
                        <a:buNone/>
                      </a:pPr>
                      <a:r>
                        <a:rPr lang="en-US" sz="900" b="1" dirty="0">
                          <a:solidFill>
                            <a:srgbClr val="6B5000"/>
                          </a:solidFill>
                          <a:latin typeface="Calibri" pitchFamily="34" charset="0"/>
                          <a:ea typeface="Calibri" pitchFamily="34" charset="-122"/>
                          <a:cs typeface="Calibri" pitchFamily="34" charset="-120"/>
                        </a:rPr>
                        <a:t>Rows after dedup</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F4DC"/>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37744">
                <a:tc>
                  <a:txBody>
                    <a:bodyPr/>
                    <a:lstStyle/>
                    <a:p>
                      <a:pPr indent="0" marL="0">
                        <a:buNone/>
                      </a:pPr>
                      <a:r>
                        <a:rPr lang="en-US" sz="900" b="1" dirty="0">
                          <a:solidFill>
                            <a:srgbClr val="6B5000"/>
                          </a:solidFill>
                          <a:latin typeface="Calibri" pitchFamily="34" charset="0"/>
                          <a:ea typeface="Calibri" pitchFamily="34" charset="-122"/>
                          <a:cs typeface="Calibri" pitchFamily="34" charset="-120"/>
                        </a:rPr>
                        <a:t>Rows quarantined</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F4DC"/>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37744">
                <a:tc>
                  <a:txBody>
                    <a:bodyPr/>
                    <a:lstStyle/>
                    <a:p>
                      <a:pPr indent="0" marL="0">
                        <a:buNone/>
                      </a:pPr>
                      <a:r>
                        <a:rPr lang="en-US" sz="900" b="1" dirty="0">
                          <a:solidFill>
                            <a:srgbClr val="6B5000"/>
                          </a:solidFill>
                          <a:latin typeface="Calibri" pitchFamily="34" charset="0"/>
                          <a:ea typeface="Calibri" pitchFamily="34" charset="-122"/>
                          <a:cs typeface="Calibri" pitchFamily="34" charset="-120"/>
                        </a:rPr>
                        <a:t>Rows after union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F4DC"/>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37744">
                <a:tc>
                  <a:txBody>
                    <a:bodyPr/>
                    <a:lstStyle/>
                    <a:p>
                      <a:pPr indent="0" marL="0">
                        <a:buNone/>
                      </a:pPr>
                      <a:r>
                        <a:rPr lang="en-US" sz="900" b="1" dirty="0">
                          <a:solidFill>
                            <a:srgbClr val="6B5000"/>
                          </a:solidFill>
                          <a:latin typeface="Calibri" pitchFamily="34" charset="0"/>
                          <a:ea typeface="Calibri" pitchFamily="34" charset="-122"/>
                          <a:cs typeface="Calibri" pitchFamily="34" charset="-120"/>
                        </a:rPr>
                        <a:t>Rows after join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F4DC"/>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37744">
                <a:tc>
                  <a:txBody>
                    <a:bodyPr/>
                    <a:lstStyle/>
                    <a:p>
                      <a:pPr indent="0" marL="0">
                        <a:buNone/>
                      </a:pPr>
                      <a:r>
                        <a:rPr lang="en-US" sz="900" b="1" dirty="0">
                          <a:solidFill>
                            <a:srgbClr val="6B5000"/>
                          </a:solidFill>
                          <a:latin typeface="Calibri" pitchFamily="34" charset="0"/>
                          <a:ea typeface="Calibri" pitchFamily="34" charset="-122"/>
                          <a:cs typeface="Calibri" pitchFamily="34" charset="-120"/>
                        </a:rPr>
                        <a:t>Total revenue EUR</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F4DC"/>
                    </a:solidFill>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__</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c>
                  <a:txBody>
                    <a:bodyPr/>
                    <a:lstStyle/>
                    <a:p>
                      <a:pPr indent="0" marL="0">
                        <a:buNone/>
                      </a:pPr>
                      <a:r>
                        <a:rPr lang="en-US" sz="900" i="1" dirty="0">
                          <a:solidFill>
                            <a:srgbClr val="8A8680"/>
                          </a:solidFill>
                          <a:latin typeface="Calibri" pitchFamily="34" charset="0"/>
                          <a:ea typeface="Calibri" pitchFamily="34" charset="-122"/>
                          <a:cs typeface="Calibri" pitchFamily="34" charset="-120"/>
                        </a:rPr>
                        <a:t>✓ / ✗</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bl>
          </a:graphicData>
        </a:graphic>
      </p:graphicFrame>
      <p:sp>
        <p:nvSpPr>
          <p:cNvPr id="11" name="Text 8"/>
          <p:cNvSpPr txBox="1"/>
          <p:nvPr/>
        </p:nvSpPr>
        <p:spPr>
          <a:xfrm>
            <a:off x="411480" y="3383280"/>
            <a:ext cx="3931920" cy="182880"/>
          </a:xfrm>
          <a:prstGeom prst="rect">
            <a:avLst/>
          </a:prstGeom>
          <a:noFill/>
          <a:ln/>
        </p:spPr>
        <p:txBody>
          <a:bodyPr wrap="square" lIns="0" tIns="0" rIns="0" bIns="0" rtlCol="0" anchor="ctr"/>
          <a:lstStyle/>
          <a:p>
            <a:pPr indent="0" marL="0">
              <a:buNone/>
            </a:pPr>
            <a:r>
              <a:rPr lang="en-US" sz="900" b="1" spc="100" kern="0" dirty="0">
                <a:solidFill>
                  <a:srgbClr val="B38600"/>
                </a:solidFill>
                <a:latin typeface="Calibri" pitchFamily="34" charset="0"/>
                <a:ea typeface="Calibri" pitchFamily="34" charset="-122"/>
                <a:cs typeface="Calibri" pitchFamily="34" charset="-120"/>
              </a:rPr>
              <a:t>B · WHICH PREP STEP DID WHAT?</a:t>
            </a:r>
            <a:endParaRPr lang="en-US" sz="9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411480" y="3584448"/>
          <a:ext cx="3931920" cy="914400"/>
        </p:xfrm>
        <a:graphic>
          <a:graphicData uri="http://schemas.openxmlformats.org/drawingml/2006/table">
            <a:tbl>
              <a:tblPr/>
              <a:tblGrid>
                <a:gridCol w="1097280"/>
                <a:gridCol w="2834640"/>
              </a:tblGrid>
              <a:tr h="21945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Lab</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B3860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Prep step(s) you used</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B38600"/>
                    </a:solidFill>
                  </a:tcPr>
                </a:tc>
              </a:tr>
              <a:tr h="219456">
                <a:tc>
                  <a:txBody>
                    <a:bodyPr/>
                    <a:lstStyle/>
                    <a:p>
                      <a:pPr indent="0" marL="0">
                        <a:buNone/>
                      </a:pPr>
                      <a:r>
                        <a:rPr lang="en-US" sz="900" b="1" dirty="0">
                          <a:solidFill>
                            <a:srgbClr val="6B5000"/>
                          </a:solidFill>
                          <a:latin typeface="Calibri" pitchFamily="34" charset="0"/>
                          <a:ea typeface="Calibri" pitchFamily="34" charset="-122"/>
                          <a:cs typeface="Calibri" pitchFamily="34" charset="-120"/>
                        </a:rPr>
                        <a:t>2.2 Profile</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F4DC"/>
                    </a:solidFill>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19456">
                <a:tc>
                  <a:txBody>
                    <a:bodyPr/>
                    <a:lstStyle/>
                    <a:p>
                      <a:pPr indent="0" marL="0">
                        <a:buNone/>
                      </a:pPr>
                      <a:r>
                        <a:rPr lang="en-US" sz="900" b="1" dirty="0">
                          <a:solidFill>
                            <a:srgbClr val="6B5000"/>
                          </a:solidFill>
                          <a:latin typeface="Calibri" pitchFamily="34" charset="0"/>
                          <a:ea typeface="Calibri" pitchFamily="34" charset="-122"/>
                          <a:cs typeface="Calibri" pitchFamily="34" charset="-120"/>
                        </a:rPr>
                        <a:t>2.3 Clean</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F4DC"/>
                    </a:solidFill>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r h="219456">
                <a:tc>
                  <a:txBody>
                    <a:bodyPr/>
                    <a:lstStyle/>
                    <a:p>
                      <a:pPr indent="0" marL="0">
                        <a:buNone/>
                      </a:pPr>
                      <a:r>
                        <a:rPr lang="en-US" sz="900" b="1" dirty="0">
                          <a:solidFill>
                            <a:srgbClr val="6B5000"/>
                          </a:solidFill>
                          <a:latin typeface="Calibri" pitchFamily="34" charset="0"/>
                          <a:ea typeface="Calibri" pitchFamily="34" charset="-122"/>
                          <a:cs typeface="Calibri" pitchFamily="34" charset="-120"/>
                        </a:rPr>
                        <a:t>2.4 Transform</a:t>
                      </a: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solidFill>
                      <a:srgbClr val="FBF4DC"/>
                    </a:solidFill>
                  </a:tcPr>
                </a:tc>
                <a:tc>
                  <a:txBody>
                    <a:bodyPr/>
                    <a:lstStyle/>
                    <a:p>
                      <a:pPr indent="0" marL="0">
                        <a:buNone/>
                      </a:pPr>
                      <a:endParaRPr lang="en-US" sz="900" dirty="0">
                        <a:latin typeface="Calibri" charset="0"/>
                        <a:ea typeface="Calibri" charset="0"/>
                        <a:cs typeface="Calibri" charset="0"/>
                      </a:endParaRPr>
                    </a:p>
                  </a:txBody>
                  <a:tcPr marL="50800" marR="50800" marT="25400" marB="25400" anchor="ctr">
                    <a:lnL w="9525" cap="flat" cmpd="sng" algn="ctr">
                      <a:solidFill>
                        <a:srgbClr val="C9C4BD"/>
                      </a:solidFill>
                      <a:prstDash val="solid"/>
                      <a:round/>
                      <a:headEnd type="none" w="med" len="med"/>
                      <a:tailEnd type="none" w="med" len="med"/>
                    </a:lnL>
                    <a:lnR w="9525" cap="flat" cmpd="sng" algn="ctr">
                      <a:solidFill>
                        <a:srgbClr val="C9C4BD"/>
                      </a:solidFill>
                      <a:prstDash val="solid"/>
                      <a:round/>
                      <a:headEnd type="none" w="med" len="med"/>
                      <a:tailEnd type="none" w="med" len="med"/>
                    </a:lnR>
                    <a:lnT w="9525" cap="flat" cmpd="sng" algn="ctr">
                      <a:solidFill>
                        <a:srgbClr val="C9C4BD"/>
                      </a:solidFill>
                      <a:prstDash val="solid"/>
                      <a:round/>
                      <a:headEnd type="none" w="med" len="med"/>
                      <a:tailEnd type="none" w="med" len="med"/>
                    </a:lnT>
                    <a:lnB w="9525" cap="flat" cmpd="sng" algn="ctr">
                      <a:solidFill>
                        <a:srgbClr val="C9C4BD"/>
                      </a:solidFill>
                      <a:prstDash val="solid"/>
                      <a:round/>
                      <a:headEnd type="none" w="med" len="med"/>
                      <a:tailEnd type="none" w="med" len="med"/>
                    </a:lnB>
                  </a:tcPr>
                </a:tc>
              </a:tr>
            </a:tbl>
          </a:graphicData>
        </a:graphic>
      </p:graphicFrame>
      <p:sp>
        <p:nvSpPr>
          <p:cNvPr id="13" name="Text 9"/>
          <p:cNvSpPr txBox="1"/>
          <p:nvPr/>
        </p:nvSpPr>
        <p:spPr>
          <a:xfrm>
            <a:off x="4526280" y="2971800"/>
            <a:ext cx="3657600" cy="182880"/>
          </a:xfrm>
          <a:prstGeom prst="rect">
            <a:avLst/>
          </a:prstGeom>
          <a:noFill/>
          <a:ln/>
        </p:spPr>
        <p:txBody>
          <a:bodyPr wrap="square" lIns="0" tIns="0" rIns="0" bIns="0" rtlCol="0" anchor="ctr"/>
          <a:lstStyle/>
          <a:p>
            <a:pPr indent="0" marL="0">
              <a:buNone/>
            </a:pPr>
            <a:r>
              <a:rPr lang="en-US" sz="900" b="1" spc="100" kern="0" dirty="0">
                <a:solidFill>
                  <a:srgbClr val="B38600"/>
                </a:solidFill>
                <a:latin typeface="Calibri" pitchFamily="34" charset="0"/>
                <a:ea typeface="Calibri" pitchFamily="34" charset="-122"/>
                <a:cs typeface="Calibri" pitchFamily="34" charset="-120"/>
              </a:rPr>
              <a:t>C · REFLECTION</a:t>
            </a:r>
            <a:endParaRPr lang="en-US" sz="900" dirty="0"/>
          </a:p>
        </p:txBody>
      </p:sp>
      <p:sp>
        <p:nvSpPr>
          <p:cNvPr id="14" name="Reflection"/>
          <p:cNvSpPr/>
          <p:nvPr/>
        </p:nvSpPr>
        <p:spPr>
          <a:xfrm>
            <a:off x="4526280" y="3182112"/>
            <a:ext cx="4206240" cy="1188720"/>
          </a:xfrm>
          <a:prstGeom prst="rect">
            <a:avLst/>
          </a:prstGeom>
          <a:solidFill>
            <a:srgbClr val="FFFFFF"/>
          </a:solidFill>
          <a:ln w="9525">
            <a:solidFill>
              <a:srgbClr val="B9B4AD"/>
            </a:solidFill>
            <a:prstDash val="dash"/>
          </a:ln>
        </p:spPr>
        <p:txBody>
          <a:bodyPr wrap="square" lIns="50800" tIns="50800" rIns="50800" bIns="50800" rtlCol="0" anchor="t"/>
          <a:lstStyle/>
          <a:p>
            <a:pPr indent="0" marL="0">
              <a:buNone/>
            </a:pPr>
            <a:r>
              <a:rPr lang="en-US" sz="950" i="1" dirty="0">
                <a:solidFill>
                  <a:srgbClr val="8A8680"/>
                </a:solidFill>
                <a:latin typeface="Calibri" pitchFamily="34" charset="0"/>
                <a:ea typeface="Calibri" pitchFamily="34" charset="-122"/>
                <a:cs typeface="Calibri" pitchFamily="34" charset="-120"/>
              </a:rPr>
              <a:t>What was easier in Tableau Prep, what in Python? Which would you trust next month — and why?</a:t>
            </a:r>
            <a:endParaRPr lang="en-US" sz="950" dirty="0"/>
          </a:p>
        </p:txBody>
      </p:sp>
      <p:sp>
        <p:nvSpPr>
          <p:cNvPr id="15" name="Text 11"/>
          <p:cNvSpPr txBox="1"/>
          <p:nvPr/>
        </p:nvSpPr>
        <p:spPr>
          <a:xfrm>
            <a:off x="411480" y="4553712"/>
            <a:ext cx="8321040" cy="201168"/>
          </a:xfrm>
          <a:prstGeom prst="rect">
            <a:avLst/>
          </a:prstGeom>
          <a:noFill/>
          <a:ln/>
        </p:spPr>
        <p:txBody>
          <a:bodyPr wrap="square" lIns="0" tIns="0" rIns="0" bIns="0" rtlCol="0" anchor="ctr"/>
          <a:lstStyle/>
          <a:p>
            <a:pPr indent="0" marL="0">
              <a:buNone/>
            </a:pPr>
            <a:r>
              <a:rPr lang="en-US" sz="900" b="1" dirty="0">
                <a:solidFill>
                  <a:srgbClr val="D9480F"/>
                </a:solidFill>
                <a:latin typeface="Calibri" pitchFamily="34" charset="0"/>
                <a:ea typeface="Calibri" pitchFamily="34" charset="-122"/>
                <a:cs typeface="Calibri" pitchFamily="34" charset="-120"/>
              </a:rPr>
              <a:t>Before you submit:  </a:t>
            </a:r>
            <a:pPr indent="0" marL="0">
              <a:buNone/>
            </a:pPr>
            <a:r>
              <a:rPr lang="en-US" sz="900" dirty="0">
                <a:solidFill>
                  <a:srgbClr val="3D3D3D"/>
                </a:solidFill>
                <a:latin typeface="Calibri" pitchFamily="34" charset="0"/>
                <a:ea typeface="Calibri" pitchFamily="34" charset="-122"/>
                <a:cs typeface="Calibri" pitchFamily="34" charset="-120"/>
              </a:rPr>
              <a:t>☐ flow screenshot    ☐ 5 comparisons    ☐ reflection    ☐ .tflx + output CSV in ZIP</a:t>
            </a:r>
            <a:endParaRPr lang="en-US" sz="900" dirty="0"/>
          </a:p>
        </p:txBody>
      </p:sp>
      <p:sp>
        <p:nvSpPr>
          <p:cNvPr id="16" name="Text 12"/>
          <p:cNvSpPr txBox="1"/>
          <p:nvPr/>
        </p:nvSpPr>
        <p:spPr>
          <a:xfrm>
            <a:off x="411480" y="4773168"/>
            <a:ext cx="8321040" cy="182880"/>
          </a:xfrm>
          <a:prstGeom prst="rect">
            <a:avLst/>
          </a:prstGeom>
          <a:noFill/>
          <a:ln/>
        </p:spPr>
        <p:txBody>
          <a:bodyPr wrap="square" lIns="0" tIns="0" rIns="0" bIns="0" rtlCol="0" anchor="ctr"/>
          <a:lstStyle/>
          <a:p>
            <a:pPr indent="0" marL="0">
              <a:buNone/>
            </a:pPr>
            <a:r>
              <a:rPr lang="en-US" sz="850" i="1" dirty="0">
                <a:solidFill>
                  <a:srgbClr val="6B6762"/>
                </a:solidFill>
                <a:latin typeface="Calibri" pitchFamily="34" charset="0"/>
                <a:ea typeface="Calibri" pitchFamily="34" charset="-122"/>
                <a:cs typeface="Calibri" pitchFamily="34" charset="-120"/>
              </a:rPr>
              <a:t>Group representative uploads Lab2.5_Group&lt;Nr&gt;.zip on Moodle · Deadline: before the next session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Labs</dc:title>
  <dc:subject>PptxGenJS Presentation</dc:subject>
  <dc:creator>PptxGenJS</dc:creator>
  <cp:lastModifiedBy>PptxGenJS</cp:lastModifiedBy>
  <cp:revision>1</cp:revision>
  <dcterms:created xsi:type="dcterms:W3CDTF">2026-10-18T07:34:19Z</dcterms:created>
  <dcterms:modified xsi:type="dcterms:W3CDTF">2026-10-18T07:34:19Z</dcterms:modified>
</cp:coreProperties>
</file>